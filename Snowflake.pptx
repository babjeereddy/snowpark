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9" r:id="rId6"/>
    <p:sldId id="264" r:id="rId7"/>
    <p:sldId id="270" r:id="rId8"/>
    <p:sldId id="271" r:id="rId9"/>
    <p:sldId id="272" r:id="rId10"/>
    <p:sldId id="265" r:id="rId11"/>
    <p:sldId id="266" r:id="rId12"/>
    <p:sldId id="268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7" r:id="rId22"/>
    <p:sldId id="281" r:id="rId23"/>
    <p:sldId id="282" r:id="rId24"/>
    <p:sldId id="283" r:id="rId25"/>
    <p:sldId id="284" r:id="rId26"/>
    <p:sldId id="286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6" r:id="rId47"/>
    <p:sldId id="304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36" r:id="rId58"/>
    <p:sldId id="335" r:id="rId59"/>
    <p:sldId id="337" r:id="rId60"/>
    <p:sldId id="338" r:id="rId61"/>
    <p:sldId id="339" r:id="rId62"/>
    <p:sldId id="340" r:id="rId63"/>
    <p:sldId id="341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42" r:id="rId84"/>
    <p:sldId id="343" r:id="rId85"/>
    <p:sldId id="344" r:id="rId86"/>
    <p:sldId id="345" r:id="rId87"/>
    <p:sldId id="346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764AFAE7-0BDF-456A-9B3C-8402A943D376}"/>
    <pc:docChg chg="undo custSel addSld delSld modSld sldOrd">
      <pc:chgData name="ponnamreddybabjee@outlook.com" userId="3e261792aa522278" providerId="LiveId" clId="{764AFAE7-0BDF-456A-9B3C-8402A943D376}" dt="2026-01-02T03:42:39.117" v="617" actId="113"/>
      <pc:docMkLst>
        <pc:docMk/>
      </pc:docMkLst>
      <pc:sldChg chg="addSp delSp modSp add mod">
        <pc:chgData name="ponnamreddybabjee@outlook.com" userId="3e261792aa522278" providerId="LiveId" clId="{764AFAE7-0BDF-456A-9B3C-8402A943D376}" dt="2025-12-27T10:13:22.166" v="34" actId="948"/>
        <pc:sldMkLst>
          <pc:docMk/>
          <pc:sldMk cId="3784240192" sldId="316"/>
        </pc:sldMkLst>
        <pc:spChg chg="del">
          <ac:chgData name="ponnamreddybabjee@outlook.com" userId="3e261792aa522278" providerId="LiveId" clId="{764AFAE7-0BDF-456A-9B3C-8402A943D376}" dt="2025-12-27T10:09:53.741" v="1" actId="478"/>
          <ac:spMkLst>
            <pc:docMk/>
            <pc:sldMk cId="3784240192" sldId="316"/>
            <ac:spMk id="3" creationId="{37C55B64-9DD9-30BB-9565-07D9BD1EBF20}"/>
          </ac:spMkLst>
        </pc:spChg>
        <pc:spChg chg="mod">
          <ac:chgData name="ponnamreddybabjee@outlook.com" userId="3e261792aa522278" providerId="LiveId" clId="{764AFAE7-0BDF-456A-9B3C-8402A943D376}" dt="2025-12-27T10:11:30.755" v="9"/>
          <ac:spMkLst>
            <pc:docMk/>
            <pc:sldMk cId="3784240192" sldId="316"/>
            <ac:spMk id="6" creationId="{1B12E08B-88C8-3FE8-4BE4-10AF2733B63C}"/>
          </ac:spMkLst>
        </pc:spChg>
        <pc:spChg chg="add mod">
          <ac:chgData name="ponnamreddybabjee@outlook.com" userId="3e261792aa522278" providerId="LiveId" clId="{764AFAE7-0BDF-456A-9B3C-8402A943D376}" dt="2025-12-27T10:13:22.166" v="34" actId="948"/>
          <ac:spMkLst>
            <pc:docMk/>
            <pc:sldMk cId="3784240192" sldId="316"/>
            <ac:spMk id="7" creationId="{6DC19B96-2835-17A4-CFB2-58FEC065D059}"/>
          </ac:spMkLst>
        </pc:spChg>
        <pc:spChg chg="del">
          <ac:chgData name="ponnamreddybabjee@outlook.com" userId="3e261792aa522278" providerId="LiveId" clId="{764AFAE7-0BDF-456A-9B3C-8402A943D376}" dt="2025-12-27T10:10:05.249" v="4" actId="478"/>
          <ac:spMkLst>
            <pc:docMk/>
            <pc:sldMk cId="3784240192" sldId="316"/>
            <ac:spMk id="9" creationId="{5572230D-F1CF-53C2-DB2D-3D1347954179}"/>
          </ac:spMkLst>
        </pc:spChg>
        <pc:spChg chg="add del mod">
          <ac:chgData name="ponnamreddybabjee@outlook.com" userId="3e261792aa522278" providerId="LiveId" clId="{764AFAE7-0BDF-456A-9B3C-8402A943D376}" dt="2025-12-27T10:12:35.151" v="21" actId="22"/>
          <ac:spMkLst>
            <pc:docMk/>
            <pc:sldMk cId="3784240192" sldId="316"/>
            <ac:spMk id="10" creationId="{2815CD9B-4918-E239-9E3C-542FC677303C}"/>
          </ac:spMkLst>
        </pc:spChg>
        <pc:graphicFrameChg chg="del">
          <ac:chgData name="ponnamreddybabjee@outlook.com" userId="3e261792aa522278" providerId="LiveId" clId="{764AFAE7-0BDF-456A-9B3C-8402A943D376}" dt="2025-12-27T10:09:57.391" v="2" actId="478"/>
          <ac:graphicFrameMkLst>
            <pc:docMk/>
            <pc:sldMk cId="3784240192" sldId="316"/>
            <ac:graphicFrameMk id="2" creationId="{57682F7A-3E1C-0963-CC61-ED4DA87B3214}"/>
          </ac:graphicFrameMkLst>
        </pc:graphicFrameChg>
        <pc:graphicFrameChg chg="del">
          <ac:chgData name="ponnamreddybabjee@outlook.com" userId="3e261792aa522278" providerId="LiveId" clId="{764AFAE7-0BDF-456A-9B3C-8402A943D376}" dt="2025-12-27T10:10:01.650" v="3" actId="478"/>
          <ac:graphicFrameMkLst>
            <pc:docMk/>
            <pc:sldMk cId="3784240192" sldId="316"/>
            <ac:graphicFrameMk id="5" creationId="{7971D2F9-941E-7A22-9A3D-0888181CE7F2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0:22:35.054" v="65" actId="14100"/>
        <pc:sldMkLst>
          <pc:docMk/>
          <pc:sldMk cId="641454217" sldId="317"/>
        </pc:sldMkLst>
        <pc:spChg chg="add">
          <ac:chgData name="ponnamreddybabjee@outlook.com" userId="3e261792aa522278" providerId="LiveId" clId="{764AFAE7-0BDF-456A-9B3C-8402A943D376}" dt="2025-12-27T10:14:19.158" v="37"/>
          <ac:spMkLst>
            <pc:docMk/>
            <pc:sldMk cId="641454217" sldId="317"/>
            <ac:spMk id="2" creationId="{80974920-A599-1B14-8E6D-A6D87A1687B9}"/>
          </ac:spMkLst>
        </pc:spChg>
        <pc:spChg chg="add mod">
          <ac:chgData name="ponnamreddybabjee@outlook.com" userId="3e261792aa522278" providerId="LiveId" clId="{764AFAE7-0BDF-456A-9B3C-8402A943D376}" dt="2025-12-27T10:14:28.259" v="41"/>
          <ac:spMkLst>
            <pc:docMk/>
            <pc:sldMk cId="641454217" sldId="317"/>
            <ac:spMk id="3" creationId="{5FD95CAD-9384-89E0-D1A9-27B2463CFB2B}"/>
          </ac:spMkLst>
        </pc:spChg>
        <pc:spChg chg="del">
          <ac:chgData name="ponnamreddybabjee@outlook.com" userId="3e261792aa522278" providerId="LiveId" clId="{764AFAE7-0BDF-456A-9B3C-8402A943D376}" dt="2025-12-27T10:14:16.297" v="36" actId="478"/>
          <ac:spMkLst>
            <pc:docMk/>
            <pc:sldMk cId="641454217" sldId="317"/>
            <ac:spMk id="7" creationId="{6DC19B96-2835-17A4-CFB2-58FEC065D059}"/>
          </ac:spMkLst>
        </pc:spChg>
        <pc:spChg chg="add mod">
          <ac:chgData name="ponnamreddybabjee@outlook.com" userId="3e261792aa522278" providerId="LiveId" clId="{764AFAE7-0BDF-456A-9B3C-8402A943D376}" dt="2025-12-27T10:22:31.452" v="64" actId="1076"/>
          <ac:spMkLst>
            <pc:docMk/>
            <pc:sldMk cId="641454217" sldId="317"/>
            <ac:spMk id="8" creationId="{B371D336-6F52-3CB0-0AD6-40821B2509F7}"/>
          </ac:spMkLst>
        </pc:spChg>
        <pc:picChg chg="add mod">
          <ac:chgData name="ponnamreddybabjee@outlook.com" userId="3e261792aa522278" providerId="LiveId" clId="{764AFAE7-0BDF-456A-9B3C-8402A943D376}" dt="2025-12-27T10:22:35.054" v="65" actId="14100"/>
          <ac:picMkLst>
            <pc:docMk/>
            <pc:sldMk cId="641454217" sldId="317"/>
            <ac:picMk id="5" creationId="{110BDB72-8311-504C-4A98-939224AD1C66}"/>
          </ac:picMkLst>
        </pc:picChg>
      </pc:sldChg>
      <pc:sldChg chg="addSp delSp modSp add mod">
        <pc:chgData name="ponnamreddybabjee@outlook.com" userId="3e261792aa522278" providerId="LiveId" clId="{764AFAE7-0BDF-456A-9B3C-8402A943D376}" dt="2025-12-27T10:29:23.679" v="84" actId="113"/>
        <pc:sldMkLst>
          <pc:docMk/>
          <pc:sldMk cId="2718995461" sldId="318"/>
        </pc:sldMkLst>
        <pc:spChg chg="add">
          <ac:chgData name="ponnamreddybabjee@outlook.com" userId="3e261792aa522278" providerId="LiveId" clId="{764AFAE7-0BDF-456A-9B3C-8402A943D376}" dt="2025-12-27T10:19:48.657" v="52"/>
          <ac:spMkLst>
            <pc:docMk/>
            <pc:sldMk cId="2718995461" sldId="318"/>
            <ac:spMk id="3" creationId="{565CEEA1-2D7B-DB55-8BBA-97E383CF8151}"/>
          </ac:spMkLst>
        </pc:spChg>
        <pc:spChg chg="add mod">
          <ac:chgData name="ponnamreddybabjee@outlook.com" userId="3e261792aa522278" providerId="LiveId" clId="{764AFAE7-0BDF-456A-9B3C-8402A943D376}" dt="2025-12-27T10:29:23.679" v="84" actId="113"/>
          <ac:spMkLst>
            <pc:docMk/>
            <pc:sldMk cId="2718995461" sldId="318"/>
            <ac:spMk id="7" creationId="{096E077D-0032-01CF-82D6-58E50740CD8E}"/>
          </ac:spMkLst>
        </pc:spChg>
        <pc:spChg chg="add mod">
          <ac:chgData name="ponnamreddybabjee@outlook.com" userId="3e261792aa522278" providerId="LiveId" clId="{764AFAE7-0BDF-456A-9B3C-8402A943D376}" dt="2025-12-27T10:22:44.821" v="68"/>
          <ac:spMkLst>
            <pc:docMk/>
            <pc:sldMk cId="2718995461" sldId="318"/>
            <ac:spMk id="8" creationId="{58E3588A-2331-CA93-67DA-A892B5AF8935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9" creationId="{BCE73FE1-9BD7-128D-1195-1F93FDFD2881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0" creationId="{0B613E22-9215-03BF-FBC2-6555965F20EF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1" creationId="{814AA6D9-2B8A-69C4-E691-9C27EB7BEF94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2" creationId="{CFE9FC63-CD16-93FD-2066-B2DC4A1E3958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3" creationId="{5B0A92BB-33EC-28C1-849C-358B866C2B26}"/>
          </ac:spMkLst>
        </pc:spChg>
        <pc:picChg chg="del">
          <ac:chgData name="ponnamreddybabjee@outlook.com" userId="3e261792aa522278" providerId="LiveId" clId="{764AFAE7-0BDF-456A-9B3C-8402A943D376}" dt="2025-12-27T10:19:47.398" v="51" actId="478"/>
          <ac:picMkLst>
            <pc:docMk/>
            <pc:sldMk cId="2718995461" sldId="318"/>
            <ac:picMk id="5" creationId="{110BDB72-8311-504C-4A98-939224AD1C66}"/>
          </ac:picMkLst>
        </pc:picChg>
      </pc:sldChg>
      <pc:sldChg chg="modSp add mod">
        <pc:chgData name="ponnamreddybabjee@outlook.com" userId="3e261792aa522278" providerId="LiveId" clId="{764AFAE7-0BDF-456A-9B3C-8402A943D376}" dt="2025-12-27T10:42:51.169" v="152" actId="113"/>
        <pc:sldMkLst>
          <pc:docMk/>
          <pc:sldMk cId="1047238042" sldId="319"/>
        </pc:sldMkLst>
        <pc:spChg chg="mod">
          <ac:chgData name="ponnamreddybabjee@outlook.com" userId="3e261792aa522278" providerId="LiveId" clId="{764AFAE7-0BDF-456A-9B3C-8402A943D376}" dt="2025-12-27T10:42:51.169" v="152" actId="113"/>
          <ac:spMkLst>
            <pc:docMk/>
            <pc:sldMk cId="1047238042" sldId="319"/>
            <ac:spMk id="7" creationId="{096E077D-0032-01CF-82D6-58E50740CD8E}"/>
          </ac:spMkLst>
        </pc:spChg>
      </pc:sldChg>
      <pc:sldChg chg="addSp modSp add mod">
        <pc:chgData name="ponnamreddybabjee@outlook.com" userId="3e261792aa522278" providerId="LiveId" clId="{764AFAE7-0BDF-456A-9B3C-8402A943D376}" dt="2025-12-27T10:31:59.075" v="104" actId="12"/>
        <pc:sldMkLst>
          <pc:docMk/>
          <pc:sldMk cId="1763484011" sldId="320"/>
        </pc:sldMkLst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3" creationId="{7D327275-208B-2A59-9B2A-421B46255630}"/>
          </ac:spMkLst>
        </pc:spChg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4" creationId="{64BFB3A4-0E3B-62B6-3344-DF53E690DAE0}"/>
          </ac:spMkLst>
        </pc:spChg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5" creationId="{9BAD4DFC-70CA-2742-E4C0-6D6F8F4CE708}"/>
          </ac:spMkLst>
        </pc:spChg>
        <pc:spChg chg="mod">
          <ac:chgData name="ponnamreddybabjee@outlook.com" userId="3e261792aa522278" providerId="LiveId" clId="{764AFAE7-0BDF-456A-9B3C-8402A943D376}" dt="2025-12-27T10:31:59.075" v="104" actId="12"/>
          <ac:spMkLst>
            <pc:docMk/>
            <pc:sldMk cId="1763484011" sldId="320"/>
            <ac:spMk id="7" creationId="{096E077D-0032-01CF-82D6-58E50740CD8E}"/>
          </ac:spMkLst>
        </pc:spChg>
      </pc:sldChg>
      <pc:sldChg chg="modSp add mod">
        <pc:chgData name="ponnamreddybabjee@outlook.com" userId="3e261792aa522278" providerId="LiveId" clId="{764AFAE7-0BDF-456A-9B3C-8402A943D376}" dt="2025-12-27T10:33:43.554" v="118" actId="113"/>
        <pc:sldMkLst>
          <pc:docMk/>
          <pc:sldMk cId="268146003" sldId="321"/>
        </pc:sldMkLst>
        <pc:spChg chg="mod">
          <ac:chgData name="ponnamreddybabjee@outlook.com" userId="3e261792aa522278" providerId="LiveId" clId="{764AFAE7-0BDF-456A-9B3C-8402A943D376}" dt="2025-12-27T10:33:43.554" v="118" actId="113"/>
          <ac:spMkLst>
            <pc:docMk/>
            <pc:sldMk cId="268146003" sldId="321"/>
            <ac:spMk id="7" creationId="{096E077D-0032-01CF-82D6-58E50740CD8E}"/>
          </ac:spMkLst>
        </pc:spChg>
      </pc:sldChg>
      <pc:sldChg chg="modSp add mod">
        <pc:chgData name="ponnamreddybabjee@outlook.com" userId="3e261792aa522278" providerId="LiveId" clId="{764AFAE7-0BDF-456A-9B3C-8402A943D376}" dt="2025-12-27T10:35:31.747" v="133" actId="113"/>
        <pc:sldMkLst>
          <pc:docMk/>
          <pc:sldMk cId="1305085191" sldId="322"/>
        </pc:sldMkLst>
        <pc:spChg chg="mod">
          <ac:chgData name="ponnamreddybabjee@outlook.com" userId="3e261792aa522278" providerId="LiveId" clId="{764AFAE7-0BDF-456A-9B3C-8402A943D376}" dt="2025-12-27T10:35:31.747" v="133" actId="113"/>
          <ac:spMkLst>
            <pc:docMk/>
            <pc:sldMk cId="1305085191" sldId="322"/>
            <ac:spMk id="7" creationId="{096E077D-0032-01CF-82D6-58E50740CD8E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0:36:10.012" v="139" actId="113"/>
        <pc:sldMkLst>
          <pc:docMk/>
          <pc:sldMk cId="4128361133" sldId="323"/>
        </pc:sldMkLst>
        <pc:spChg chg="del">
          <ac:chgData name="ponnamreddybabjee@outlook.com" userId="3e261792aa522278" providerId="LiveId" clId="{764AFAE7-0BDF-456A-9B3C-8402A943D376}" dt="2025-12-27T10:35:49.933" v="135" actId="478"/>
          <ac:spMkLst>
            <pc:docMk/>
            <pc:sldMk cId="4128361133" sldId="323"/>
            <ac:spMk id="7" creationId="{096E077D-0032-01CF-82D6-58E50740CD8E}"/>
          </ac:spMkLst>
        </pc:spChg>
        <pc:graphicFrameChg chg="add mod modGraphic">
          <ac:chgData name="ponnamreddybabjee@outlook.com" userId="3e261792aa522278" providerId="LiveId" clId="{764AFAE7-0BDF-456A-9B3C-8402A943D376}" dt="2025-12-27T10:36:10.012" v="139" actId="113"/>
          <ac:graphicFrameMkLst>
            <pc:docMk/>
            <pc:sldMk cId="4128361133" sldId="323"/>
            <ac:graphicFrameMk id="3" creationId="{3BD8CE0B-8A92-B929-29A0-8D2590546AC4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0:44:38.446" v="162" actId="14100"/>
        <pc:sldMkLst>
          <pc:docMk/>
          <pc:sldMk cId="833414240" sldId="324"/>
        </pc:sldMkLst>
        <pc:spChg chg="add mod">
          <ac:chgData name="ponnamreddybabjee@outlook.com" userId="3e261792aa522278" providerId="LiveId" clId="{764AFAE7-0BDF-456A-9B3C-8402A943D376}" dt="2025-12-27T10:44:38.446" v="162" actId="14100"/>
          <ac:spMkLst>
            <pc:docMk/>
            <pc:sldMk cId="833414240" sldId="324"/>
            <ac:spMk id="5" creationId="{CA8C78CF-EC1B-F527-3D52-147911E68BAD}"/>
          </ac:spMkLst>
        </pc:spChg>
        <pc:graphicFrameChg chg="del">
          <ac:chgData name="ponnamreddybabjee@outlook.com" userId="3e261792aa522278" providerId="LiveId" clId="{764AFAE7-0BDF-456A-9B3C-8402A943D376}" dt="2025-12-27T10:41:38.208" v="141" actId="478"/>
          <ac:graphicFrameMkLst>
            <pc:docMk/>
            <pc:sldMk cId="833414240" sldId="324"/>
            <ac:graphicFrameMk id="3" creationId="{3BD8CE0B-8A92-B929-29A0-8D2590546AC4}"/>
          </ac:graphicFrameMkLst>
        </pc:graphicFrameChg>
      </pc:sldChg>
      <pc:sldChg chg="modSp add mod">
        <pc:chgData name="ponnamreddybabjee@outlook.com" userId="3e261792aa522278" providerId="LiveId" clId="{764AFAE7-0BDF-456A-9B3C-8402A943D376}" dt="2025-12-27T10:45:25.626" v="169" actId="948"/>
        <pc:sldMkLst>
          <pc:docMk/>
          <pc:sldMk cId="1383958071" sldId="325"/>
        </pc:sldMkLst>
        <pc:spChg chg="mod">
          <ac:chgData name="ponnamreddybabjee@outlook.com" userId="3e261792aa522278" providerId="LiveId" clId="{764AFAE7-0BDF-456A-9B3C-8402A943D376}" dt="2025-12-27T10:45:25.626" v="169" actId="948"/>
          <ac:spMkLst>
            <pc:docMk/>
            <pc:sldMk cId="1383958071" sldId="325"/>
            <ac:spMk id="5" creationId="{CA8C78CF-EC1B-F527-3D52-147911E68BAD}"/>
          </ac:spMkLst>
        </pc:spChg>
      </pc:sldChg>
      <pc:sldChg chg="addSp modSp add mod">
        <pc:chgData name="ponnamreddybabjee@outlook.com" userId="3e261792aa522278" providerId="LiveId" clId="{764AFAE7-0BDF-456A-9B3C-8402A943D376}" dt="2025-12-27T10:50:29.600" v="200" actId="20577"/>
        <pc:sldMkLst>
          <pc:docMk/>
          <pc:sldMk cId="1384130433" sldId="326"/>
        </pc:sldMkLst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3" creationId="{57795D59-BCA5-C2D0-98B8-6D6C2DBCCB33}"/>
          </ac:spMkLst>
        </pc:spChg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4" creationId="{43BF015A-E33C-46DD-275F-2AE0886C4859}"/>
          </ac:spMkLst>
        </pc:spChg>
        <pc:spChg chg="mod">
          <ac:chgData name="ponnamreddybabjee@outlook.com" userId="3e261792aa522278" providerId="LiveId" clId="{764AFAE7-0BDF-456A-9B3C-8402A943D376}" dt="2025-12-27T10:50:29.600" v="200" actId="20577"/>
          <ac:spMkLst>
            <pc:docMk/>
            <pc:sldMk cId="1384130433" sldId="326"/>
            <ac:spMk id="5" creationId="{CA8C78CF-EC1B-F527-3D52-147911E68BAD}"/>
          </ac:spMkLst>
        </pc:spChg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7" creationId="{BBB9CC8F-0EC2-43E0-55D2-C559B0D8912A}"/>
          </ac:spMkLst>
        </pc:spChg>
      </pc:sldChg>
      <pc:sldChg chg="addSp modSp add mod">
        <pc:chgData name="ponnamreddybabjee@outlook.com" userId="3e261792aa522278" providerId="LiveId" clId="{764AFAE7-0BDF-456A-9B3C-8402A943D376}" dt="2025-12-27T10:55:53.595" v="228" actId="20577"/>
        <pc:sldMkLst>
          <pc:docMk/>
          <pc:sldMk cId="902988184" sldId="327"/>
        </pc:sldMkLst>
        <pc:spChg chg="add">
          <ac:chgData name="ponnamreddybabjee@outlook.com" userId="3e261792aa522278" providerId="LiveId" clId="{764AFAE7-0BDF-456A-9B3C-8402A943D376}" dt="2025-12-27T10:52:27.294" v="203"/>
          <ac:spMkLst>
            <pc:docMk/>
            <pc:sldMk cId="902988184" sldId="327"/>
            <ac:spMk id="3" creationId="{A5A02621-D85F-8D59-09D1-9C35102F6537}"/>
          </ac:spMkLst>
        </pc:spChg>
        <pc:spChg chg="add">
          <ac:chgData name="ponnamreddybabjee@outlook.com" userId="3e261792aa522278" providerId="LiveId" clId="{764AFAE7-0BDF-456A-9B3C-8402A943D376}" dt="2025-12-27T10:53:09.675" v="208"/>
          <ac:spMkLst>
            <pc:docMk/>
            <pc:sldMk cId="902988184" sldId="327"/>
            <ac:spMk id="4" creationId="{BC3ACE37-17C5-2E55-F1A3-B797E8ABED21}"/>
          </ac:spMkLst>
        </pc:spChg>
        <pc:spChg chg="mod">
          <ac:chgData name="ponnamreddybabjee@outlook.com" userId="3e261792aa522278" providerId="LiveId" clId="{764AFAE7-0BDF-456A-9B3C-8402A943D376}" dt="2025-12-27T10:55:53.595" v="228" actId="20577"/>
          <ac:spMkLst>
            <pc:docMk/>
            <pc:sldMk cId="902988184" sldId="327"/>
            <ac:spMk id="5" creationId="{CA8C78CF-EC1B-F527-3D52-147911E68BAD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1:33:33.236" v="237" actId="21"/>
        <pc:sldMkLst>
          <pc:docMk/>
          <pc:sldMk cId="2536956277" sldId="328"/>
        </pc:sldMkLst>
        <pc:spChg chg="del">
          <ac:chgData name="ponnamreddybabjee@outlook.com" userId="3e261792aa522278" providerId="LiveId" clId="{764AFAE7-0BDF-456A-9B3C-8402A943D376}" dt="2025-12-27T11:24:46.458" v="230" actId="478"/>
          <ac:spMkLst>
            <pc:docMk/>
            <pc:sldMk cId="2536956277" sldId="328"/>
            <ac:spMk id="5" creationId="{CA8C78CF-EC1B-F527-3D52-147911E68BAD}"/>
          </ac:spMkLst>
        </pc:spChg>
        <pc:graphicFrameChg chg="add mod modGraphic">
          <ac:chgData name="ponnamreddybabjee@outlook.com" userId="3e261792aa522278" providerId="LiveId" clId="{764AFAE7-0BDF-456A-9B3C-8402A943D376}" dt="2025-12-27T11:33:33.236" v="237" actId="21"/>
          <ac:graphicFrameMkLst>
            <pc:docMk/>
            <pc:sldMk cId="2536956277" sldId="328"/>
            <ac:graphicFrameMk id="3" creationId="{AF4B674E-315B-9440-5609-665C993C345C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1:35:27.106" v="267" actId="1076"/>
        <pc:sldMkLst>
          <pc:docMk/>
          <pc:sldMk cId="3741254871" sldId="329"/>
        </pc:sldMkLst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5" creationId="{97AEBA48-69B1-56E1-EB88-E0B802016A90}"/>
          </ac:spMkLst>
        </pc:spChg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7" creationId="{70A3FEF9-B039-062F-C145-1DCD75C6D80C}"/>
          </ac:spMkLst>
        </pc:spChg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8" creationId="{02498A31-E1FF-9768-0A8E-40A588DA52DA}"/>
          </ac:spMkLst>
        </pc:spChg>
        <pc:spChg chg="add mod">
          <ac:chgData name="ponnamreddybabjee@outlook.com" userId="3e261792aa522278" providerId="LiveId" clId="{764AFAE7-0BDF-456A-9B3C-8402A943D376}" dt="2025-12-27T11:35:07.732" v="265" actId="948"/>
          <ac:spMkLst>
            <pc:docMk/>
            <pc:sldMk cId="3741254871" sldId="329"/>
            <ac:spMk id="10" creationId="{7EB8CC08-5024-F35B-1FCA-154C2C971B5B}"/>
          </ac:spMkLst>
        </pc:spChg>
        <pc:spChg chg="add mod">
          <ac:chgData name="ponnamreddybabjee@outlook.com" userId="3e261792aa522278" providerId="LiveId" clId="{764AFAE7-0BDF-456A-9B3C-8402A943D376}" dt="2025-12-27T11:35:27.106" v="267" actId="1076"/>
          <ac:spMkLst>
            <pc:docMk/>
            <pc:sldMk cId="3741254871" sldId="329"/>
            <ac:spMk id="12" creationId="{D40A9B1C-F795-C469-7CA4-CB1A78E8273C}"/>
          </ac:spMkLst>
        </pc:spChg>
        <pc:graphicFrameChg chg="del">
          <ac:chgData name="ponnamreddybabjee@outlook.com" userId="3e261792aa522278" providerId="LiveId" clId="{764AFAE7-0BDF-456A-9B3C-8402A943D376}" dt="2025-12-27T11:33:45.763" v="239" actId="478"/>
          <ac:graphicFrameMkLst>
            <pc:docMk/>
            <pc:sldMk cId="3741254871" sldId="329"/>
            <ac:graphicFrameMk id="3" creationId="{AF4B674E-315B-9440-5609-665C993C345C}"/>
          </ac:graphicFrameMkLst>
        </pc:graphicFrameChg>
        <pc:graphicFrameChg chg="add">
          <ac:chgData name="ponnamreddybabjee@outlook.com" userId="3e261792aa522278" providerId="LiveId" clId="{764AFAE7-0BDF-456A-9B3C-8402A943D376}" dt="2025-12-27T11:33:46.877" v="240"/>
          <ac:graphicFrameMkLst>
            <pc:docMk/>
            <pc:sldMk cId="3741254871" sldId="329"/>
            <ac:graphicFrameMk id="4" creationId="{9A925CAB-F8F0-71B1-0C14-DEA323276E48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5:28:02.063" v="284" actId="1076"/>
        <pc:sldMkLst>
          <pc:docMk/>
          <pc:sldMk cId="293975909" sldId="330"/>
        </pc:sldMkLst>
        <pc:spChg chg="add del">
          <ac:chgData name="ponnamreddybabjee@outlook.com" userId="3e261792aa522278" providerId="LiveId" clId="{764AFAE7-0BDF-456A-9B3C-8402A943D376}" dt="2025-12-27T15:24:47.665" v="271" actId="21"/>
          <ac:spMkLst>
            <pc:docMk/>
            <pc:sldMk cId="293975909" sldId="330"/>
            <ac:spMk id="3" creationId="{68896708-E887-7917-1E40-824B45DD5D0F}"/>
          </ac:spMkLst>
        </pc:spChg>
        <pc:spChg chg="add mod">
          <ac:chgData name="ponnamreddybabjee@outlook.com" userId="3e261792aa522278" providerId="LiveId" clId="{764AFAE7-0BDF-456A-9B3C-8402A943D376}" dt="2025-12-27T15:26:58.502" v="281" actId="12"/>
          <ac:spMkLst>
            <pc:docMk/>
            <pc:sldMk cId="293975909" sldId="330"/>
            <ac:spMk id="5" creationId="{55F2BC4C-529C-16F0-586D-E94DB632D471}"/>
          </ac:spMkLst>
        </pc:spChg>
        <pc:spChg chg="del mod">
          <ac:chgData name="ponnamreddybabjee@outlook.com" userId="3e261792aa522278" providerId="LiveId" clId="{764AFAE7-0BDF-456A-9B3C-8402A943D376}" dt="2025-12-27T15:24:47.665" v="271" actId="21"/>
          <ac:spMkLst>
            <pc:docMk/>
            <pc:sldMk cId="293975909" sldId="330"/>
            <ac:spMk id="10" creationId="{7EB8CC08-5024-F35B-1FCA-154C2C971B5B}"/>
          </ac:spMkLst>
        </pc:spChg>
        <pc:spChg chg="mod">
          <ac:chgData name="ponnamreddybabjee@outlook.com" userId="3e261792aa522278" providerId="LiveId" clId="{764AFAE7-0BDF-456A-9B3C-8402A943D376}" dt="2025-12-27T15:28:02.063" v="284" actId="1076"/>
          <ac:spMkLst>
            <pc:docMk/>
            <pc:sldMk cId="293975909" sldId="330"/>
            <ac:spMk id="12" creationId="{D40A9B1C-F795-C469-7CA4-CB1A78E827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5:29:08.088" v="294" actId="113"/>
        <pc:sldMkLst>
          <pc:docMk/>
          <pc:sldMk cId="3974031837" sldId="331"/>
        </pc:sldMkLst>
        <pc:spChg chg="del">
          <ac:chgData name="ponnamreddybabjee@outlook.com" userId="3e261792aa522278" providerId="LiveId" clId="{764AFAE7-0BDF-456A-9B3C-8402A943D376}" dt="2025-12-27T15:28:31.731" v="287" actId="478"/>
          <ac:spMkLst>
            <pc:docMk/>
            <pc:sldMk cId="3974031837" sldId="331"/>
            <ac:spMk id="5" creationId="{55F2BC4C-529C-16F0-586D-E94DB632D471}"/>
          </ac:spMkLst>
        </pc:spChg>
        <pc:spChg chg="mod">
          <ac:chgData name="ponnamreddybabjee@outlook.com" userId="3e261792aa522278" providerId="LiveId" clId="{764AFAE7-0BDF-456A-9B3C-8402A943D376}" dt="2025-12-27T15:29:08.088" v="294" actId="113"/>
          <ac:spMkLst>
            <pc:docMk/>
            <pc:sldMk cId="3974031837" sldId="331"/>
            <ac:spMk id="6" creationId="{1B12E08B-88C8-3FE8-4BE4-10AF2733B63C}"/>
          </ac:spMkLst>
        </pc:spChg>
        <pc:spChg chg="del">
          <ac:chgData name="ponnamreddybabjee@outlook.com" userId="3e261792aa522278" providerId="LiveId" clId="{764AFAE7-0BDF-456A-9B3C-8402A943D376}" dt="2025-12-27T15:28:27.151" v="286" actId="478"/>
          <ac:spMkLst>
            <pc:docMk/>
            <pc:sldMk cId="3974031837" sldId="331"/>
            <ac:spMk id="12" creationId="{D40A9B1C-F795-C469-7CA4-CB1A78E8273C}"/>
          </ac:spMkLst>
        </pc:spChg>
        <pc:graphicFrameChg chg="add mod">
          <ac:chgData name="ponnamreddybabjee@outlook.com" userId="3e261792aa522278" providerId="LiveId" clId="{764AFAE7-0BDF-456A-9B3C-8402A943D376}" dt="2025-12-27T15:28:43.937" v="290"/>
          <ac:graphicFrameMkLst>
            <pc:docMk/>
            <pc:sldMk cId="3974031837" sldId="331"/>
            <ac:graphicFrameMk id="3" creationId="{A915B99C-67BC-0A25-296B-53C1BA113D0C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8T09:41:13.641" v="314" actId="6549"/>
        <pc:sldMkLst>
          <pc:docMk/>
          <pc:sldMk cId="959084818" sldId="332"/>
        </pc:sldMkLst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4" creationId="{E3D41BFD-063C-DCE7-961E-14560F6C2B2E}"/>
          </ac:spMkLst>
        </pc:spChg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5" creationId="{0ED80F2B-E29E-3395-0524-D6C5EF6F806E}"/>
          </ac:spMkLst>
        </pc:spChg>
        <pc:spChg chg="del mod">
          <ac:chgData name="ponnamreddybabjee@outlook.com" userId="3e261792aa522278" providerId="LiveId" clId="{764AFAE7-0BDF-456A-9B3C-8402A943D376}" dt="2025-12-28T09:39:41.716" v="302"/>
          <ac:spMkLst>
            <pc:docMk/>
            <pc:sldMk cId="959084818" sldId="332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7" creationId="{32F54149-5CC7-A39B-DFEA-8C413920AE44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8" creationId="{12E3B23D-3EF8-E4B1-4CB7-2B3C39E3CF90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9" creationId="{E8C889BE-009B-162B-B2DF-CE2BC3DB44DB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10" creationId="{F23267FD-9133-AF9E-1482-BADDC226EDED}"/>
          </ac:spMkLst>
        </pc:spChg>
        <pc:spChg chg="add mod">
          <ac:chgData name="ponnamreddybabjee@outlook.com" userId="3e261792aa522278" providerId="LiveId" clId="{764AFAE7-0BDF-456A-9B3C-8402A943D376}" dt="2025-12-28T09:41:13.641" v="314" actId="6549"/>
          <ac:spMkLst>
            <pc:docMk/>
            <pc:sldMk cId="959084818" sldId="332"/>
            <ac:spMk id="12" creationId="{A9568602-968A-C8AC-6925-40590A6342FD}"/>
          </ac:spMkLst>
        </pc:spChg>
        <pc:graphicFrameChg chg="del">
          <ac:chgData name="ponnamreddybabjee@outlook.com" userId="3e261792aa522278" providerId="LiveId" clId="{764AFAE7-0BDF-456A-9B3C-8402A943D376}" dt="2025-12-28T09:39:33.929" v="298" actId="478"/>
          <ac:graphicFrameMkLst>
            <pc:docMk/>
            <pc:sldMk cId="959084818" sldId="332"/>
            <ac:graphicFrameMk id="3" creationId="{A915B99C-67BC-0A25-296B-53C1BA113D0C}"/>
          </ac:graphicFrameMkLst>
        </pc:graphicFrameChg>
      </pc:sldChg>
      <pc:sldChg chg="new del">
        <pc:chgData name="ponnamreddybabjee@outlook.com" userId="3e261792aa522278" providerId="LiveId" clId="{764AFAE7-0BDF-456A-9B3C-8402A943D376}" dt="2025-12-28T09:39:25.492" v="296" actId="680"/>
        <pc:sldMkLst>
          <pc:docMk/>
          <pc:sldMk cId="1674026314" sldId="332"/>
        </pc:sldMkLst>
      </pc:sldChg>
      <pc:sldChg chg="addSp modSp add mod">
        <pc:chgData name="ponnamreddybabjee@outlook.com" userId="3e261792aa522278" providerId="LiveId" clId="{764AFAE7-0BDF-456A-9B3C-8402A943D376}" dt="2025-12-28T11:56:15.095" v="334"/>
        <pc:sldMkLst>
          <pc:docMk/>
          <pc:sldMk cId="1851753173" sldId="333"/>
        </pc:sldMkLst>
        <pc:spChg chg="add">
          <ac:chgData name="ponnamreddybabjee@outlook.com" userId="3e261792aa522278" providerId="LiveId" clId="{764AFAE7-0BDF-456A-9B3C-8402A943D376}" dt="2025-12-28T09:41:39.985" v="317"/>
          <ac:spMkLst>
            <pc:docMk/>
            <pc:sldMk cId="1851753173" sldId="333"/>
            <ac:spMk id="3" creationId="{1AD39139-DF7E-6E0A-3E61-D4E374918DE2}"/>
          </ac:spMkLst>
        </pc:spChg>
        <pc:spChg chg="mod">
          <ac:chgData name="ponnamreddybabjee@outlook.com" userId="3e261792aa522278" providerId="LiveId" clId="{764AFAE7-0BDF-456A-9B3C-8402A943D376}" dt="2025-12-28T09:43:08.015" v="331" actId="113"/>
          <ac:spMkLst>
            <pc:docMk/>
            <pc:sldMk cId="1851753173" sldId="333"/>
            <ac:spMk id="12" creationId="{A9568602-968A-C8AC-6925-40590A6342FD}"/>
          </ac:spMkLst>
        </pc:spChg>
        <pc:graphicFrameChg chg="add mod">
          <ac:chgData name="ponnamreddybabjee@outlook.com" userId="3e261792aa522278" providerId="LiveId" clId="{764AFAE7-0BDF-456A-9B3C-8402A943D376}" dt="2025-12-28T11:56:15.095" v="334"/>
          <ac:graphicFrameMkLst>
            <pc:docMk/>
            <pc:sldMk cId="1851753173" sldId="333"/>
            <ac:graphicFrameMk id="4" creationId="{8DDF8265-0537-65F3-DEB1-1C4E16C0A44D}"/>
          </ac:graphicFrameMkLst>
        </pc:graphicFrameChg>
      </pc:sldChg>
      <pc:sldChg chg="delSp modSp add mod">
        <pc:chgData name="ponnamreddybabjee@outlook.com" userId="3e261792aa522278" providerId="LiveId" clId="{764AFAE7-0BDF-456A-9B3C-8402A943D376}" dt="2025-12-28T12:08:46.886" v="338" actId="478"/>
        <pc:sldMkLst>
          <pc:docMk/>
          <pc:sldMk cId="1859222052" sldId="334"/>
        </pc:sldMkLst>
        <pc:spChg chg="mod">
          <ac:chgData name="ponnamreddybabjee@outlook.com" userId="3e261792aa522278" providerId="LiveId" clId="{764AFAE7-0BDF-456A-9B3C-8402A943D376}" dt="2025-12-28T12:08:38.283" v="337"/>
          <ac:spMkLst>
            <pc:docMk/>
            <pc:sldMk cId="1859222052" sldId="334"/>
            <ac:spMk id="12" creationId="{A9568602-968A-C8AC-6925-40590A6342FD}"/>
          </ac:spMkLst>
        </pc:spChg>
        <pc:graphicFrameChg chg="del">
          <ac:chgData name="ponnamreddybabjee@outlook.com" userId="3e261792aa522278" providerId="LiveId" clId="{764AFAE7-0BDF-456A-9B3C-8402A943D376}" dt="2025-12-28T12:08:46.886" v="338" actId="478"/>
          <ac:graphicFrameMkLst>
            <pc:docMk/>
            <pc:sldMk cId="1859222052" sldId="334"/>
            <ac:graphicFrameMk id="4" creationId="{8DDF8265-0537-65F3-DEB1-1C4E16C0A44D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28:07.204" v="420" actId="403"/>
        <pc:sldMkLst>
          <pc:docMk/>
          <pc:sldMk cId="1174850732" sldId="335"/>
        </pc:sldMkLst>
        <pc:spChg chg="del">
          <ac:chgData name="ponnamreddybabjee@outlook.com" userId="3e261792aa522278" providerId="LiveId" clId="{764AFAE7-0BDF-456A-9B3C-8402A943D376}" dt="2025-12-29T14:35:28.372" v="341" actId="478"/>
          <ac:spMkLst>
            <pc:docMk/>
            <pc:sldMk cId="1174850732" sldId="335"/>
            <ac:spMk id="3" creationId="{37C55B64-9DD9-30BB-9565-07D9BD1EBF20}"/>
          </ac:spMkLst>
        </pc:spChg>
        <pc:spChg chg="mod">
          <ac:chgData name="ponnamreddybabjee@outlook.com" userId="3e261792aa522278" providerId="LiveId" clId="{764AFAE7-0BDF-456A-9B3C-8402A943D376}" dt="2025-12-29T16:18:12.457" v="348"/>
          <ac:spMkLst>
            <pc:docMk/>
            <pc:sldMk cId="1174850732" sldId="335"/>
            <ac:spMk id="6" creationId="{1B12E08B-88C8-3FE8-4BE4-10AF2733B63C}"/>
          </ac:spMkLst>
        </pc:spChg>
        <pc:spChg chg="add del mod">
          <ac:chgData name="ponnamreddybabjee@outlook.com" userId="3e261792aa522278" providerId="LiveId" clId="{764AFAE7-0BDF-456A-9B3C-8402A943D376}" dt="2025-12-29T16:19:03.682" v="354" actId="478"/>
          <ac:spMkLst>
            <pc:docMk/>
            <pc:sldMk cId="1174850732" sldId="335"/>
            <ac:spMk id="7" creationId="{6CF2FC7F-2810-1FDA-9F46-7E50F485CA33}"/>
          </ac:spMkLst>
        </pc:spChg>
        <pc:spChg chg="del">
          <ac:chgData name="ponnamreddybabjee@outlook.com" userId="3e261792aa522278" providerId="LiveId" clId="{764AFAE7-0BDF-456A-9B3C-8402A943D376}" dt="2025-12-29T14:35:31.345" v="342" actId="478"/>
          <ac:spMkLst>
            <pc:docMk/>
            <pc:sldMk cId="1174850732" sldId="335"/>
            <ac:spMk id="9" creationId="{5572230D-F1CF-53C2-DB2D-3D1347954179}"/>
          </ac:spMkLst>
        </pc:spChg>
        <pc:spChg chg="add mod">
          <ac:chgData name="ponnamreddybabjee@outlook.com" userId="3e261792aa522278" providerId="LiveId" clId="{764AFAE7-0BDF-456A-9B3C-8402A943D376}" dt="2025-12-29T16:27:32.047" v="397" actId="1076"/>
          <ac:spMkLst>
            <pc:docMk/>
            <pc:sldMk cId="1174850732" sldId="335"/>
            <ac:spMk id="10" creationId="{BB6DFC83-2C6E-3D42-00A4-E4DA1B0E5B97}"/>
          </ac:spMkLst>
        </pc:spChg>
        <pc:spChg chg="add mod">
          <ac:chgData name="ponnamreddybabjee@outlook.com" userId="3e261792aa522278" providerId="LiveId" clId="{764AFAE7-0BDF-456A-9B3C-8402A943D376}" dt="2025-12-29T16:28:07.204" v="420" actId="403"/>
          <ac:spMkLst>
            <pc:docMk/>
            <pc:sldMk cId="1174850732" sldId="335"/>
            <ac:spMk id="11" creationId="{AE64DA82-24B5-4DCE-F30F-6D7AC198EBA0}"/>
          </ac:spMkLst>
        </pc:spChg>
        <pc:graphicFrameChg chg="del">
          <ac:chgData name="ponnamreddybabjee@outlook.com" userId="3e261792aa522278" providerId="LiveId" clId="{764AFAE7-0BDF-456A-9B3C-8402A943D376}" dt="2025-12-29T14:35:21.925" v="340" actId="478"/>
          <ac:graphicFrameMkLst>
            <pc:docMk/>
            <pc:sldMk cId="1174850732" sldId="335"/>
            <ac:graphicFrameMk id="2" creationId="{57682F7A-3E1C-0963-CC61-ED4DA87B3214}"/>
          </ac:graphicFrameMkLst>
        </pc:graphicFrameChg>
        <pc:graphicFrameChg chg="del">
          <ac:chgData name="ponnamreddybabjee@outlook.com" userId="3e261792aa522278" providerId="LiveId" clId="{764AFAE7-0BDF-456A-9B3C-8402A943D376}" dt="2025-12-29T14:35:38.198" v="343" actId="478"/>
          <ac:graphicFrameMkLst>
            <pc:docMk/>
            <pc:sldMk cId="1174850732" sldId="335"/>
            <ac:graphicFrameMk id="5" creationId="{7971D2F9-941E-7A22-9A3D-0888181CE7F2}"/>
          </ac:graphicFrameMkLst>
        </pc:graphicFrameChg>
      </pc:sldChg>
      <pc:sldChg chg="delSp modSp add mod ord">
        <pc:chgData name="ponnamreddybabjee@outlook.com" userId="3e261792aa522278" providerId="LiveId" clId="{764AFAE7-0BDF-456A-9B3C-8402A943D376}" dt="2025-12-29T16:26:56.934" v="395" actId="1076"/>
        <pc:sldMkLst>
          <pc:docMk/>
          <pc:sldMk cId="280250242" sldId="336"/>
        </pc:sldMkLst>
        <pc:spChg chg="mod">
          <ac:chgData name="ponnamreddybabjee@outlook.com" userId="3e261792aa522278" providerId="LiveId" clId="{764AFAE7-0BDF-456A-9B3C-8402A943D376}" dt="2025-12-29T16:26:56.934" v="395" actId="1076"/>
          <ac:spMkLst>
            <pc:docMk/>
            <pc:sldMk cId="280250242" sldId="336"/>
            <ac:spMk id="3" creationId="{37C55B64-9DD9-30BB-9565-07D9BD1EBF20}"/>
          </ac:spMkLst>
        </pc:spChg>
        <pc:spChg chg="del">
          <ac:chgData name="ponnamreddybabjee@outlook.com" userId="3e261792aa522278" providerId="LiveId" clId="{764AFAE7-0BDF-456A-9B3C-8402A943D376}" dt="2025-12-29T16:26:52.689" v="394" actId="478"/>
          <ac:spMkLst>
            <pc:docMk/>
            <pc:sldMk cId="280250242" sldId="336"/>
            <ac:spMk id="6" creationId="{1B12E08B-88C8-3FE8-4BE4-10AF2733B6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9T16:30:04.004" v="429"/>
        <pc:sldMkLst>
          <pc:docMk/>
          <pc:sldMk cId="2383900896" sldId="337"/>
        </pc:sldMkLst>
        <pc:spChg chg="del">
          <ac:chgData name="ponnamreddybabjee@outlook.com" userId="3e261792aa522278" providerId="LiveId" clId="{764AFAE7-0BDF-456A-9B3C-8402A943D376}" dt="2025-12-29T16:29:00.045" v="422" actId="478"/>
          <ac:spMkLst>
            <pc:docMk/>
            <pc:sldMk cId="2383900896" sldId="337"/>
            <ac:spMk id="10" creationId="{BB6DFC83-2C6E-3D42-00A4-E4DA1B0E5B97}"/>
          </ac:spMkLst>
        </pc:spChg>
        <pc:spChg chg="mod">
          <ac:chgData name="ponnamreddybabjee@outlook.com" userId="3e261792aa522278" providerId="LiveId" clId="{764AFAE7-0BDF-456A-9B3C-8402A943D376}" dt="2025-12-29T16:29:52.607" v="428" actId="403"/>
          <ac:spMkLst>
            <pc:docMk/>
            <pc:sldMk cId="2383900896" sldId="337"/>
            <ac:spMk id="11" creationId="{AE64DA82-24B5-4DCE-F30F-6D7AC198EBA0}"/>
          </ac:spMkLst>
        </pc:spChg>
        <pc:graphicFrameChg chg="add mod">
          <ac:chgData name="ponnamreddybabjee@outlook.com" userId="3e261792aa522278" providerId="LiveId" clId="{764AFAE7-0BDF-456A-9B3C-8402A943D376}" dt="2025-12-29T16:30:04.004" v="429"/>
          <ac:graphicFrameMkLst>
            <pc:docMk/>
            <pc:sldMk cId="2383900896" sldId="337"/>
            <ac:graphicFrameMk id="2" creationId="{4B147FC6-A380-834C-F6CB-044DA5B8F0A9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36:57.311" v="444" actId="113"/>
        <pc:sldMkLst>
          <pc:docMk/>
          <pc:sldMk cId="3021161864" sldId="338"/>
        </pc:sldMkLst>
        <pc:spChg chg="add mod">
          <ac:chgData name="ponnamreddybabjee@outlook.com" userId="3e261792aa522278" providerId="LiveId" clId="{764AFAE7-0BDF-456A-9B3C-8402A943D376}" dt="2025-12-29T16:36:57.311" v="444" actId="113"/>
          <ac:spMkLst>
            <pc:docMk/>
            <pc:sldMk cId="3021161864" sldId="338"/>
            <ac:spMk id="4" creationId="{93834479-F10D-C19C-C5AE-DAEAED3E94D9}"/>
          </ac:spMkLst>
        </pc:spChg>
        <pc:spChg chg="del mod">
          <ac:chgData name="ponnamreddybabjee@outlook.com" userId="3e261792aa522278" providerId="LiveId" clId="{764AFAE7-0BDF-456A-9B3C-8402A943D376}" dt="2025-12-29T16:35:43.395" v="434"/>
          <ac:spMkLst>
            <pc:docMk/>
            <pc:sldMk cId="3021161864" sldId="338"/>
            <ac:spMk id="11" creationId="{AE64DA82-24B5-4DCE-F30F-6D7AC198EBA0}"/>
          </ac:spMkLst>
        </pc:spChg>
        <pc:graphicFrameChg chg="del">
          <ac:chgData name="ponnamreddybabjee@outlook.com" userId="3e261792aa522278" providerId="LiveId" clId="{764AFAE7-0BDF-456A-9B3C-8402A943D376}" dt="2025-12-29T16:35:28.563" v="431" actId="478"/>
          <ac:graphicFrameMkLst>
            <pc:docMk/>
            <pc:sldMk cId="3021161864" sldId="338"/>
            <ac:graphicFrameMk id="2" creationId="{4B147FC6-A380-834C-F6CB-044DA5B8F0A9}"/>
          </ac:graphicFrameMkLst>
        </pc:graphicFrameChg>
      </pc:sldChg>
      <pc:sldChg chg="addSp modSp add mod">
        <pc:chgData name="ponnamreddybabjee@outlook.com" userId="3e261792aa522278" providerId="LiveId" clId="{764AFAE7-0BDF-456A-9B3C-8402A943D376}" dt="2025-12-29T16:39:56.757" v="461" actId="1076"/>
        <pc:sldMkLst>
          <pc:docMk/>
          <pc:sldMk cId="3011516218" sldId="339"/>
        </pc:sldMkLst>
        <pc:spChg chg="add mod">
          <ac:chgData name="ponnamreddybabjee@outlook.com" userId="3e261792aa522278" providerId="LiveId" clId="{764AFAE7-0BDF-456A-9B3C-8402A943D376}" dt="2025-12-29T16:39:56.757" v="461" actId="1076"/>
          <ac:spMkLst>
            <pc:docMk/>
            <pc:sldMk cId="3011516218" sldId="339"/>
            <ac:spMk id="3" creationId="{F003E413-A84B-724B-C03D-E1C4803A7CD6}"/>
          </ac:spMkLst>
        </pc:spChg>
        <pc:spChg chg="mod">
          <ac:chgData name="ponnamreddybabjee@outlook.com" userId="3e261792aa522278" providerId="LiveId" clId="{764AFAE7-0BDF-456A-9B3C-8402A943D376}" dt="2025-12-29T16:39:51.032" v="460" actId="1076"/>
          <ac:spMkLst>
            <pc:docMk/>
            <pc:sldMk cId="3011516218" sldId="339"/>
            <ac:spMk id="4" creationId="{93834479-F10D-C19C-C5AE-DAEAED3E94D9}"/>
          </ac:spMkLst>
        </pc:spChg>
        <pc:spChg chg="mod">
          <ac:chgData name="ponnamreddybabjee@outlook.com" userId="3e261792aa522278" providerId="LiveId" clId="{764AFAE7-0BDF-456A-9B3C-8402A943D376}" dt="2025-12-29T16:39:45.754" v="459" actId="1076"/>
          <ac:spMkLst>
            <pc:docMk/>
            <pc:sldMk cId="3011516218" sldId="339"/>
            <ac:spMk id="6" creationId="{1B12E08B-88C8-3FE8-4BE4-10AF2733B6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9T16:42:47.085" v="487" actId="948"/>
        <pc:sldMkLst>
          <pc:docMk/>
          <pc:sldMk cId="2183289276" sldId="340"/>
        </pc:sldMkLst>
        <pc:spChg chg="del">
          <ac:chgData name="ponnamreddybabjee@outlook.com" userId="3e261792aa522278" providerId="LiveId" clId="{764AFAE7-0BDF-456A-9B3C-8402A943D376}" dt="2025-12-29T16:41:00.991" v="469" actId="478"/>
          <ac:spMkLst>
            <pc:docMk/>
            <pc:sldMk cId="2183289276" sldId="340"/>
            <ac:spMk id="3" creationId="{F003E413-A84B-724B-C03D-E1C4803A7CD6}"/>
          </ac:spMkLst>
        </pc:spChg>
        <pc:spChg chg="del">
          <ac:chgData name="ponnamreddybabjee@outlook.com" userId="3e261792aa522278" providerId="LiveId" clId="{764AFAE7-0BDF-456A-9B3C-8402A943D376}" dt="2025-12-29T16:40:57.037" v="468" actId="478"/>
          <ac:spMkLst>
            <pc:docMk/>
            <pc:sldMk cId="2183289276" sldId="340"/>
            <ac:spMk id="4" creationId="{93834479-F10D-C19C-C5AE-DAEAED3E94D9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5" creationId="{3460D21D-BF2B-9978-F11D-CE10533FD33F}"/>
          </ac:spMkLst>
        </pc:spChg>
        <pc:spChg chg="mod">
          <ac:chgData name="ponnamreddybabjee@outlook.com" userId="3e261792aa522278" providerId="LiveId" clId="{764AFAE7-0BDF-456A-9B3C-8402A943D376}" dt="2025-12-29T16:40:51.974" v="467" actId="20577"/>
          <ac:spMkLst>
            <pc:docMk/>
            <pc:sldMk cId="2183289276" sldId="340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7" creationId="{963592C0-EBB9-E067-2722-49FEA207F170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8" creationId="{91057309-AEC6-9AD2-93FA-836A85E227D7}"/>
          </ac:spMkLst>
        </pc:spChg>
        <pc:spChg chg="add mod">
          <ac:chgData name="ponnamreddybabjee@outlook.com" userId="3e261792aa522278" providerId="LiveId" clId="{764AFAE7-0BDF-456A-9B3C-8402A943D376}" dt="2025-12-29T16:42:47.085" v="487" actId="948"/>
          <ac:spMkLst>
            <pc:docMk/>
            <pc:sldMk cId="2183289276" sldId="340"/>
            <ac:spMk id="10" creationId="{A469B41B-1C4F-18FD-1A5C-FD9ECB9C223C}"/>
          </ac:spMkLst>
        </pc:spChg>
        <pc:graphicFrameChg chg="add mod">
          <ac:chgData name="ponnamreddybabjee@outlook.com" userId="3e261792aa522278" providerId="LiveId" clId="{764AFAE7-0BDF-456A-9B3C-8402A943D376}" dt="2025-12-29T16:41:23.825" v="472"/>
          <ac:graphicFrameMkLst>
            <pc:docMk/>
            <pc:sldMk cId="2183289276" sldId="340"/>
            <ac:graphicFrameMk id="2" creationId="{E2B9D90D-4244-8056-BE41-F8A795E65A1D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48:07.919" v="497" actId="113"/>
        <pc:sldMkLst>
          <pc:docMk/>
          <pc:sldMk cId="521143741" sldId="341"/>
        </pc:sldMkLst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3" creationId="{9C59CF99-2123-F50E-6A29-58D78D809FB0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4" creationId="{6E8742AB-DCA5-A06D-9A10-2D86387CBFD4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5" creationId="{502014AD-BC20-073B-5085-BEA092C0F908}"/>
          </ac:spMkLst>
        </pc:spChg>
        <pc:spChg chg="del">
          <ac:chgData name="ponnamreddybabjee@outlook.com" userId="3e261792aa522278" providerId="LiveId" clId="{764AFAE7-0BDF-456A-9B3C-8402A943D376}" dt="2025-12-29T16:46:21.785" v="490" actId="478"/>
          <ac:spMkLst>
            <pc:docMk/>
            <pc:sldMk cId="521143741" sldId="341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7" creationId="{F2405A27-AC44-3E37-A4E6-204EA0AAD914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8" creationId="{22C6D436-A5B0-D0C3-2FE7-06B7747EB343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9" creationId="{F3626BE9-887C-F3B1-96C8-9F2537168AF5}"/>
          </ac:spMkLst>
        </pc:spChg>
        <pc:spChg chg="del">
          <ac:chgData name="ponnamreddybabjee@outlook.com" userId="3e261792aa522278" providerId="LiveId" clId="{764AFAE7-0BDF-456A-9B3C-8402A943D376}" dt="2025-12-29T16:46:25.478" v="491" actId="478"/>
          <ac:spMkLst>
            <pc:docMk/>
            <pc:sldMk cId="521143741" sldId="341"/>
            <ac:spMk id="10" creationId="{A469B41B-1C4F-18FD-1A5C-FD9ECB9C223C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11" creationId="{62F51F54-77F5-ED13-B534-55A45B497DCD}"/>
          </ac:spMkLst>
        </pc:spChg>
        <pc:spChg chg="add mod">
          <ac:chgData name="ponnamreddybabjee@outlook.com" userId="3e261792aa522278" providerId="LiveId" clId="{764AFAE7-0BDF-456A-9B3C-8402A943D376}" dt="2025-12-29T16:48:07.919" v="497" actId="113"/>
          <ac:spMkLst>
            <pc:docMk/>
            <pc:sldMk cId="521143741" sldId="341"/>
            <ac:spMk id="13" creationId="{DD035340-9030-CE2B-5EC4-26B2012F54C2}"/>
          </ac:spMkLst>
        </pc:spChg>
        <pc:graphicFrameChg chg="del">
          <ac:chgData name="ponnamreddybabjee@outlook.com" userId="3e261792aa522278" providerId="LiveId" clId="{764AFAE7-0BDF-456A-9B3C-8402A943D376}" dt="2025-12-29T16:46:16.906" v="489" actId="478"/>
          <ac:graphicFrameMkLst>
            <pc:docMk/>
            <pc:sldMk cId="521143741" sldId="341"/>
            <ac:graphicFrameMk id="2" creationId="{E2B9D90D-4244-8056-BE41-F8A795E65A1D}"/>
          </ac:graphicFrameMkLst>
        </pc:graphicFrameChg>
      </pc:sldChg>
      <pc:sldChg chg="modSp add mod">
        <pc:chgData name="ponnamreddybabjee@outlook.com" userId="3e261792aa522278" providerId="LiveId" clId="{764AFAE7-0BDF-456A-9B3C-8402A943D376}" dt="2026-01-02T03:42:39.117" v="617" actId="113"/>
        <pc:sldMkLst>
          <pc:docMk/>
          <pc:sldMk cId="261242587" sldId="342"/>
        </pc:sldMkLst>
        <pc:spChg chg="mod">
          <ac:chgData name="ponnamreddybabjee@outlook.com" userId="3e261792aa522278" providerId="LiveId" clId="{764AFAE7-0BDF-456A-9B3C-8402A943D376}" dt="2026-01-02T03:42:39.117" v="617" actId="113"/>
          <ac:spMkLst>
            <pc:docMk/>
            <pc:sldMk cId="261242587" sldId="342"/>
            <ac:spMk id="12" creationId="{A9568602-968A-C8AC-6925-40590A6342FD}"/>
          </ac:spMkLst>
        </pc:spChg>
      </pc:sldChg>
      <pc:sldChg chg="addSp delSp modSp add mod">
        <pc:chgData name="ponnamreddybabjee@outlook.com" userId="3e261792aa522278" providerId="LiveId" clId="{764AFAE7-0BDF-456A-9B3C-8402A943D376}" dt="2026-01-01T05:54:34.913" v="536" actId="15"/>
        <pc:sldMkLst>
          <pc:docMk/>
          <pc:sldMk cId="178082714" sldId="343"/>
        </pc:sldMkLst>
        <pc:spChg chg="add">
          <ac:chgData name="ponnamreddybabjee@outlook.com" userId="3e261792aa522278" providerId="LiveId" clId="{764AFAE7-0BDF-456A-9B3C-8402A943D376}" dt="2026-01-01T05:53:44.918" v="528"/>
          <ac:spMkLst>
            <pc:docMk/>
            <pc:sldMk cId="178082714" sldId="343"/>
            <ac:spMk id="3" creationId="{B8B684DB-DEBF-76DF-0A18-9D710DC77772}"/>
          </ac:spMkLst>
        </pc:spChg>
        <pc:spChg chg="add mod">
          <ac:chgData name="ponnamreddybabjee@outlook.com" userId="3e261792aa522278" providerId="LiveId" clId="{764AFAE7-0BDF-456A-9B3C-8402A943D376}" dt="2026-01-01T05:54:34.913" v="536" actId="15"/>
          <ac:spMkLst>
            <pc:docMk/>
            <pc:sldMk cId="178082714" sldId="343"/>
            <ac:spMk id="5" creationId="{49DD0415-1FA6-D972-E848-D4D4101A2BE1}"/>
          </ac:spMkLst>
        </pc:spChg>
        <pc:spChg chg="del mod">
          <ac:chgData name="ponnamreddybabjee@outlook.com" userId="3e261792aa522278" providerId="LiveId" clId="{764AFAE7-0BDF-456A-9B3C-8402A943D376}" dt="2026-01-01T05:54:07.494" v="530"/>
          <ac:spMkLst>
            <pc:docMk/>
            <pc:sldMk cId="178082714" sldId="343"/>
            <ac:spMk id="12" creationId="{A9568602-968A-C8AC-6925-40590A6342FD}"/>
          </ac:spMkLst>
        </pc:spChg>
      </pc:sldChg>
      <pc:sldChg chg="addSp modSp add mod">
        <pc:chgData name="ponnamreddybabjee@outlook.com" userId="3e261792aa522278" providerId="LiveId" clId="{764AFAE7-0BDF-456A-9B3C-8402A943D376}" dt="2026-01-01T05:55:40.052" v="543" actId="14100"/>
        <pc:sldMkLst>
          <pc:docMk/>
          <pc:sldMk cId="3330007086" sldId="344"/>
        </pc:sldMkLst>
        <pc:spChg chg="mod">
          <ac:chgData name="ponnamreddybabjee@outlook.com" userId="3e261792aa522278" providerId="LiveId" clId="{764AFAE7-0BDF-456A-9B3C-8402A943D376}" dt="2026-01-01T05:55:20.300" v="539"/>
          <ac:spMkLst>
            <pc:docMk/>
            <pc:sldMk cId="3330007086" sldId="344"/>
            <ac:spMk id="5" creationId="{49DD0415-1FA6-D972-E848-D4D4101A2BE1}"/>
          </ac:spMkLst>
        </pc:spChg>
        <pc:graphicFrameChg chg="add mod modGraphic">
          <ac:chgData name="ponnamreddybabjee@outlook.com" userId="3e261792aa522278" providerId="LiveId" clId="{764AFAE7-0BDF-456A-9B3C-8402A943D376}" dt="2026-01-01T05:55:40.052" v="543" actId="14100"/>
          <ac:graphicFrameMkLst>
            <pc:docMk/>
            <pc:sldMk cId="3330007086" sldId="344"/>
            <ac:graphicFrameMk id="3" creationId="{E1BF2C76-7491-2C18-B639-872952BF8B09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6-01-01T06:34:10.669" v="602" actId="113"/>
        <pc:sldMkLst>
          <pc:docMk/>
          <pc:sldMk cId="2187956295" sldId="345"/>
        </pc:sldMkLst>
        <pc:spChg chg="del">
          <ac:chgData name="ponnamreddybabjee@outlook.com" userId="3e261792aa522278" providerId="LiveId" clId="{764AFAE7-0BDF-456A-9B3C-8402A943D376}" dt="2026-01-01T05:57:14.658" v="545" actId="478"/>
          <ac:spMkLst>
            <pc:docMk/>
            <pc:sldMk cId="2187956295" sldId="345"/>
            <ac:spMk id="2" creationId="{80974920-A599-1B14-8E6D-A6D87A1687B9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4" creationId="{5B6F72A6-1017-26C9-40BD-9C4E64B1169B}"/>
          </ac:spMkLst>
        </pc:spChg>
        <pc:spChg chg="del">
          <ac:chgData name="ponnamreddybabjee@outlook.com" userId="3e261792aa522278" providerId="LiveId" clId="{764AFAE7-0BDF-456A-9B3C-8402A943D376}" dt="2026-01-01T05:57:14.658" v="545" actId="478"/>
          <ac:spMkLst>
            <pc:docMk/>
            <pc:sldMk cId="2187956295" sldId="345"/>
            <ac:spMk id="5" creationId="{49DD0415-1FA6-D972-E848-D4D4101A2BE1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6" creationId="{F0F14F57-9E7F-8A27-BEE8-C8814B7C7136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7" creationId="{A7E27B12-48FD-0EFA-63F3-FE89612AD459}"/>
          </ac:spMkLst>
        </pc:spChg>
        <pc:spChg chg="add mod">
          <ac:chgData name="ponnamreddybabjee@outlook.com" userId="3e261792aa522278" providerId="LiveId" clId="{764AFAE7-0BDF-456A-9B3C-8402A943D376}" dt="2026-01-01T06:34:10.669" v="602" actId="113"/>
          <ac:spMkLst>
            <pc:docMk/>
            <pc:sldMk cId="2187956295" sldId="345"/>
            <ac:spMk id="9" creationId="{381248E8-92DC-B766-2411-BDAB432B2D59}"/>
          </ac:spMkLst>
        </pc:spChg>
        <pc:graphicFrameChg chg="del">
          <ac:chgData name="ponnamreddybabjee@outlook.com" userId="3e261792aa522278" providerId="LiveId" clId="{764AFAE7-0BDF-456A-9B3C-8402A943D376}" dt="2026-01-01T05:57:14.658" v="545" actId="478"/>
          <ac:graphicFrameMkLst>
            <pc:docMk/>
            <pc:sldMk cId="2187956295" sldId="345"/>
            <ac:graphicFrameMk id="3" creationId="{E1BF2C76-7491-2C18-B639-872952BF8B09}"/>
          </ac:graphicFrameMkLst>
        </pc:graphicFrameChg>
      </pc:sldChg>
      <pc:sldChg chg="addSp modSp add mod">
        <pc:chgData name="ponnamreddybabjee@outlook.com" userId="3e261792aa522278" providerId="LiveId" clId="{764AFAE7-0BDF-456A-9B3C-8402A943D376}" dt="2026-01-01T06:34:58.503" v="615" actId="20577"/>
        <pc:sldMkLst>
          <pc:docMk/>
          <pc:sldMk cId="2777056729" sldId="346"/>
        </pc:sldMkLst>
        <pc:spChg chg="add">
          <ac:chgData name="ponnamreddybabjee@outlook.com" userId="3e261792aa522278" providerId="LiveId" clId="{764AFAE7-0BDF-456A-9B3C-8402A943D376}" dt="2026-01-01T06:34:23.742" v="605"/>
          <ac:spMkLst>
            <pc:docMk/>
            <pc:sldMk cId="2777056729" sldId="346"/>
            <ac:spMk id="2" creationId="{44AC9835-A9CB-945E-C9C6-0490026651B7}"/>
          </ac:spMkLst>
        </pc:spChg>
        <pc:spChg chg="mod">
          <ac:chgData name="ponnamreddybabjee@outlook.com" userId="3e261792aa522278" providerId="LiveId" clId="{764AFAE7-0BDF-456A-9B3C-8402A943D376}" dt="2026-01-01T06:34:58.503" v="615" actId="20577"/>
          <ac:spMkLst>
            <pc:docMk/>
            <pc:sldMk cId="2777056729" sldId="346"/>
            <ac:spMk id="9" creationId="{381248E8-92DC-B766-2411-BDAB432B2D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3612C-B4E0-405E-8150-2DFD3616867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D5A9-91BB-4EAA-9DF0-209E252E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6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8AB3-D5CF-929C-D5AD-7635B0639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Snowflake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5595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Snowflake – Introduction and Architecture</a:t>
            </a:r>
            <a:endParaRPr lang="en-US" sz="2400" b="1" dirty="0"/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is a modern cloud-native data platform designed for data warehousing, data lakes, data engineering, data sharing, and machine learning workloads.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Unlike traditional databases, Snowflake is built for the cloud and runs on AWS, Azure, and Google Cloud.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provides a single platform where organizations can store, analyze, and share structured and semi-structured data efficiently.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Offers seamless scalability and eliminates the need to manage hardware, tuning, or complex configurations.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Uses separation of storage and compute, which allows independent scaling.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Core Capabilities: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Elastic Compute – Instantly scale up or down depending on workload.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Centralized Storage – Store data in compressed, secure formats.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 for Semi-structured Data – JSON, Avro, ORC, Parquet without ETL overhead.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Multi-cloud Deployment – Runs across AWS, Azure, GCP with consistent experience.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337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Advantages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&amp; Technical Benefits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Separation of Storage and Compute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clusters (called </a:t>
            </a:r>
            <a:r>
              <a:rPr lang="en-US" b="1" dirty="0"/>
              <a:t>Virtual Warehouses</a:t>
            </a:r>
            <a:r>
              <a:rPr lang="en-US" dirty="0"/>
              <a:t>) can be scaled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teams to run workloads without competing for </a:t>
            </a:r>
            <a:r>
              <a:rPr lang="en-US" dirty="0" err="1"/>
              <a:t>resources.</a:t>
            </a:r>
            <a:r>
              <a:rPr lang="en-US" b="1" dirty="0" err="1"/>
              <a:t>High</a:t>
            </a:r>
            <a:r>
              <a:rPr lang="en-US" b="1" dirty="0"/>
              <a:t> Performance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Massively Parallel Processing (MPP)</a:t>
            </a:r>
            <a:r>
              <a:rPr lang="en-US" dirty="0"/>
              <a:t> to distribute queries across nodes.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query optimization with no manual tuning required.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 Sharing &amp; Collaboration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Unique </a:t>
            </a:r>
            <a:r>
              <a:rPr lang="en-US" b="1" dirty="0"/>
              <a:t>Secure Data Sharing</a:t>
            </a:r>
            <a:r>
              <a:rPr lang="en-US" dirty="0"/>
              <a:t> feature lets organizations share live data across accounts without moving or copying.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Security &amp; Governance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encryption, automatic backups, and disaster recovery.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role-based access control (RBAC)</a:t>
            </a:r>
            <a:r>
              <a:rPr lang="en-US" dirty="0"/>
              <a:t> and </a:t>
            </a:r>
            <a:r>
              <a:rPr lang="en-US" b="1" dirty="0"/>
              <a:t>multi-factor authentication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Near-Zero Maintenance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for software patching, indexing, or infrastructure management.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84A6D-C99C-040D-024F-C5EB3B03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142882"/>
            <a:ext cx="5072101" cy="50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1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Three-Layer Architecture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Database Storage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All data loaded into Snowflake is automatically </a:t>
            </a:r>
            <a:r>
              <a:rPr lang="en-US" b="1" dirty="0"/>
              <a:t>compressed, optimized, and encrypted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Handles both structured (tables, relational data) and semi-structured (JSON, Avro, Parquet).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Storage is </a:t>
            </a:r>
            <a:r>
              <a:rPr lang="en-US" b="1" dirty="0"/>
              <a:t>centralized and shared</a:t>
            </a:r>
            <a:r>
              <a:rPr lang="en-US" dirty="0"/>
              <a:t>, but fully abstracted from users.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Compute Layer (Virtual Warehouses)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is handled by independent clusters called </a:t>
            </a:r>
            <a:r>
              <a:rPr lang="en-US" b="1" dirty="0"/>
              <a:t>Virtual Warehouses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warehouse can perform queries, ETL jobs, and transformations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Warehouses can be resized instantly (small → medium → large) depending on query needs.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Cloud Services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Coordinates activities across storage and compute.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authentication, metadata, query optimization, access control, infrastructure management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scalability and elasticity</a:t>
            </a:r>
            <a:r>
              <a:rPr lang="en-US" dirty="0"/>
              <a:t> without user intervention.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Standard Edition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Small to medium businesses or teams starting with cloud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Core Snowflake capabilities (data storage, compute, and cloud services).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access and role-based access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(up to 1 day by default).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Cloning (zero-copy cloning).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Limitations: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Limited support for multi-cluster warehouses.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advanced security or governance features.</a:t>
            </a:r>
          </a:p>
        </p:txBody>
      </p:sp>
    </p:spTree>
    <p:extLst>
      <p:ext uri="{BB962C8B-B14F-4D97-AF65-F5344CB8AC3E}">
        <p14:creationId xmlns:p14="http://schemas.microsoft.com/office/powerpoint/2010/main" val="229115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Enterprise Edition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needing enhanced security, compliance, and scalability.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Standard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Extended Time Travel</a:t>
            </a:r>
            <a:r>
              <a:rPr lang="en-US" dirty="0"/>
              <a:t>: up to 90 days.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Failover and Replication</a:t>
            </a:r>
            <a:r>
              <a:rPr lang="en-US" dirty="0"/>
              <a:t>: For high availability across regions.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Customer-Managed Keys (BYOK)</a:t>
            </a:r>
            <a:r>
              <a:rPr lang="en-US" dirty="0"/>
              <a:t>: Advanced encryption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for handling concurrent workloads.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Businesses with strict compliance, disaster recovery needs, and high concurrency.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3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Critical (formerly Enterprise for Sensitive Data)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with strict regulatory and compliance requirements (e.g., finance, healthcare, government).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Enterprise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HIPAA, PCI DSS, SOC2 Type II Compliance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 with </a:t>
            </a:r>
            <a:r>
              <a:rPr lang="en-US" b="1" dirty="0"/>
              <a:t>Tri-Secret Secure</a:t>
            </a:r>
            <a:r>
              <a:rPr lang="en-US" dirty="0"/>
              <a:t> (customer-managed keys + Snowflake keys).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Stronger data governance and auditing.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Highly regulated industries needing top-tier security.</a:t>
            </a:r>
          </a:p>
        </p:txBody>
      </p:sp>
    </p:spTree>
    <p:extLst>
      <p:ext uri="{BB962C8B-B14F-4D97-AF65-F5344CB8AC3E}">
        <p14:creationId xmlns:p14="http://schemas.microsoft.com/office/powerpoint/2010/main" val="254117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Virtual Private Snowflake (VPS) / Virtual Private Snowflake for Customer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Target Audience:</a:t>
            </a:r>
            <a:r>
              <a:rPr lang="en-US" dirty="0"/>
              <a:t> Enterprises needing dedicated infrastructure.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Single-tenant deployment.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Isolated compute and storage for extreme security and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Custom network and security configurations.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Large organizations with specific compliance or isolation needs.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80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FDDFC6-242F-AE70-8AD3-548E82CA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124194"/>
              </p:ext>
            </p:extLst>
          </p:nvPr>
        </p:nvGraphicFramePr>
        <p:xfrm>
          <a:off x="720266" y="880220"/>
          <a:ext cx="9404125" cy="3703092"/>
        </p:xfrm>
        <a:graphic>
          <a:graphicData uri="http://schemas.openxmlformats.org/drawingml/2006/table">
            <a:tbl>
              <a:tblPr/>
              <a:tblGrid>
                <a:gridCol w="1880825">
                  <a:extLst>
                    <a:ext uri="{9D8B030D-6E8A-4147-A177-3AD203B41FA5}">
                      <a16:colId xmlns:a16="http://schemas.microsoft.com/office/drawing/2014/main" val="2531672965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190240342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58133376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3481172884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533464387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Standard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Enterprise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Business Critical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VPS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4133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Time Travel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 day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1513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Multi-cluster Warehouses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Limited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12309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Replication &amp; Failover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3162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Customer-Managed Keys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 (Tri-Secret)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18501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Compliance (HIPAA, PCI DSS)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Partial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34043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Dedicated Infrastructure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Optional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8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72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43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Virtual Warehouse Sizes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 sizes are </a:t>
            </a:r>
            <a:r>
              <a:rPr lang="en-US" b="1" dirty="0"/>
              <a:t>scalable and represented in T-shirt sizes</a:t>
            </a:r>
            <a:r>
              <a:rPr lang="en-US" dirty="0"/>
              <a:t>. Each increase in size roughly </a:t>
            </a:r>
            <a:r>
              <a:rPr lang="en-US" b="1" dirty="0"/>
              <a:t>doubles the compute resources</a:t>
            </a:r>
            <a:r>
              <a:rPr lang="en-US" dirty="0"/>
              <a:t> (CPU, memory) and the query processing power.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56067D-F5AE-C6CD-5840-91BB51A65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303584"/>
              </p:ext>
            </p:extLst>
          </p:nvPr>
        </p:nvGraphicFramePr>
        <p:xfrm>
          <a:off x="722375" y="1645920"/>
          <a:ext cx="10267072" cy="3944116"/>
        </p:xfrm>
        <a:graphic>
          <a:graphicData uri="http://schemas.openxmlformats.org/drawingml/2006/table">
            <a:tbl>
              <a:tblPr/>
              <a:tblGrid>
                <a:gridCol w="2640244">
                  <a:extLst>
                    <a:ext uri="{9D8B030D-6E8A-4147-A177-3AD203B41FA5}">
                      <a16:colId xmlns:a16="http://schemas.microsoft.com/office/drawing/2014/main" val="544628507"/>
                    </a:ext>
                  </a:extLst>
                </a:gridCol>
                <a:gridCol w="2442525">
                  <a:extLst>
                    <a:ext uri="{9D8B030D-6E8A-4147-A177-3AD203B41FA5}">
                      <a16:colId xmlns:a16="http://schemas.microsoft.com/office/drawing/2014/main" val="862799594"/>
                    </a:ext>
                  </a:extLst>
                </a:gridCol>
                <a:gridCol w="5184303">
                  <a:extLst>
                    <a:ext uri="{9D8B030D-6E8A-4147-A177-3AD203B41FA5}">
                      <a16:colId xmlns:a16="http://schemas.microsoft.com/office/drawing/2014/main" val="185991972"/>
                    </a:ext>
                  </a:extLst>
                </a:gridCol>
              </a:tblGrid>
              <a:tr h="400128">
                <a:tc>
                  <a:txBody>
                    <a:bodyPr/>
                    <a:lstStyle/>
                    <a:p>
                      <a:r>
                        <a:rPr lang="en-IN" sz="1600"/>
                        <a:t>Warehouse Size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# of Server Clusters (Nodes)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 Case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090887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X-Small (XS)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workloads, dev/test, lightweight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15428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Small (S)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Light workloads, small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297849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Medium (M)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 workloads, ETL, dashboards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301113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Large (L)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 concurrency, complex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532776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X-Large (XL)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Heavy ETL, multiple dashboards,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43045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2X-Large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32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large workloads, enterprise-level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23370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3X-Large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64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Massive analytics,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94636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4X-Large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128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Extreme workloads, peak demand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895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9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50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Scaling and Concurrency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warehouses support </a:t>
            </a:r>
            <a:r>
              <a:rPr lang="en-US" b="1" dirty="0"/>
              <a:t>scaling</a:t>
            </a:r>
            <a:r>
              <a:rPr lang="en-US" dirty="0"/>
              <a:t> in two ways: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Vertically (Resize)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</a:t>
            </a:r>
            <a:r>
              <a:rPr lang="en-US" b="1" dirty="0"/>
              <a:t>increase/decrease the warehouse size</a:t>
            </a:r>
            <a:r>
              <a:rPr lang="en-US" dirty="0"/>
              <a:t> on-the-fly without downtime.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XS → M → 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Impact: Increases query processing speed and memory available.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Horizontally (Multi-Cluster Warehouses)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auto-scaling for concurrent workloads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define </a:t>
            </a:r>
            <a:r>
              <a:rPr lang="en-US" b="1" dirty="0"/>
              <a:t>min and max clusters</a:t>
            </a:r>
            <a:r>
              <a:rPr lang="en-US" dirty="0"/>
              <a:t>, e.g., 1–5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automatically spins up clusters during </a:t>
            </a:r>
            <a:r>
              <a:rPr lang="en-US" b="1" dirty="0"/>
              <a:t>high concurrency</a:t>
            </a:r>
            <a:r>
              <a:rPr lang="en-US" dirty="0"/>
              <a:t> and shuts them down when idle.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58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allow Snowflake to automatically scale compute resources horizontally to handle high concurrency.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ensures consistent query performance, even when multiple users or processes run queries simultaneously..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 Scaling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scale </a:t>
            </a:r>
            <a:r>
              <a:rPr lang="en-US" b="1" dirty="0"/>
              <a:t>out</a:t>
            </a:r>
            <a:r>
              <a:rPr lang="en-US" dirty="0"/>
              <a:t>, i.e., add more compute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cluster is a </a:t>
            </a:r>
            <a:r>
              <a:rPr lang="en-US" b="1" dirty="0"/>
              <a:t>full copy of the warehouse</a:t>
            </a:r>
            <a:r>
              <a:rPr lang="en-US" dirty="0"/>
              <a:t>, sharing data but processing separate queries.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Helps handle </a:t>
            </a:r>
            <a:r>
              <a:rPr lang="en-US" b="1" dirty="0"/>
              <a:t>concurrent queries</a:t>
            </a:r>
            <a:r>
              <a:rPr lang="en-US" dirty="0"/>
              <a:t> without slowing down performance.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How Multi-Cluster Warehouses Work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sends the query to the </a:t>
            </a:r>
            <a:r>
              <a:rPr lang="en-US" b="1" dirty="0"/>
              <a:t>current cluster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active cluster is overloaded, Snowflake </a:t>
            </a:r>
            <a:r>
              <a:rPr lang="en-US" b="1" dirty="0"/>
              <a:t>spins up additional clusters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that are not used are automatically </a:t>
            </a:r>
            <a:r>
              <a:rPr lang="en-US" b="1" dirty="0"/>
              <a:t>suspended</a:t>
            </a:r>
            <a:r>
              <a:rPr lang="en-US" dirty="0"/>
              <a:t> to save cost.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Queries run </a:t>
            </a:r>
            <a:r>
              <a:rPr lang="en-US" b="1" dirty="0"/>
              <a:t>without queuing</a:t>
            </a:r>
            <a:r>
              <a:rPr lang="en-US" dirty="0"/>
              <a:t>, improving performance for concurrent users.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9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4E1C8B-B8D1-595D-1549-4110AB044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0769"/>
              </p:ext>
            </p:extLst>
          </p:nvPr>
        </p:nvGraphicFramePr>
        <p:xfrm>
          <a:off x="695288" y="711105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69575677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77883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930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Min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Minimum number of clusters to keep 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465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Max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Maximum number of clusters to scale up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78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Scaling Policy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How Snowflake decides to start/stop 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0472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Warehouse 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Size of each cluster (XS, S, M, L, XL,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66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51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Scaling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 supports two </a:t>
            </a:r>
            <a:r>
              <a:rPr lang="en-US" b="1" dirty="0"/>
              <a:t>auto-scaling policies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Standard Policy (Default)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when load increases.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down</a:t>
            </a:r>
            <a:r>
              <a:rPr lang="en-US" dirty="0"/>
              <a:t> after some idle 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Min 1 cluster, Max 3 clusters.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concurrency exceeds capacity → 2nd cluster starts.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suspended when idle.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Economy Policy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only when needed.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Suspends extra clusters </a:t>
            </a:r>
            <a:r>
              <a:rPr lang="en-US" b="1" dirty="0"/>
              <a:t>more aggressively</a:t>
            </a:r>
            <a:r>
              <a:rPr lang="en-US" dirty="0"/>
              <a:t> to save cost.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cost-sensitive workloads with </a:t>
            </a:r>
            <a:r>
              <a:rPr lang="en-US" b="1" dirty="0"/>
              <a:t>predictable usage patterns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6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Best Practices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Choose </a:t>
            </a:r>
            <a:r>
              <a:rPr lang="en-US" b="1" dirty="0"/>
              <a:t>appropriate warehouse size</a:t>
            </a:r>
            <a:r>
              <a:rPr lang="en-US" dirty="0"/>
              <a:t> for base workload.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  <a:r>
              <a:rPr lang="en-US" b="1" dirty="0"/>
              <a:t>Min and Max clusters</a:t>
            </a:r>
            <a:r>
              <a:rPr lang="en-US" dirty="0"/>
              <a:t> based on expected concurrency.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Standard Policy</a:t>
            </a:r>
            <a:r>
              <a:rPr lang="en-US" dirty="0"/>
              <a:t> for consistent performance, </a:t>
            </a:r>
            <a:r>
              <a:rPr lang="en-US" b="1" dirty="0"/>
              <a:t>Economy Policy</a:t>
            </a:r>
            <a:r>
              <a:rPr lang="en-US" dirty="0"/>
              <a:t> to save costs.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Monitor warehouse </a:t>
            </a:r>
            <a:r>
              <a:rPr lang="en-US" b="1" dirty="0"/>
              <a:t>credit usage</a:t>
            </a:r>
            <a:r>
              <a:rPr lang="en-US" dirty="0"/>
              <a:t> to optimize cost vs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Avoid extremely large clusters unless absolutely necessary; scale horizontally instead.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Cost Implications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Charges = Number of clusters × size × active time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Idle clusters do </a:t>
            </a:r>
            <a:r>
              <a:rPr lang="en-US" b="1" dirty="0"/>
              <a:t>not consume credits</a:t>
            </a:r>
            <a:r>
              <a:rPr lang="en-US" dirty="0"/>
              <a:t> if suspended.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Horizontal scaling can increase costs but prevents </a:t>
            </a:r>
            <a:r>
              <a:rPr lang="en-US" b="1" dirty="0"/>
              <a:t>query queuing</a:t>
            </a:r>
            <a:r>
              <a:rPr lang="en-US" dirty="0"/>
              <a:t>, which is critical for BI dashboards and high SLA workloads.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6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In Snowflake, </a:t>
            </a:r>
            <a:r>
              <a:rPr lang="en-IN" b="1" dirty="0"/>
              <a:t>data storage is automatically managed</a:t>
            </a:r>
            <a:r>
              <a:rPr lang="en-IN" dirty="0"/>
              <a:t> using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micro-partition</a:t>
            </a:r>
            <a:r>
              <a:rPr lang="en-IN" dirty="0"/>
              <a:t> is a </a:t>
            </a:r>
            <a:r>
              <a:rPr lang="en-IN" b="1" dirty="0"/>
              <a:t>contiguous unit of storage</a:t>
            </a:r>
            <a:r>
              <a:rPr lang="en-IN" dirty="0"/>
              <a:t> that holds </a:t>
            </a:r>
            <a:r>
              <a:rPr lang="en-IN" b="1" dirty="0"/>
              <a:t>columns of table data in a compressed, immutable format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automatically organizes, compresses, and manages these micro-partitions behind the scenes.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fundamental to </a:t>
            </a:r>
            <a:r>
              <a:rPr lang="en-IN" b="1" dirty="0"/>
              <a:t>Snowflake’s performance, query optimization, and storage efficiency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09C73E-A27C-C974-1C34-DC3F05FD9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51266"/>
              </p:ext>
            </p:extLst>
          </p:nvPr>
        </p:nvGraphicFramePr>
        <p:xfrm>
          <a:off x="792480" y="2942241"/>
          <a:ext cx="10607040" cy="2928207"/>
        </p:xfrm>
        <a:graphic>
          <a:graphicData uri="http://schemas.openxmlformats.org/drawingml/2006/table">
            <a:tbl>
              <a:tblPr/>
              <a:tblGrid>
                <a:gridCol w="3130457">
                  <a:extLst>
                    <a:ext uri="{9D8B030D-6E8A-4147-A177-3AD203B41FA5}">
                      <a16:colId xmlns:a16="http://schemas.microsoft.com/office/drawing/2014/main" val="2590333766"/>
                    </a:ext>
                  </a:extLst>
                </a:gridCol>
                <a:gridCol w="7476583">
                  <a:extLst>
                    <a:ext uri="{9D8B030D-6E8A-4147-A177-3AD203B41FA5}">
                      <a16:colId xmlns:a16="http://schemas.microsoft.com/office/drawing/2014/main" val="6243643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9043"/>
                  </a:ext>
                </a:extLst>
              </a:tr>
              <a:tr h="431895">
                <a:tc>
                  <a:txBody>
                    <a:bodyPr/>
                    <a:lstStyle/>
                    <a:p>
                      <a:r>
                        <a:rPr lang="en-IN" sz="1800" b="1"/>
                        <a:t>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Typically 16 MB to 64 MB uncompressed per micro-partition.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0246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lang="en-IN" sz="1800" b="1" dirty="0"/>
                        <a:t>Columnar Storage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is stored </a:t>
                      </a:r>
                      <a:r>
                        <a:rPr lang="en-US" sz="1800" b="1"/>
                        <a:t>column-wise</a:t>
                      </a:r>
                      <a:r>
                        <a:rPr lang="en-US" sz="1800"/>
                        <a:t>, improving compression and query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5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Immutable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Once written, micro-partitions </a:t>
                      </a:r>
                      <a:r>
                        <a:rPr lang="en-US" sz="1800" b="1"/>
                        <a:t>cannot be changed</a:t>
                      </a:r>
                      <a:r>
                        <a:rPr lang="en-US" sz="1800"/>
                        <a:t>; new data creates new partitions.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58973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IN" sz="1800" b="1" dirty="0"/>
                        <a:t>Automatically Managed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handles creation, metadata tracking, and pruning.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915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Metadata Stored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Includes min/max values for each column, row count, and clustering info.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56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How Micro-Partitions Work</a:t>
            </a:r>
          </a:p>
          <a:p>
            <a:pPr>
              <a:spcBef>
                <a:spcPts val="600"/>
              </a:spcBef>
            </a:pPr>
            <a:r>
              <a:rPr lang="en-IN" b="1" dirty="0"/>
              <a:t>Data Loading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When data is loaded into a table, Snowflake splits it into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Columnar Compression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Columns are stored separately for better compression and faster queries.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Metadata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Snowflake maintains metadata for each micro-partition: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Min/Max values of columns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Row count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Deleted/active rows</a:t>
            </a:r>
          </a:p>
          <a:p>
            <a:pPr>
              <a:spcBef>
                <a:spcPts val="600"/>
              </a:spcBef>
            </a:pPr>
            <a:r>
              <a:rPr lang="en-IN" b="1" dirty="0"/>
              <a:t>Query Execution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uses </a:t>
            </a:r>
            <a:r>
              <a:rPr lang="en-IN" b="1" dirty="0"/>
              <a:t>partition pruning</a:t>
            </a:r>
            <a:r>
              <a:rPr lang="en-IN" dirty="0"/>
              <a:t> to skip irrelevant micro-partitions, speeding up queries.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Benefits of Micro-Partitions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Performance Optimization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Queries only scan relevant micro-partitions (</a:t>
            </a:r>
            <a:r>
              <a:rPr lang="en-IN" b="1" dirty="0"/>
              <a:t>pruning</a:t>
            </a:r>
            <a:r>
              <a:rPr lang="en-IN" dirty="0"/>
              <a:t>), reducing I/O.</a:t>
            </a:r>
          </a:p>
          <a:p>
            <a:pPr>
              <a:spcBef>
                <a:spcPts val="600"/>
              </a:spcBef>
            </a:pPr>
            <a:r>
              <a:rPr lang="en-IN" b="1" dirty="0"/>
              <a:t>Efficient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Columnar storage + automatic compression reduces storage usage.</a:t>
            </a:r>
          </a:p>
          <a:p>
            <a:pPr>
              <a:spcBef>
                <a:spcPts val="600"/>
              </a:spcBef>
            </a:pPr>
            <a:r>
              <a:rPr lang="en-IN" b="1" dirty="0"/>
              <a:t>Automatic Clustering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created in order of insertion, aiding query performance without manual indexing.</a:t>
            </a:r>
          </a:p>
          <a:p>
            <a:pPr>
              <a:spcBef>
                <a:spcPts val="600"/>
              </a:spcBef>
            </a:pPr>
            <a:r>
              <a:rPr lang="en-IN" b="1" dirty="0"/>
              <a:t>Supports Time Travel &amp; Fail-safe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Versioned micro-partitions enable </a:t>
            </a:r>
            <a:r>
              <a:rPr lang="en-IN" b="1" dirty="0"/>
              <a:t>Time Travel</a:t>
            </a:r>
            <a:r>
              <a:rPr lang="en-IN" dirty="0"/>
              <a:t> and </a:t>
            </a:r>
            <a:r>
              <a:rPr lang="en-IN" b="1" dirty="0"/>
              <a:t>data recovery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8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Partition Pruning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 pruning is the process where Snowflake scans only relevant micro-partitions based on query filters.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Table: SALES with 1 million rows.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Query: SELECT * FROM SALES WHERE YEAR=2024;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Snowflake checks metadata of micro-partitions and scans only those containing 2024.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Result: Faster query execution and reduced compute usage.</a:t>
            </a:r>
          </a:p>
        </p:txBody>
      </p:sp>
    </p:spTree>
    <p:extLst>
      <p:ext uri="{BB962C8B-B14F-4D97-AF65-F5344CB8AC3E}">
        <p14:creationId xmlns:p14="http://schemas.microsoft.com/office/powerpoint/2010/main" val="292851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What is a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51016"/>
              </p:ext>
            </p:extLst>
          </p:nvPr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35955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61119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953175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offers multiple </a:t>
            </a:r>
            <a:r>
              <a:rPr lang="en-US" b="1" dirty="0"/>
              <a:t>table types</a:t>
            </a:r>
            <a:r>
              <a:rPr lang="en-US" dirty="0"/>
              <a:t> to store and manage data efficiently based on how long the data should persist and how it will be used.</a:t>
            </a:r>
          </a:p>
          <a:p>
            <a:pPr>
              <a:spcBef>
                <a:spcPts val="600"/>
              </a:spcBef>
            </a:pPr>
            <a:r>
              <a:rPr lang="en-US" dirty="0"/>
              <a:t>Each table type determines: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Where the data is stored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How long it is retained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Whether it supports Time Travel and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cost of storage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4E1F24-63F3-25F7-699B-76C020680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48171"/>
              </p:ext>
            </p:extLst>
          </p:nvPr>
        </p:nvGraphicFramePr>
        <p:xfrm>
          <a:off x="339852" y="3429000"/>
          <a:ext cx="11512296" cy="2651760"/>
        </p:xfrm>
        <a:graphic>
          <a:graphicData uri="http://schemas.openxmlformats.org/drawingml/2006/table">
            <a:tbl>
              <a:tblPr/>
              <a:tblGrid>
                <a:gridCol w="2172851">
                  <a:extLst>
                    <a:ext uri="{9D8B030D-6E8A-4147-A177-3AD203B41FA5}">
                      <a16:colId xmlns:a16="http://schemas.microsoft.com/office/drawing/2014/main" val="475696852"/>
                    </a:ext>
                  </a:extLst>
                </a:gridCol>
                <a:gridCol w="3613777">
                  <a:extLst>
                    <a:ext uri="{9D8B030D-6E8A-4147-A177-3AD203B41FA5}">
                      <a16:colId xmlns:a16="http://schemas.microsoft.com/office/drawing/2014/main" val="3869688238"/>
                    </a:ext>
                  </a:extLst>
                </a:gridCol>
                <a:gridCol w="2847594">
                  <a:extLst>
                    <a:ext uri="{9D8B030D-6E8A-4147-A177-3AD203B41FA5}">
                      <a16:colId xmlns:a16="http://schemas.microsoft.com/office/drawing/2014/main" val="1223707497"/>
                    </a:ext>
                  </a:extLst>
                </a:gridCol>
                <a:gridCol w="2878074">
                  <a:extLst>
                    <a:ext uri="{9D8B030D-6E8A-4147-A177-3AD203B41FA5}">
                      <a16:colId xmlns:a16="http://schemas.microsoft.com/office/drawing/2014/main" val="322783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Table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Storage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Key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587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Permanent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and business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30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Transient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Staging and ETL intermediate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21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Temporary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Session-level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37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External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 storage (S3 / Azure / GCS)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Outside 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 data in data lakes without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22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759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Permanent Tables</a:t>
            </a:r>
          </a:p>
          <a:p>
            <a:pPr>
              <a:spcBef>
                <a:spcPts val="600"/>
              </a:spcBef>
            </a:pPr>
            <a:r>
              <a:rPr lang="en-US" dirty="0"/>
              <a:t>A </a:t>
            </a:r>
            <a:r>
              <a:rPr lang="en-US" i="1" dirty="0"/>
              <a:t>Permanent Table</a:t>
            </a:r>
            <a:r>
              <a:rPr lang="en-US" dirty="0"/>
              <a:t> is the </a:t>
            </a:r>
            <a:r>
              <a:rPr lang="en-US" b="1" dirty="0"/>
              <a:t>default table type</a:t>
            </a:r>
            <a:r>
              <a:rPr lang="en-US" dirty="0"/>
              <a:t> in Snowflake used for long-term storage of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persists until explicitly dropped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Time Travel (up to 90 days)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Fail-safe (7 days)</a:t>
            </a:r>
            <a:r>
              <a:rPr lang="en-US" dirty="0"/>
              <a:t> for disaster recovery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critical and historical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CREATE OR REPLACE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) DATA_RETENTION_TIME_IN_DAYS = 5;</a:t>
            </a:r>
          </a:p>
          <a:p>
            <a:endParaRPr lang="en-US" b="1" dirty="0"/>
          </a:p>
          <a:p>
            <a:r>
              <a:rPr lang="en-US" b="1" dirty="0"/>
              <a:t>Use Cases: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Business-critical datasets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Analytical and reporting layers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Historical and audit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9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Transient Tables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i="1" dirty="0"/>
              <a:t>Transient Table</a:t>
            </a:r>
            <a:r>
              <a:rPr lang="en-US" dirty="0"/>
              <a:t> stores data persistently like a permanent table but </a:t>
            </a:r>
            <a:r>
              <a:rPr lang="en-US" b="1" dirty="0"/>
              <a:t>does not have a Fail-safe period</a:t>
            </a:r>
            <a:r>
              <a:rPr lang="en-US" dirty="0"/>
              <a:t>, reducing cost and recovery time.</a:t>
            </a:r>
          </a:p>
          <a:p>
            <a:pPr lvl="1"/>
            <a:r>
              <a:rPr lang="en-US" b="1" dirty="0"/>
              <a:t>Features: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No Fail-safe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Time Travel up to 1 day</a:t>
            </a:r>
            <a:r>
              <a:rPr lang="en-US" dirty="0"/>
              <a:t> (default)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Less storage cost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Persists beyond a user session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CEATE OR REPLACE TRANSIENT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DATE);</a:t>
            </a:r>
          </a:p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3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DA892-9F5C-CF04-FF80-5008B2C81F37}"/>
              </a:ext>
            </a:extLst>
          </p:cNvPr>
          <p:cNvSpPr txBox="1"/>
          <p:nvPr/>
        </p:nvSpPr>
        <p:spPr>
          <a:xfrm>
            <a:off x="151738" y="723126"/>
            <a:ext cx="1057417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Temporary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 Temporary Table exists only within a user session and is automatically dropped when the session ends.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Session-specific: only visible to the creator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 Time Travel and no Fail-safe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Ideal for intermediate transformations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Lower storage cost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TEMPORARY TABLE </a:t>
            </a:r>
            <a:r>
              <a:rPr lang="en-IN" dirty="0" err="1"/>
              <a:t>session_data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user_id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page_views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login_date</a:t>
            </a:r>
            <a:r>
              <a:rPr lang="en-IN" dirty="0"/>
              <a:t> DATE</a:t>
            </a:r>
          </a:p>
          <a:p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7237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EFFE1-758C-BBA8-1DAF-03EF3CC690EF}"/>
              </a:ext>
            </a:extLst>
          </p:cNvPr>
          <p:cNvSpPr txBox="1"/>
          <p:nvPr/>
        </p:nvSpPr>
        <p:spPr>
          <a:xfrm>
            <a:off x="242316" y="828765"/>
            <a:ext cx="115900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External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An External Table references data stored outside Snowflake, such as AWS S3, Azure Blob Storage, or Google Cloud Storage.</a:t>
            </a:r>
          </a:p>
          <a:p>
            <a:r>
              <a:rPr lang="en-IN" dirty="0"/>
              <a:t>Snowflake queries the data without physically loading it, using metadata and file formats.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Data resides in external cloud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use External Stages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Read-only (cannot INSERT or UPDATE)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join with internal tables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OR REPLACE EXTERNAL TABLE </a:t>
            </a:r>
            <a:r>
              <a:rPr lang="en-IN" dirty="0" err="1"/>
              <a:t>ext_orders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 AS (VALUE:c1::INT),</a:t>
            </a:r>
          </a:p>
          <a:p>
            <a:r>
              <a:rPr lang="en-IN" dirty="0"/>
              <a:t>    </a:t>
            </a:r>
            <a:r>
              <a:rPr lang="en-IN" dirty="0" err="1"/>
              <a:t>customer_name</a:t>
            </a:r>
            <a:r>
              <a:rPr lang="en-IN" dirty="0"/>
              <a:t> STRING AS (VALUE:c2::STRING),</a:t>
            </a:r>
          </a:p>
          <a:p>
            <a:r>
              <a:rPr lang="en-IN" dirty="0"/>
              <a:t>    amount NUMBER AS (VALUE:c3::NUMBER)</a:t>
            </a:r>
          </a:p>
          <a:p>
            <a:r>
              <a:rPr lang="en-IN" dirty="0"/>
              <a:t>) WITH LOCATION = @my_s3_stage/orders/</a:t>
            </a:r>
          </a:p>
          <a:p>
            <a:r>
              <a:rPr lang="en-IN" dirty="0"/>
              <a:t>FILE_FORMAT = (TYPE = CSV SKIP_HEADER = 1);</a:t>
            </a:r>
          </a:p>
        </p:txBody>
      </p:sp>
    </p:spTree>
    <p:extLst>
      <p:ext uri="{BB962C8B-B14F-4D97-AF65-F5344CB8AC3E}">
        <p14:creationId xmlns:p14="http://schemas.microsoft.com/office/powerpoint/2010/main" val="3787829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736096-6000-C57D-3406-0AD539B76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48156"/>
              </p:ext>
            </p:extLst>
          </p:nvPr>
        </p:nvGraphicFramePr>
        <p:xfrm>
          <a:off x="402336" y="1086009"/>
          <a:ext cx="10131425" cy="347472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38933966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37182615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97701388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082602564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159706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Permanent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Transient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Temporary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External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8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Permanent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5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Fail-safe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Yes (7 days)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45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Time Travel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 to 90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Up to 1 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4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Storage 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142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Visibility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0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Cost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165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Staging/ETL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lake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324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7E096-3CB3-B912-A708-20A7ABC88EDF}"/>
              </a:ext>
            </a:extLst>
          </p:cNvPr>
          <p:cNvSpPr txBox="1"/>
          <p:nvPr/>
        </p:nvSpPr>
        <p:spPr>
          <a:xfrm>
            <a:off x="128016" y="896111"/>
            <a:ext cx="112654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Materialized View (MV) in Snowflake is a precomputed, stored result set of a query.</a:t>
            </a:r>
          </a:p>
          <a:p>
            <a:r>
              <a:rPr lang="en-IN" dirty="0"/>
              <a:t>Unlike a regular view (which runs the query each time), an MV stores the data physically and automatically refreshes when the base table changes.</a:t>
            </a:r>
          </a:p>
          <a:p>
            <a:endParaRPr lang="en-IN" dirty="0"/>
          </a:p>
          <a:p>
            <a:r>
              <a:rPr lang="en-IN" dirty="0"/>
              <a:t>🔹 Key Features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Precomputed data → Faster query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Automatic refresh → Reflects source table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Storage cost applies → Since results are stored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Used for → Dashboards, aggregations, reporting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Limitations → Can’t reference other MVs or use non-deterministic functions</a:t>
            </a:r>
          </a:p>
          <a:p>
            <a:endParaRPr lang="en-IN" dirty="0"/>
          </a:p>
          <a:p>
            <a:r>
              <a:rPr lang="en-IN" dirty="0"/>
              <a:t>CREATE OR REPLACE MATERIALIZED VIEW </a:t>
            </a:r>
            <a:r>
              <a:rPr lang="en-IN" dirty="0" err="1"/>
              <a:t>mv_sales_summary</a:t>
            </a:r>
            <a:r>
              <a:rPr lang="en-IN" dirty="0"/>
              <a:t> AS</a:t>
            </a:r>
          </a:p>
          <a:p>
            <a:r>
              <a:rPr lang="en-IN" dirty="0"/>
              <a:t>SELECT </a:t>
            </a:r>
          </a:p>
          <a:p>
            <a:r>
              <a:rPr lang="en-IN" dirty="0"/>
              <a:t>    region,</a:t>
            </a:r>
          </a:p>
          <a:p>
            <a:r>
              <a:rPr lang="en-IN" dirty="0"/>
              <a:t>    </a:t>
            </a:r>
            <a:r>
              <a:rPr lang="en-IN" dirty="0" err="1"/>
              <a:t>product_category</a:t>
            </a:r>
            <a:r>
              <a:rPr lang="en-IN" dirty="0"/>
              <a:t>,</a:t>
            </a:r>
          </a:p>
          <a:p>
            <a:r>
              <a:rPr lang="en-IN" dirty="0"/>
              <a:t>    SUM(</a:t>
            </a:r>
            <a:r>
              <a:rPr lang="en-IN" dirty="0" err="1"/>
              <a:t>sales_amount</a:t>
            </a:r>
            <a:r>
              <a:rPr lang="en-IN" dirty="0"/>
              <a:t>) AS </a:t>
            </a:r>
            <a:r>
              <a:rPr lang="en-IN" dirty="0" err="1"/>
              <a:t>total_sales</a:t>
            </a:r>
            <a:r>
              <a:rPr lang="en-IN" dirty="0"/>
              <a:t>,</a:t>
            </a:r>
          </a:p>
          <a:p>
            <a:r>
              <a:rPr lang="en-IN" dirty="0"/>
              <a:t>    COUNT(*) AS </a:t>
            </a:r>
            <a:r>
              <a:rPr lang="en-IN" dirty="0" err="1"/>
              <a:t>total_orders</a:t>
            </a:r>
            <a:endParaRPr lang="en-IN" dirty="0"/>
          </a:p>
          <a:p>
            <a:r>
              <a:rPr lang="en-IN" dirty="0"/>
              <a:t>FROM sales</a:t>
            </a:r>
          </a:p>
          <a:p>
            <a:r>
              <a:rPr lang="en-IN" dirty="0"/>
              <a:t>GROUP BY region, </a:t>
            </a:r>
            <a:r>
              <a:rPr lang="en-IN" dirty="0" err="1"/>
              <a:t>product_category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2125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DFB3AB-05D8-6F02-FC2B-373E9DF7B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67526"/>
              </p:ext>
            </p:extLst>
          </p:nvPr>
        </p:nvGraphicFramePr>
        <p:xfrm>
          <a:off x="246888" y="1325785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29311599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9046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9012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Show MVs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SHOW MATERIALIZED VIEWS;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424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Drop MV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DROP MATERIALIZED VIEW mv_sales_summary;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8185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dirty="0"/>
                        <a:t>Refresh manually (rarely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ALTER MATERIALIZED VIEW </a:t>
                      </a:r>
                      <a:r>
                        <a:rPr lang="en-US" sz="1800" dirty="0" err="1"/>
                        <a:t>mv_sales_summary</a:t>
                      </a:r>
                      <a:r>
                        <a:rPr lang="en-US" sz="1800" dirty="0"/>
                        <a:t> REFRESH;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49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03E4E6-4658-D392-86F4-B2347BD75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44652"/>
              </p:ext>
            </p:extLst>
          </p:nvPr>
        </p:nvGraphicFramePr>
        <p:xfrm>
          <a:off x="246888" y="4072747"/>
          <a:ext cx="10131426" cy="182880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3462698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06970518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043489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Regular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Materialized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6377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Logical (no storage)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Physical (stored)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083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Executes query every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Precomputed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816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2731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Only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Compute +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34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Manage Materialized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02E85-9B19-C4A1-DB3B-C970964F1235}"/>
              </a:ext>
            </a:extLst>
          </p:cNvPr>
          <p:cNvSpPr txBox="1"/>
          <p:nvPr/>
        </p:nvSpPr>
        <p:spPr>
          <a:xfrm>
            <a:off x="246888" y="3610190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Benefits vs Regular Views</a:t>
            </a:r>
          </a:p>
        </p:txBody>
      </p:sp>
    </p:spTree>
    <p:extLst>
      <p:ext uri="{BB962C8B-B14F-4D97-AF65-F5344CB8AC3E}">
        <p14:creationId xmlns:p14="http://schemas.microsoft.com/office/powerpoint/2010/main" val="17984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84810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SELECT </a:t>
            </a:r>
          </a:p>
          <a:p>
            <a:r>
              <a:rPr lang="en-IN" dirty="0"/>
              <a:t>    DATABASE_NAME,</a:t>
            </a:r>
          </a:p>
          <a:p>
            <a:r>
              <a:rPr lang="en-IN" dirty="0"/>
              <a:t>    SCHEMA_NAME,</a:t>
            </a:r>
          </a:p>
          <a:p>
            <a:r>
              <a:rPr lang="en-IN" dirty="0"/>
              <a:t>    MATERIALIZED_VIEW_NAME,</a:t>
            </a:r>
          </a:p>
          <a:p>
            <a:r>
              <a:rPr lang="en-IN" dirty="0"/>
              <a:t>    START_TIME,</a:t>
            </a:r>
          </a:p>
          <a:p>
            <a:r>
              <a:rPr lang="en-IN" dirty="0"/>
              <a:t>    END_TIME,</a:t>
            </a:r>
          </a:p>
          <a:p>
            <a:r>
              <a:rPr lang="en-IN" dirty="0"/>
              <a:t>    CREDITS_USED,</a:t>
            </a:r>
          </a:p>
          <a:p>
            <a:r>
              <a:rPr lang="en-IN" dirty="0"/>
              <a:t>    ROWS_INSERTED,</a:t>
            </a:r>
          </a:p>
          <a:p>
            <a:r>
              <a:rPr lang="en-IN" dirty="0"/>
              <a:t>    ROWS_DELETED,</a:t>
            </a:r>
          </a:p>
          <a:p>
            <a:r>
              <a:rPr lang="en-IN" dirty="0"/>
              <a:t>    STATUS</a:t>
            </a:r>
          </a:p>
          <a:p>
            <a:r>
              <a:rPr lang="en-IN" dirty="0"/>
              <a:t>FROM SNOWFLAKE.ACCOUNT_USAGE.MATERIALIZED_VIEW_REFRESH_HISTORY</a:t>
            </a:r>
          </a:p>
          <a:p>
            <a:r>
              <a:rPr lang="en-IN" dirty="0"/>
              <a:t>WHERE MATERIALIZED_VIEW_NAME = 'MV_SALES_SUMMARY'</a:t>
            </a:r>
          </a:p>
          <a:p>
            <a:r>
              <a:rPr lang="en-IN" dirty="0"/>
              <a:t>ORDER BY START_TIME 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1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Snowpark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Snowpark</a:t>
            </a:r>
            <a:r>
              <a:rPr lang="en-US" dirty="0"/>
              <a:t> is a developer framework that allows data engineers, data scientists, and developers to </a:t>
            </a:r>
            <a:r>
              <a:rPr lang="en-US" b="1" dirty="0"/>
              <a:t>write code in Python, Java, or Scala</a:t>
            </a:r>
            <a:r>
              <a:rPr lang="en-US" dirty="0"/>
              <a:t> and execute it </a:t>
            </a:r>
            <a:r>
              <a:rPr lang="en-US" b="1" dirty="0"/>
              <a:t>directly inside Snowflake’s compute engine</a:t>
            </a:r>
            <a:r>
              <a:rPr lang="en-US" dirty="0"/>
              <a:t>, without moving data out of Snowflake.</a:t>
            </a:r>
          </a:p>
          <a:p>
            <a:endParaRPr lang="en-US" dirty="0"/>
          </a:p>
          <a:p>
            <a:r>
              <a:rPr lang="en-US" b="1" dirty="0"/>
              <a:t>Key Features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1D02BB-1411-7F64-2180-15B1432C6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47614"/>
              </p:ext>
            </p:extLst>
          </p:nvPr>
        </p:nvGraphicFramePr>
        <p:xfrm>
          <a:off x="281352" y="2430912"/>
          <a:ext cx="10590864" cy="3676377"/>
        </p:xfrm>
        <a:graphic>
          <a:graphicData uri="http://schemas.openxmlformats.org/drawingml/2006/table">
            <a:tbl>
              <a:tblPr/>
              <a:tblGrid>
                <a:gridCol w="3559128">
                  <a:extLst>
                    <a:ext uri="{9D8B030D-6E8A-4147-A177-3AD203B41FA5}">
                      <a16:colId xmlns:a16="http://schemas.microsoft.com/office/drawing/2014/main" val="4091234881"/>
                    </a:ext>
                  </a:extLst>
                </a:gridCol>
                <a:gridCol w="7031736">
                  <a:extLst>
                    <a:ext uri="{9D8B030D-6E8A-4147-A177-3AD203B41FA5}">
                      <a16:colId xmlns:a16="http://schemas.microsoft.com/office/drawing/2014/main" val="1244998932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0405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🧩 </a:t>
                      </a:r>
                      <a:r>
                        <a:rPr lang="en-IN" sz="1700" b="1"/>
                        <a:t>Multi-language support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Write in </a:t>
                      </a:r>
                      <a:r>
                        <a:rPr lang="en-US" sz="1700" b="1"/>
                        <a:t>Python, Scala, Java</a:t>
                      </a:r>
                      <a:r>
                        <a:rPr lang="en-US" sz="1700"/>
                        <a:t> (with Snowpark APIs).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5429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💾 </a:t>
                      </a:r>
                      <a:r>
                        <a:rPr lang="en-IN" sz="1700" b="1"/>
                        <a:t>In-database compute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All transformations and ML operations execute inside Snowflake (no data egress).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53082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 dirty="0"/>
                        <a:t>🧠 </a:t>
                      </a:r>
                      <a:r>
                        <a:rPr lang="en-IN" sz="1700" b="1" dirty="0"/>
                        <a:t>Unified </a:t>
                      </a:r>
                      <a:r>
                        <a:rPr lang="en-IN" sz="1700" b="1" dirty="0" err="1"/>
                        <a:t>DataFrame</a:t>
                      </a:r>
                      <a:r>
                        <a:rPr lang="en-IN" sz="1700" b="1" dirty="0"/>
                        <a:t> API</a:t>
                      </a:r>
                      <a:endParaRPr lang="en-IN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Similar to pandas or Spark — supports select, filter, group_by, etc.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6415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⚡ </a:t>
                      </a:r>
                      <a:r>
                        <a:rPr lang="en-IN" sz="1700" b="1"/>
                        <a:t>Serverless execution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Runs inside Snowflake’s engine — secure, scalable, no infrastructure management.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2575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US" sz="1700" dirty="0"/>
                        <a:t>🔍 </a:t>
                      </a:r>
                      <a:r>
                        <a:rPr lang="en-US" sz="1700" b="1" dirty="0"/>
                        <a:t>UDFs and Stored Procedures</a:t>
                      </a:r>
                      <a:endParaRPr lang="en-US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Register and execute Python/Java/Scala functions natively in Snowflake.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69910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🔄 </a:t>
                      </a:r>
                      <a:r>
                        <a:rPr lang="en-IN" sz="1700" b="1"/>
                        <a:t>Seamless integration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Works with </a:t>
                      </a:r>
                      <a:r>
                        <a:rPr lang="en-US" sz="1700" b="1" dirty="0"/>
                        <a:t>Snowflake Notebooks, Tasks, Streams, and Pipelines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4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01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Snowpark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Architecture Overview</a:t>
            </a:r>
          </a:p>
          <a:p>
            <a:pPr>
              <a:spcBef>
                <a:spcPts val="600"/>
              </a:spcBef>
            </a:pPr>
            <a:r>
              <a:rPr lang="en-IN" b="1" dirty="0"/>
              <a:t> Client Code → Snowpark API → Snowflake Engine → Data in Snowflake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Snowpark API</a:t>
            </a:r>
            <a:r>
              <a:rPr lang="en-IN" dirty="0"/>
              <a:t> builds a </a:t>
            </a:r>
            <a:r>
              <a:rPr lang="en-IN" b="1" dirty="0"/>
              <a:t>logical query plan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</a:t>
            </a:r>
            <a:r>
              <a:rPr lang="en-IN" b="1" dirty="0"/>
              <a:t>optimizes and executes</a:t>
            </a:r>
            <a:r>
              <a:rPr lang="en-IN" dirty="0"/>
              <a:t> it internally (same as SQL).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Results are returned as </a:t>
            </a:r>
            <a:r>
              <a:rPr lang="en-IN" b="1" dirty="0"/>
              <a:t>Snowpark </a:t>
            </a:r>
            <a:r>
              <a:rPr lang="en-IN" b="1" dirty="0" err="1"/>
              <a:t>DataFrames</a:t>
            </a:r>
            <a:r>
              <a:rPr lang="en-IN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603098-12AA-7F79-E963-45180786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69099"/>
              </p:ext>
            </p:extLst>
          </p:nvPr>
        </p:nvGraphicFramePr>
        <p:xfrm>
          <a:off x="429768" y="3007745"/>
          <a:ext cx="10131424" cy="23774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53814482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778299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013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🧹 </a:t>
                      </a:r>
                      <a:r>
                        <a:rPr lang="en-IN" sz="1800" b="1"/>
                        <a:t>Data Engineering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ETL/ELT transformations using Python instead of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887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🤖 </a:t>
                      </a:r>
                      <a:r>
                        <a:rPr lang="en-IN" sz="1800" b="1"/>
                        <a:t>Data Science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Feature engineering &amp; ML model training inside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23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🔗 </a:t>
                      </a:r>
                      <a:r>
                        <a:rPr lang="en-IN" sz="1800" b="1"/>
                        <a:t>Application Development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Build data-driven apps without exporting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282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🧾 </a:t>
                      </a:r>
                      <a:r>
                        <a:rPr lang="en-IN" sz="1800" b="1"/>
                        <a:t>UDF/Stored Procedure Logic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Implement complex business logic using Python.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06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39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Time Travel in Snowflake is a powerful data recovery and historical access feature that allows users to query, clone, or restore data from the past.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It helps organizations recover from accidental data modifications or deletions and supports auditing, debugging, and historical analysis.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 Purpose of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access to historical data for a defined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Allows recovery of tables, schemas, and databases that were dropped.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Facilitates point-in-time data analysis and auditing.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Supports cloning objects from a specific historical state.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Reduces data loss risk caused by human error or incorrect processes.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346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Retention Periods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default retention period</a:t>
            </a:r>
            <a:r>
              <a:rPr lang="en-US" dirty="0"/>
              <a:t> is </a:t>
            </a:r>
            <a:r>
              <a:rPr lang="en-US" b="1" dirty="0"/>
              <a:t>1 day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b="1" dirty="0"/>
              <a:t>Enterprise Edition and above</a:t>
            </a:r>
            <a:r>
              <a:rPr lang="en-US" dirty="0"/>
              <a:t>, it can be extended up to </a:t>
            </a:r>
            <a:r>
              <a:rPr lang="en-US" b="1" dirty="0"/>
              <a:t>90 days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retention period applies to both active and dropped objects.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Dropped objects remain recoverable until their retention period expires.</a:t>
            </a:r>
          </a:p>
          <a:p>
            <a:endParaRPr lang="en-US" b="1" dirty="0"/>
          </a:p>
          <a:p>
            <a:r>
              <a:rPr lang="en-US" b="1" dirty="0"/>
              <a:t>Supported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Permanent tables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Transient tables (with limited retention)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Stages (for certain metadata)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329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Operations Enabled by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Query Historical Data</a:t>
            </a:r>
            <a:r>
              <a:rPr lang="en-US" dirty="0"/>
              <a:t> – Access data from a specific past time or version.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Clone Historical Data</a:t>
            </a:r>
            <a:r>
              <a:rPr lang="en-US" dirty="0"/>
              <a:t> – Create a new object from a previous version without copying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err="1"/>
              <a:t>Undrop</a:t>
            </a:r>
            <a:r>
              <a:rPr lang="en-US" b="1" dirty="0"/>
              <a:t> Objects</a:t>
            </a:r>
            <a:r>
              <a:rPr lang="en-US" dirty="0"/>
              <a:t> – Recover dropped tables, schemas, or databases within their retention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Audit and Forensics</a:t>
            </a:r>
            <a:r>
              <a:rPr lang="en-US" dirty="0"/>
              <a:t> – Examine historical data for debugging, compliance, or validation purposes.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Interaction with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the </a:t>
            </a:r>
            <a:r>
              <a:rPr lang="en-US" b="1" dirty="0"/>
              <a:t>Time Travel retention period</a:t>
            </a:r>
            <a:r>
              <a:rPr lang="en-US" dirty="0"/>
              <a:t> expires, data moves into </a:t>
            </a:r>
            <a:r>
              <a:rPr lang="en-US" b="1" dirty="0"/>
              <a:t>Fail-safe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is a 7-day period for Snowflake-managed recovery.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Users cannot query or clone data during Fail-safe; only Snowflake can recover 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+ Fail-safe ensures total data protection.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Limitations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Not supported for </a:t>
            </a:r>
            <a:r>
              <a:rPr lang="en-US" b="1" dirty="0"/>
              <a:t>temporary tables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Retention duration</a:t>
            </a:r>
            <a:r>
              <a:rPr lang="en-US" dirty="0"/>
              <a:t> depends on the Snowflake edition.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cannot be disabled or shortened.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 Travel operations may consume additional storage if historical data accumulates extensively.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52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Zero-Copy Cloning?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Snowflake feature that creates a logical copy of a database, schema, or table without physically duplicating the underlying micro-partition storage at the time of creation.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Clones are instantaneous (metadata operations) and initially consume negligible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creation, clones and sources diverge only when changes are made; changed micro-partitions are written separately (copy-on-write behavior).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How it works (internals, high level)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stores data in immutable micro-partitions (read-only blocks).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clone is a new set of metadata pointers to the same micro-partitions as the source.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WRITE operations to either the clone or the source, Snowflake creates new micro-partitions for the modified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clone references the historical versions of micro-partitions (enabled via Time Travel) so the clone represents the object state at clone-time.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is often called </a:t>
            </a:r>
            <a:r>
              <a:rPr lang="en-US" i="1" dirty="0"/>
              <a:t>copy-on-write</a:t>
            </a:r>
            <a:r>
              <a:rPr lang="en-US" dirty="0"/>
              <a:t> or </a:t>
            </a:r>
            <a:r>
              <a:rPr lang="en-US" i="1" dirty="0"/>
              <a:t>metadata-only clone</a:t>
            </a:r>
            <a:r>
              <a:rPr lang="en-US" dirty="0"/>
              <a:t>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171700" lvl="4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549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Cloneable objects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Tables (permanent, transient, temporary where applicable)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Other objects: stages, file formats, sequences, roles (object-specific restrictions may apply)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r>
              <a:rPr lang="en-US" b="1" dirty="0"/>
              <a:t>Storage &amp; Billing behavior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At creation: clones do </a:t>
            </a:r>
            <a:r>
              <a:rPr lang="en-US" b="1" dirty="0"/>
              <a:t>not</a:t>
            </a:r>
            <a:r>
              <a:rPr lang="en-US" dirty="0"/>
              <a:t> increase data storage because they point to existing micro-partitions.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modification: only changed micro-partitions (new data) consume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&amp; Fail-safe: cloned objects may extend the life of micro-partitions indirectly because Time Travel retention applies; ensure retention settings are considered for cost planning.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628900" lvl="5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610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Common use cases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Development &amp; testing environments: spin up isolated copies for experiments without paying for full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Analytics sandboxes: analysts can create working copies to test transformations.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Backup / snapshot workflows: quick point-in-time snapshots for short-term rollback.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173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real-time access to live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Eliminates ETL processes, data duplication, and latency issues.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Benefits of Snowflake Data Sharing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to copy or move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access the same data stored in the provider’s account.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always see the </a:t>
            </a:r>
            <a:r>
              <a:rPr lang="en-US" b="1" dirty="0"/>
              <a:t>latest version</a:t>
            </a:r>
            <a:r>
              <a:rPr lang="en-US" dirty="0"/>
              <a:t> of shared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Granular access control (schemas, tables, views).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Provider maintains full ownership.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additional storage costs for consumers.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Share data seamlessly across </a:t>
            </a:r>
            <a:r>
              <a:rPr lang="en-US" b="1" dirty="0"/>
              <a:t>different cloud providers (AWS, Azure, GCP)</a:t>
            </a:r>
            <a:r>
              <a:rPr lang="en-US" dirty="0"/>
              <a:t> and regions.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63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3515976"/>
            <a:ext cx="1190548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Data Sharing</a:t>
            </a:r>
          </a:p>
          <a:p>
            <a:r>
              <a:rPr lang="en-IN" b="1" dirty="0"/>
              <a:t>Direct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directly between </a:t>
            </a:r>
            <a:r>
              <a:rPr lang="en-IN" b="1" dirty="0"/>
              <a:t>two Snowflake accounts</a:t>
            </a:r>
            <a:r>
              <a:rPr lang="en-IN" dirty="0"/>
              <a:t> within the same region/cloud.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Consumers can access data immediately.</a:t>
            </a:r>
          </a:p>
          <a:p>
            <a:r>
              <a:rPr lang="en-IN" b="1" dirty="0"/>
              <a:t>Cross-Region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across </a:t>
            </a:r>
            <a:r>
              <a:rPr lang="en-IN" b="1" dirty="0"/>
              <a:t>different Snowflake regions</a:t>
            </a:r>
            <a:r>
              <a:rPr lang="en-IN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Uses </a:t>
            </a:r>
            <a:r>
              <a:rPr lang="en-IN" b="1" dirty="0"/>
              <a:t>Snowflake Secure Data Exchange</a:t>
            </a:r>
            <a:r>
              <a:rPr lang="en-IN" dirty="0"/>
              <a:t>.</a:t>
            </a:r>
          </a:p>
          <a:p>
            <a:r>
              <a:rPr lang="en-IN" b="1" dirty="0"/>
              <a:t>Cross-Cloud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between </a:t>
            </a:r>
            <a:r>
              <a:rPr lang="en-IN" b="1" dirty="0"/>
              <a:t>different cloud platforms</a:t>
            </a:r>
            <a:r>
              <a:rPr lang="en-IN" dirty="0"/>
              <a:t> (AWS → Azure → GCP).</a:t>
            </a:r>
          </a:p>
          <a:p>
            <a:r>
              <a:rPr lang="en-IN" b="1" dirty="0"/>
              <a:t>Data Marketplace / Exchange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Publish data products publicly or privately in the </a:t>
            </a:r>
            <a:r>
              <a:rPr lang="en-IN" b="1" dirty="0"/>
              <a:t>Snowflake Marketplace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F6715-A359-5C01-463D-EA1B52F2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6653"/>
              </p:ext>
            </p:extLst>
          </p:nvPr>
        </p:nvGraphicFramePr>
        <p:xfrm>
          <a:off x="502920" y="690265"/>
          <a:ext cx="10616184" cy="2651760"/>
        </p:xfrm>
        <a:graphic>
          <a:graphicData uri="http://schemas.openxmlformats.org/drawingml/2006/table">
            <a:tbl>
              <a:tblPr/>
              <a:tblGrid>
                <a:gridCol w="5308092">
                  <a:extLst>
                    <a:ext uri="{9D8B030D-6E8A-4147-A177-3AD203B41FA5}">
                      <a16:colId xmlns:a16="http://schemas.microsoft.com/office/drawing/2014/main" val="3655183535"/>
                    </a:ext>
                  </a:extLst>
                </a:gridCol>
                <a:gridCol w="5308092">
                  <a:extLst>
                    <a:ext uri="{9D8B030D-6E8A-4147-A177-3AD203B41FA5}">
                      <a16:colId xmlns:a16="http://schemas.microsoft.com/office/drawing/2014/main" val="14223463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16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Data Provider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Snowflake account that owns and shares the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3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Data Consumer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account that receives and queries shared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Share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object that defines what data is shared and to whom.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7585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Reader Account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Snowflake-managed account created by provider for users who don’t have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45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583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in Snowflake is a </a:t>
            </a:r>
            <a:r>
              <a:rPr lang="en-US" b="1" dirty="0"/>
              <a:t>database object</a:t>
            </a:r>
            <a:r>
              <a:rPr lang="en-US" dirty="0"/>
              <a:t> used to </a:t>
            </a:r>
            <a:r>
              <a:rPr lang="en-US" b="1" dirty="0"/>
              <a:t>schedule and automate SQL statements</a:t>
            </a:r>
            <a:r>
              <a:rPr lang="en-US" dirty="0"/>
              <a:t> —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transformations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 refreshes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Stream and merge operations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ETL/ELT workflow orchestration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works like a </a:t>
            </a:r>
            <a:r>
              <a:rPr lang="en-US" b="1" dirty="0"/>
              <a:t>scheduler or </a:t>
            </a:r>
            <a:r>
              <a:rPr lang="en-US" b="1" dirty="0" err="1"/>
              <a:t>cron</a:t>
            </a:r>
            <a:r>
              <a:rPr lang="en-US" b="1" dirty="0"/>
              <a:t> job inside Snowflake</a:t>
            </a:r>
            <a:r>
              <a:rPr lang="en-US" dirty="0"/>
              <a:t>, using the </a:t>
            </a:r>
            <a:r>
              <a:rPr lang="en-US" b="1" dirty="0"/>
              <a:t>Snowflake engine</a:t>
            </a:r>
            <a:r>
              <a:rPr lang="en-US" dirty="0"/>
              <a:t> (no external scheduler required).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2F4B8D-9172-CA91-8CA7-A1CC0A582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89049"/>
              </p:ext>
            </p:extLst>
          </p:nvPr>
        </p:nvGraphicFramePr>
        <p:xfrm>
          <a:off x="649224" y="3694809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79974045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911080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16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 SQL commands automatically on a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263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Integration with Streams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Combine Tasks + Streams for incremental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286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Chaining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 task can trigger another (task hierarchy)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16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Cron Scheduling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Flexible timing using CRON 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4235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Error Handling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Task retries and status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417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Pause/Resume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Easily enable or suspend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44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463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3CC4F4-EA37-139B-7567-9BD66CE59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18174"/>
              </p:ext>
            </p:extLst>
          </p:nvPr>
        </p:nvGraphicFramePr>
        <p:xfrm>
          <a:off x="237744" y="1003713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3070329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981792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972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Standalone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independently on a time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511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Child Task (Dependent Task)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after a parent task completes successfully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344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Stream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Consumes data from a Stream for near-real-time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0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537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Stream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Stream</a:t>
            </a:r>
            <a:r>
              <a:rPr lang="en-US" dirty="0"/>
              <a:t> in Snowflake is a </a:t>
            </a:r>
            <a:r>
              <a:rPr lang="en-US" b="1" dirty="0"/>
              <a:t>change tracking object</a:t>
            </a:r>
            <a:r>
              <a:rPr lang="en-US" dirty="0"/>
              <a:t> that records </a:t>
            </a:r>
            <a:r>
              <a:rPr lang="en-US" b="1" dirty="0"/>
              <a:t>inserts, updates, and deletes</a:t>
            </a:r>
            <a:r>
              <a:rPr lang="en-US" dirty="0"/>
              <a:t> made to a table.</a:t>
            </a:r>
          </a:p>
          <a:p>
            <a:r>
              <a:rPr lang="en-US" dirty="0"/>
              <a:t>It provides a </a:t>
            </a:r>
            <a:r>
              <a:rPr lang="en-US" b="1" dirty="0"/>
              <a:t>Change Data Capture (CDC)</a:t>
            </a:r>
            <a:r>
              <a:rPr lang="en-US" dirty="0"/>
              <a:t> mechanism — allowing you to identify and process only the </a:t>
            </a:r>
            <a:r>
              <a:rPr lang="en-US" b="1" dirty="0"/>
              <a:t>changed data</a:t>
            </a:r>
            <a:r>
              <a:rPr lang="en-US" dirty="0"/>
              <a:t> instead of scanning the whole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Use Streams?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✅ Capture incremental changes in real time</a:t>
            </a:r>
            <a:br>
              <a:rPr lang="en-IN" dirty="0"/>
            </a:br>
            <a:r>
              <a:rPr lang="en-IN" dirty="0"/>
              <a:t>✅ Reduce data processing cost and time</a:t>
            </a:r>
            <a:br>
              <a:rPr lang="en-IN" dirty="0"/>
            </a:br>
            <a:r>
              <a:rPr lang="en-IN" dirty="0"/>
              <a:t>✅ Build </a:t>
            </a:r>
            <a:r>
              <a:rPr lang="en-IN" b="1" dirty="0"/>
              <a:t>ETL / ELT pipelines</a:t>
            </a:r>
            <a:r>
              <a:rPr lang="en-IN" dirty="0"/>
              <a:t> efficiently</a:t>
            </a:r>
            <a:br>
              <a:rPr lang="en-IN" dirty="0"/>
            </a:br>
            <a:r>
              <a:rPr lang="en-IN" dirty="0"/>
              <a:t>✅ Combine with </a:t>
            </a:r>
            <a:r>
              <a:rPr lang="en-IN" b="1" dirty="0"/>
              <a:t>Tasks</a:t>
            </a:r>
            <a:r>
              <a:rPr lang="en-IN" dirty="0"/>
              <a:t> for full automation</a:t>
            </a:r>
            <a:br>
              <a:rPr lang="en-IN" dirty="0"/>
            </a:br>
            <a:r>
              <a:rPr lang="en-IN" dirty="0"/>
              <a:t>✅ Ideal for </a:t>
            </a:r>
            <a:r>
              <a:rPr lang="en-IN" b="1" dirty="0"/>
              <a:t>data lake → Snowflake → analytics</a:t>
            </a:r>
            <a:r>
              <a:rPr lang="en-IN" dirty="0"/>
              <a:t> pipelines</a:t>
            </a:r>
          </a:p>
        </p:txBody>
      </p:sp>
    </p:spTree>
    <p:extLst>
      <p:ext uri="{BB962C8B-B14F-4D97-AF65-F5344CB8AC3E}">
        <p14:creationId xmlns:p14="http://schemas.microsoft.com/office/powerpoint/2010/main" val="2444496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Snowpipe</a:t>
            </a:r>
            <a:r>
              <a:rPr lang="en-IN" dirty="0"/>
              <a:t> is Snowflake’s </a:t>
            </a:r>
            <a:r>
              <a:rPr lang="en-IN" b="1" dirty="0"/>
              <a:t>continuous data ingestion service</a:t>
            </a:r>
            <a:r>
              <a:rPr lang="en-IN" dirty="0"/>
              <a:t> that automatically loads data from external storage (like </a:t>
            </a:r>
            <a:r>
              <a:rPr lang="en-IN" b="1" dirty="0"/>
              <a:t>AWS S3</a:t>
            </a:r>
            <a:r>
              <a:rPr lang="en-IN" dirty="0"/>
              <a:t>, </a:t>
            </a:r>
            <a:r>
              <a:rPr lang="en-IN" b="1" dirty="0"/>
              <a:t>Azure Blob</a:t>
            </a:r>
            <a:r>
              <a:rPr lang="en-IN" dirty="0"/>
              <a:t>, or </a:t>
            </a:r>
            <a:r>
              <a:rPr lang="en-IN" b="1" dirty="0"/>
              <a:t>GCP</a:t>
            </a:r>
            <a:r>
              <a:rPr lang="en-IN" dirty="0"/>
              <a:t>) into Snowflake tables </a:t>
            </a:r>
            <a:r>
              <a:rPr lang="en-IN" b="1" dirty="0"/>
              <a:t>as soon as files arrive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Enables </a:t>
            </a:r>
            <a:r>
              <a:rPr lang="en-IN" b="1" dirty="0"/>
              <a:t>real-time or near real-time</a:t>
            </a:r>
            <a:r>
              <a:rPr lang="en-IN" dirty="0"/>
              <a:t> data ingestion.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event notifications</a:t>
            </a:r>
            <a:r>
              <a:rPr lang="en-IN" dirty="0"/>
              <a:t> (SNS/SQS or Pub/Sub).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Requires </a:t>
            </a:r>
            <a:r>
              <a:rPr lang="en-IN" b="1" dirty="0"/>
              <a:t>no manual COPY commands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Fully </a:t>
            </a:r>
            <a:r>
              <a:rPr lang="en-IN" b="1" dirty="0"/>
              <a:t>serverless</a:t>
            </a:r>
            <a:r>
              <a:rPr lang="en-IN" dirty="0"/>
              <a:t> – Snowflake manages compute automatically.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1AD5A6-317C-5A13-8562-5F4B88CD6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41935"/>
              </p:ext>
            </p:extLst>
          </p:nvPr>
        </p:nvGraphicFramePr>
        <p:xfrm>
          <a:off x="292608" y="3429000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05869903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8266767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1642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Continuous Loading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loads new data as it arrives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8543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Serverless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manages compute and 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3388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Event-based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Triggered by storage event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74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Automatic Deduplication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Avoids reloading the same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69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Secure Access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IAM roles and storage integrations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323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Pay-per-Use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Charges only for compute used during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7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38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868680"/>
            <a:ext cx="1190548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</a:t>
            </a:r>
            <a:r>
              <a:rPr lang="en-US" b="1" dirty="0" err="1"/>
              <a:t>Snowpipe</a:t>
            </a:r>
            <a:r>
              <a:rPr lang="en-US" b="1" dirty="0"/>
              <a:t> Works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new file is uploaded to S3.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S3 generates an </a:t>
            </a:r>
            <a:r>
              <a:rPr lang="en-US" b="1" dirty="0"/>
              <a:t>event notification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event is sent to </a:t>
            </a:r>
            <a:r>
              <a:rPr lang="en-US" b="1" dirty="0"/>
              <a:t>SNS topic</a:t>
            </a:r>
            <a:r>
              <a:rPr lang="en-US" dirty="0"/>
              <a:t> and </a:t>
            </a:r>
            <a:r>
              <a:rPr lang="en-US" b="1" dirty="0"/>
              <a:t>SQS queue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receives the event and triggers </a:t>
            </a:r>
            <a:r>
              <a:rPr lang="en-US" b="1" dirty="0" err="1"/>
              <a:t>Snowpipe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Snowpipe</a:t>
            </a:r>
            <a:r>
              <a:rPr lang="en-US" dirty="0"/>
              <a:t> executes the </a:t>
            </a:r>
            <a:r>
              <a:rPr lang="en-US" b="1" dirty="0"/>
              <a:t>COPY INTO</a:t>
            </a:r>
            <a:r>
              <a:rPr lang="en-US" dirty="0"/>
              <a:t> command.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loaded into the target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528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Data Masking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Data Masking in Snowflake is a </a:t>
            </a:r>
            <a:r>
              <a:rPr lang="en-US" b="1" dirty="0"/>
              <a:t>security feature</a:t>
            </a:r>
            <a:r>
              <a:rPr lang="en-US" dirty="0"/>
              <a:t> that hides  sensitive data (like PII — Personally Identifiable Information) from unauthorized users.</a:t>
            </a:r>
            <a:br>
              <a:rPr lang="en-US" dirty="0"/>
            </a:br>
            <a:r>
              <a:rPr lang="en-US" dirty="0"/>
              <a:t>It allows you to </a:t>
            </a:r>
            <a:r>
              <a:rPr lang="en-US" b="1" dirty="0"/>
              <a:t>dynamically control</a:t>
            </a:r>
            <a:r>
              <a:rPr lang="en-US" dirty="0"/>
              <a:t> how data is displayed </a:t>
            </a:r>
            <a:r>
              <a:rPr lang="en-US" b="1" dirty="0"/>
              <a:t>based on user roles or privileges</a:t>
            </a:r>
            <a:r>
              <a:rPr lang="en-US" dirty="0"/>
              <a:t>, without duplicating or encrypting the data itself.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Use Data Masking?</a:t>
            </a:r>
          </a:p>
          <a:p>
            <a:r>
              <a:rPr lang="en-US" dirty="0"/>
              <a:t>✅ Protect sensitive data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Credit card numbers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Social Security Numbers (SSNs)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Email addresses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Salary or medical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C9BE3A-F538-DEED-B4BB-C29DC8AF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01940"/>
              </p:ext>
            </p:extLst>
          </p:nvPr>
        </p:nvGraphicFramePr>
        <p:xfrm>
          <a:off x="187452" y="4588161"/>
          <a:ext cx="10131426" cy="19202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6780235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88110046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0300658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286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Dynamic Data Masking (DDM)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Masks data at query time based on user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Returns masked or unmasked value depending on the current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1176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External Tokenization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Integrates with external providers to tokenize data before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Useful for enterprise-level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67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514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Row-Level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Row-Level Security (RLS) restricts access to specific rows in a table based on user identity or role.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that users see </a:t>
            </a: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the data they are authorized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sales manager can see only sales data from their region.</a:t>
            </a:r>
          </a:p>
          <a:p>
            <a:endParaRPr lang="en-US" b="1" dirty="0"/>
          </a:p>
          <a:p>
            <a:r>
              <a:rPr lang="en-US" b="1" dirty="0"/>
              <a:t>Why Use Row-Level Security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Protect sensitive data (e.g., salary, customer data).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Enforce </a:t>
            </a:r>
            <a:r>
              <a:rPr lang="en-US" b="1" dirty="0"/>
              <a:t>compliance and governance</a:t>
            </a:r>
            <a:r>
              <a:rPr lang="en-US" dirty="0"/>
              <a:t> policies.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multi-tenant applications</a:t>
            </a:r>
            <a:r>
              <a:rPr lang="en-US" dirty="0"/>
              <a:t> where each client accesses only their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Simplify data models by avoiding separate tables per user/group.</a:t>
            </a:r>
          </a:p>
          <a:p>
            <a:endParaRPr lang="en-US" b="1" dirty="0"/>
          </a:p>
          <a:p>
            <a:r>
              <a:rPr lang="en-US" b="1" dirty="0"/>
              <a:t>How Row-Level Security Works in Snowflake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Implemented using </a:t>
            </a:r>
            <a:r>
              <a:rPr lang="en-US" b="1" dirty="0"/>
              <a:t>Row Access Policies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Policies are attached to tables or views.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Snowflake automatically filters rows based on the policy’s logic.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284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Column-Level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Column Access Policy (CAP) controls which users or roles can access specific columns in a table or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Provides fine-grained access control at the column level — useful for securing sensitive attributes like SSN, salary, 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How Column Access Policy Works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Implemented using CREATE COLUMN ACCESS POLICY command.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logic defines who can access the column(s).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is attached to one or more columns in a table or view.</a:t>
            </a:r>
          </a:p>
          <a:p>
            <a:pPr>
              <a:spcBef>
                <a:spcPts val="600"/>
              </a:spcBef>
            </a:pPr>
            <a:r>
              <a:rPr lang="en-US" dirty="0"/>
              <a:t>Uses functions such as: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CURRENT_ROLE()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CURRENT_USER()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CURRENT_ACCOUNT()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49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Caching in Snowflake is the process of temporarily storing data, metadata, and query results to improve query performance and reduce compute cost.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 query execution time.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Minimize resource consumption (compute and I/O).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Enhance overall performance for repeated queries.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Types off Caching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BF2716-116A-FB98-C1E8-CD9A07225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8341"/>
              </p:ext>
            </p:extLst>
          </p:nvPr>
        </p:nvGraphicFramePr>
        <p:xfrm>
          <a:off x="301752" y="3429000"/>
          <a:ext cx="10821955" cy="2560320"/>
        </p:xfrm>
        <a:graphic>
          <a:graphicData uri="http://schemas.openxmlformats.org/drawingml/2006/table">
            <a:tbl>
              <a:tblPr/>
              <a:tblGrid>
                <a:gridCol w="2066544">
                  <a:extLst>
                    <a:ext uri="{9D8B030D-6E8A-4147-A177-3AD203B41FA5}">
                      <a16:colId xmlns:a16="http://schemas.microsoft.com/office/drawing/2014/main" val="3272831123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876098226"/>
                    </a:ext>
                  </a:extLst>
                </a:gridCol>
                <a:gridCol w="3067875">
                  <a:extLst>
                    <a:ext uri="{9D8B030D-6E8A-4147-A177-3AD203B41FA5}">
                      <a16:colId xmlns:a16="http://schemas.microsoft.com/office/drawing/2014/main" val="2466473850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90156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4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Result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Metadata Layer (Cloud Services)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results of previously executed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 to 24 hours.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4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Local Disk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Virtual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micro-partitions of data retrieved from remote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Until warehouse is suspended or resized.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1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Metadata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table and file metadata to avoid re-fetching from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Persistent until underlying data changes.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89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15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785F7-A91C-6A8B-D52D-FD50502531B2}"/>
              </a:ext>
            </a:extLst>
          </p:cNvPr>
          <p:cNvSpPr txBox="1"/>
          <p:nvPr/>
        </p:nvSpPr>
        <p:spPr>
          <a:xfrm>
            <a:off x="3012948" y="1329541"/>
            <a:ext cx="61173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┌──────────────────────────────┐</a:t>
            </a:r>
          </a:p>
          <a:p>
            <a:r>
              <a:rPr lang="en-IN" dirty="0"/>
              <a:t>         │        Cloud Services                                │</a:t>
            </a:r>
          </a:p>
          <a:p>
            <a:r>
              <a:rPr lang="en-IN" dirty="0"/>
              <a:t>         │  (Result Cache + Metadata)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Virtual Warehouse Layer                    │</a:t>
            </a:r>
          </a:p>
          <a:p>
            <a:r>
              <a:rPr lang="en-IN" dirty="0"/>
              <a:t>         │  (Local Disk Cache / SSD)     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  Remote Cloud Storage                      │</a:t>
            </a:r>
          </a:p>
          <a:p>
            <a:r>
              <a:rPr lang="en-IN" dirty="0"/>
              <a:t>         │ (Persistent Storage - S3/GCS)              │</a:t>
            </a:r>
          </a:p>
          <a:p>
            <a:r>
              <a:rPr lang="en-IN" dirty="0"/>
              <a:t>         └──────────────────────────────┘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463451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Snowflake Cache Lifecycle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1: First Query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read from </a:t>
            </a:r>
            <a:r>
              <a:rPr lang="en-US" b="1" dirty="0"/>
              <a:t>remote storage (S3, Azure Blob, GCS)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Query results are computed and </a:t>
            </a:r>
            <a:r>
              <a:rPr lang="en-US" b="1" dirty="0"/>
              <a:t>stored in local disk cache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Final results are also saved in the </a:t>
            </a:r>
            <a:r>
              <a:rPr lang="en-US" b="1" dirty="0"/>
              <a:t>result cache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2: Subsequent Query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query text and underlying data are unchanged: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Result cache</a:t>
            </a:r>
            <a:r>
              <a:rPr lang="en-US" dirty="0"/>
              <a:t> returns the results instantly.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data has changed but still exists in </a:t>
            </a:r>
            <a:r>
              <a:rPr lang="en-US" b="1" dirty="0"/>
              <a:t>local disk cache</a:t>
            </a:r>
            <a:r>
              <a:rPr lang="en-US" dirty="0"/>
              <a:t>, it reads data locally (faster than storage access)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Types Explained in Detail</a:t>
            </a:r>
          </a:p>
          <a:p>
            <a:r>
              <a:rPr lang="en-US" b="1" dirty="0"/>
              <a:t>Result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Stores results of previous queries for </a:t>
            </a:r>
            <a:r>
              <a:rPr lang="en-US" b="1" dirty="0"/>
              <a:t>24 hours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Automatically used for </a:t>
            </a:r>
            <a:r>
              <a:rPr lang="en-US" b="1" dirty="0"/>
              <a:t>identical queries</a:t>
            </a:r>
            <a:r>
              <a:rPr lang="en-US" dirty="0"/>
              <a:t> by </a:t>
            </a:r>
            <a:r>
              <a:rPr lang="en-US" b="1" dirty="0"/>
              <a:t>any user with the same role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Does not require compute</a:t>
            </a:r>
            <a:r>
              <a:rPr lang="en-US" dirty="0"/>
              <a:t> — queries are served instantly.</a:t>
            </a:r>
          </a:p>
          <a:p>
            <a:pPr>
              <a:spcBef>
                <a:spcPts val="600"/>
              </a:spcBef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524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Conditions for result cache usage: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SQL text.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role, warehouse, and user permissions.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change in underlying data or session parameters.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Local Disk Cache (Warehouse Cache)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virtual warehouse caches </a:t>
            </a:r>
            <a:r>
              <a:rPr lang="en-US" b="1" dirty="0"/>
              <a:t>data micro-partitions</a:t>
            </a:r>
            <a:r>
              <a:rPr lang="en-US" dirty="0"/>
              <a:t> on local SSD.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Improves performance when scanning large tables repeatedly.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Cleared when: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suspended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resized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micro-partitions </a:t>
            </a:r>
            <a:r>
              <a:rPr lang="en-US" b="1" dirty="0"/>
              <a:t>evicted due to new queries</a:t>
            </a:r>
            <a:r>
              <a:rPr lang="en-US" dirty="0"/>
              <a:t>.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SELECT * FROM SALES WHERE DATE BETWEEN '2025-01-01' AND '2025-01-10';</a:t>
            </a:r>
          </a:p>
          <a:p>
            <a:pPr>
              <a:spcBef>
                <a:spcPts val="600"/>
              </a:spcBef>
            </a:pPr>
            <a:r>
              <a:rPr lang="en-US" dirty="0"/>
              <a:t>-- Subsequent queries on same data range use local cache.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20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Metadata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Caches table metadata, file locations, and column statistics.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Used to avoid redundant calls to storage metadata.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Reduces overhead for queries like SHOW TABLES or DESCRIBE TABLE.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SHOW TABLES LIKE 'SALES%';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-- Uses metadata cache for faster results.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Cache Invalidation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Underlying data changes (INSERT, UPDATE, DELETE, MERGE).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Schema changes (ALTER TABLE, DROP TABLE).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 cache exceeds 24-hour limit.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Warehouse restarts or resizes (for local cache).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971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Best Practice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D71A36-7FCE-1D1D-F37B-DDFB4343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43989"/>
              </p:ext>
            </p:extLst>
          </p:nvPr>
        </p:nvGraphicFramePr>
        <p:xfrm>
          <a:off x="338328" y="150663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54822025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2330879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Best Practice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Benefit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0320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Avoid unnecessary warehouse suspensions.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Keeps local cache warm.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9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Reuse same warehouse for repeated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Improves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08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Limit frequent DML operations.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Preserves result cache validity.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616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Optimize queries for deterministic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Maximizes cache reusability.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555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AEBA99-EBC0-4331-B2DA-E3768C4BEE57}"/>
              </a:ext>
            </a:extLst>
          </p:cNvPr>
          <p:cNvSpPr txBox="1"/>
          <p:nvPr/>
        </p:nvSpPr>
        <p:spPr>
          <a:xfrm>
            <a:off x="251460" y="3836351"/>
            <a:ext cx="61173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SELECT QUERY_TEXT, BYTES_SCANNED, CACHE_USAGE</a:t>
            </a:r>
          </a:p>
          <a:p>
            <a:r>
              <a:rPr lang="en-IN"/>
              <a:t>FROM TABLE(INFORMATION_SCHEMA.QUERY_HISTORY())</a:t>
            </a:r>
          </a:p>
          <a:p>
            <a:r>
              <a:rPr lang="en-IN"/>
              <a:t>WHERE QUERY_TEXT LIKE '%SALES%’;</a:t>
            </a:r>
          </a:p>
          <a:p>
            <a:endParaRPr lang="en-IN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E399-0181-CF3F-4BCE-9A5D66EDB601}"/>
              </a:ext>
            </a:extLst>
          </p:cNvPr>
          <p:cNvSpPr txBox="1"/>
          <p:nvPr/>
        </p:nvSpPr>
        <p:spPr>
          <a:xfrm>
            <a:off x="338328" y="4902631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BYTES_SCANNED = 0 indicates result cache usage.</a:t>
            </a:r>
          </a:p>
          <a:p>
            <a:r>
              <a:rPr lang="en-IN" dirty="0"/>
              <a:t>CACHE_USAGE = 'LOCAL DISK' means warehouse cache hit.</a:t>
            </a:r>
          </a:p>
        </p:txBody>
      </p:sp>
    </p:spTree>
    <p:extLst>
      <p:ext uri="{BB962C8B-B14F-4D97-AF65-F5344CB8AC3E}">
        <p14:creationId xmlns:p14="http://schemas.microsoft.com/office/powerpoint/2010/main" val="6008938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Cache Performance Benefits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682F7A-3E1C-0963-CC61-ED4DA87B3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88805"/>
              </p:ext>
            </p:extLst>
          </p:nvPr>
        </p:nvGraphicFramePr>
        <p:xfrm>
          <a:off x="251460" y="1544321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96207676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7758061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Performance Gain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005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Result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Instant (no compute)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567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Local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3x–10x 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665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2x faster metadata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038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71D2F9-941E-7A22-9A3D-0888181CE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005939"/>
              </p:ext>
            </p:extLst>
          </p:nvPr>
        </p:nvGraphicFramePr>
        <p:xfrm>
          <a:off x="251460" y="3986011"/>
          <a:ext cx="10131425" cy="228600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585293906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0105823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408813397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264666589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92232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Used By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Storage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Lifetime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Cleared When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14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Result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24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10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Local Disk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Until suspend/resize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Warehouse 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9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841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72230D-F1CF-53C2-DB2D-3D1347954179}"/>
              </a:ext>
            </a:extLst>
          </p:cNvPr>
          <p:cNvSpPr txBox="1"/>
          <p:nvPr/>
        </p:nvSpPr>
        <p:spPr>
          <a:xfrm>
            <a:off x="141732" y="3545967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43615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05156" y="338203"/>
            <a:ext cx="1078534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Snowpark?</a:t>
            </a:r>
          </a:p>
          <a:p>
            <a:pPr>
              <a:spcBef>
                <a:spcPts val="600"/>
              </a:spcBef>
            </a:pPr>
            <a:r>
              <a:rPr lang="en-US" dirty="0"/>
              <a:t>Snowpark is a developer framework provided by Snowflake that allows you to write data engineering, data processing, and ML logic using programming languages while executing the code inside </a:t>
            </a:r>
            <a:r>
              <a:rPr lang="en-US" dirty="0" err="1"/>
              <a:t>Snowflake.Snowpark</a:t>
            </a:r>
            <a:r>
              <a:rPr lang="en-US" dirty="0"/>
              <a:t> brings code to data, instead of moving data to external systems.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Snowpark Was </a:t>
            </a:r>
            <a:r>
              <a:rPr lang="en-US" b="1" dirty="0" err="1"/>
              <a:t>IntroducedTraditional</a:t>
            </a:r>
            <a:r>
              <a:rPr lang="en-US" b="1" dirty="0"/>
              <a:t> Problem	</a:t>
            </a:r>
          </a:p>
          <a:p>
            <a:pPr>
              <a:spcBef>
                <a:spcPts val="600"/>
              </a:spcBef>
            </a:pPr>
            <a:r>
              <a:rPr lang="en-US" dirty="0"/>
              <a:t>	SQL is excellent for analytics	</a:t>
            </a:r>
          </a:p>
          <a:p>
            <a:pPr>
              <a:spcBef>
                <a:spcPts val="600"/>
              </a:spcBef>
            </a:pPr>
            <a:r>
              <a:rPr lang="en-US" dirty="0"/>
              <a:t>	But complex logic requires:	Python / Java / Scala	</a:t>
            </a:r>
          </a:p>
          <a:p>
            <a:pPr>
              <a:spcBef>
                <a:spcPts val="600"/>
              </a:spcBef>
            </a:pPr>
            <a:r>
              <a:rPr lang="en-US" dirty="0"/>
              <a:t>	External compute (Spark, servers, ETL tools)</a:t>
            </a:r>
          </a:p>
          <a:p>
            <a:pPr>
              <a:spcBef>
                <a:spcPts val="600"/>
              </a:spcBef>
            </a:pPr>
            <a:r>
              <a:rPr lang="en-US" dirty="0"/>
              <a:t>This causes:	</a:t>
            </a:r>
          </a:p>
          <a:p>
            <a:pPr>
              <a:spcBef>
                <a:spcPts val="600"/>
              </a:spcBef>
            </a:pPr>
            <a:r>
              <a:rPr lang="en-US" dirty="0"/>
              <a:t>		Data movement	</a:t>
            </a:r>
          </a:p>
          <a:p>
            <a:pPr>
              <a:spcBef>
                <a:spcPts val="600"/>
              </a:spcBef>
            </a:pPr>
            <a:r>
              <a:rPr lang="en-US" dirty="0"/>
              <a:t>		Security risks	</a:t>
            </a:r>
          </a:p>
          <a:p>
            <a:pPr>
              <a:spcBef>
                <a:spcPts val="600"/>
              </a:spcBef>
            </a:pPr>
            <a:r>
              <a:rPr lang="en-US" dirty="0"/>
              <a:t>		Higher cost	</a:t>
            </a:r>
          </a:p>
          <a:p>
            <a:pPr>
              <a:spcBef>
                <a:spcPts val="600"/>
              </a:spcBef>
            </a:pPr>
            <a:r>
              <a:rPr lang="en-US" dirty="0"/>
              <a:t>		Latency</a:t>
            </a:r>
          </a:p>
          <a:p>
            <a:pPr>
              <a:spcBef>
                <a:spcPts val="600"/>
              </a:spcBef>
            </a:pPr>
            <a:r>
              <a:rPr lang="en-US" dirty="0"/>
              <a:t>Snowpark Solution	</a:t>
            </a:r>
          </a:p>
          <a:p>
            <a:pPr>
              <a:spcBef>
                <a:spcPts val="600"/>
              </a:spcBef>
            </a:pPr>
            <a:r>
              <a:rPr lang="en-US" dirty="0"/>
              <a:t>		Write logic in Python / Java / Scala	</a:t>
            </a:r>
          </a:p>
          <a:p>
            <a:pPr>
              <a:spcBef>
                <a:spcPts val="600"/>
              </a:spcBef>
            </a:pPr>
            <a:r>
              <a:rPr lang="en-US" dirty="0"/>
              <a:t>		Run it inside Snowflake compute	</a:t>
            </a:r>
          </a:p>
          <a:p>
            <a:pPr>
              <a:spcBef>
                <a:spcPts val="600"/>
              </a:spcBef>
            </a:pPr>
            <a:r>
              <a:rPr lang="en-US" dirty="0"/>
              <a:t>		No data movement	Same governance, security,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80250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DFC83-2C6E-3D42-00A4-E4DA1B0E5B97}"/>
              </a:ext>
            </a:extLst>
          </p:cNvPr>
          <p:cNvSpPr txBox="1"/>
          <p:nvPr/>
        </p:nvSpPr>
        <p:spPr>
          <a:xfrm>
            <a:off x="816102" y="1088565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Client Code (Python / Java / Scala)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Logical Plan (Lazy Evaluation)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Snowpark API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Optimized Query Plan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Snowflake Compute Engine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Secure Execution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Snowflake Tables / Views / Files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E64DA82-24B5-4DCE-F30F-6D7AC198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48508"/>
            <a:ext cx="229409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Snowpark Architecture 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8507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E64DA82-24B5-4DCE-F30F-6D7AC198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6952"/>
            <a:ext cx="289008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Snowpark vs Traditional SQL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147FC6-A380-834C-F6CB-044DA5B8F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460699"/>
              </p:ext>
            </p:extLst>
          </p:nvPr>
        </p:nvGraphicFramePr>
        <p:xfrm>
          <a:off x="201168" y="1095153"/>
          <a:ext cx="10131426" cy="25603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4160368463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37012315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0151764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Snowpark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4150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Simple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⚠ Overkill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619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Complex business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Easy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5256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Loops &amp;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Natural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4266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Reusability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768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ML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832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Procedural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71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9008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4479-F10D-C19C-C5AE-DAEAED3E94D9}"/>
              </a:ext>
            </a:extLst>
          </p:cNvPr>
          <p:cNvSpPr txBox="1"/>
          <p:nvPr/>
        </p:nvSpPr>
        <p:spPr>
          <a:xfrm>
            <a:off x="217934" y="197346"/>
            <a:ext cx="879805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Snowpark Core Components</a:t>
            </a:r>
          </a:p>
          <a:p>
            <a:r>
              <a:rPr lang="en-IN" b="1" dirty="0"/>
              <a:t>Session</a:t>
            </a:r>
          </a:p>
          <a:p>
            <a:r>
              <a:rPr lang="en-IN" dirty="0"/>
              <a:t>	Entry point to Snowflake</a:t>
            </a:r>
          </a:p>
          <a:p>
            <a:r>
              <a:rPr lang="en-IN" dirty="0"/>
              <a:t>	Manages connection, role, warehouse</a:t>
            </a:r>
            <a:endParaRPr lang="en-IN" b="1" dirty="0"/>
          </a:p>
          <a:p>
            <a:r>
              <a:rPr lang="en-IN" b="1" dirty="0" err="1"/>
              <a:t>DataFrame</a:t>
            </a:r>
            <a:endParaRPr lang="en-IN" b="1" dirty="0"/>
          </a:p>
          <a:p>
            <a:r>
              <a:rPr lang="en-IN" dirty="0"/>
              <a:t>	Central abstraction</a:t>
            </a:r>
          </a:p>
          <a:p>
            <a:r>
              <a:rPr lang="en-IN" dirty="0"/>
              <a:t>	Similar to Spark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/>
              <a:t>	Immutable and lazily evaluated</a:t>
            </a:r>
          </a:p>
          <a:p>
            <a:r>
              <a:rPr lang="en-IN" b="1" dirty="0"/>
              <a:t>Transformations</a:t>
            </a:r>
          </a:p>
          <a:p>
            <a:r>
              <a:rPr lang="en-IN" dirty="0"/>
              <a:t>	select(), filter(), join(), </a:t>
            </a:r>
            <a:r>
              <a:rPr lang="en-IN" dirty="0" err="1"/>
              <a:t>group_by</a:t>
            </a:r>
            <a:r>
              <a:rPr lang="en-IN" dirty="0"/>
              <a:t>()</a:t>
            </a:r>
          </a:p>
          <a:p>
            <a:r>
              <a:rPr lang="en-IN" b="1" dirty="0"/>
              <a:t>Actions</a:t>
            </a:r>
          </a:p>
          <a:p>
            <a:r>
              <a:rPr lang="en-IN" dirty="0"/>
              <a:t>	collect(), count(), </a:t>
            </a:r>
            <a:r>
              <a:rPr lang="en-IN" dirty="0" err="1"/>
              <a:t>write.save_as_table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Lazy Evaluation (Very Important)</a:t>
            </a:r>
          </a:p>
          <a:p>
            <a:r>
              <a:rPr lang="en-IN" dirty="0"/>
              <a:t>Snowpark does not execute immediately.</a:t>
            </a:r>
          </a:p>
          <a:p>
            <a:r>
              <a:rPr lang="en-IN" dirty="0"/>
              <a:t>	</a:t>
            </a:r>
            <a:r>
              <a:rPr lang="en-IN" dirty="0" err="1"/>
              <a:t>df.select</a:t>
            </a:r>
            <a:r>
              <a:rPr lang="en-IN" dirty="0"/>
              <a:t>().filter().join()</a:t>
            </a:r>
          </a:p>
          <a:p>
            <a:r>
              <a:rPr lang="en-IN" dirty="0"/>
              <a:t> Builds a logical plan</a:t>
            </a:r>
          </a:p>
          <a:p>
            <a:r>
              <a:rPr lang="en-IN" dirty="0"/>
              <a:t> Executes only when an action is called</a:t>
            </a:r>
          </a:p>
          <a:p>
            <a:endParaRPr lang="en-IN" dirty="0"/>
          </a:p>
          <a:p>
            <a:r>
              <a:rPr lang="en-IN" b="1" dirty="0"/>
              <a:t>Benefits</a:t>
            </a:r>
          </a:p>
          <a:p>
            <a:r>
              <a:rPr lang="en-IN" dirty="0"/>
              <a:t>	Query optimization</a:t>
            </a:r>
          </a:p>
          <a:p>
            <a:r>
              <a:rPr lang="en-IN" dirty="0"/>
              <a:t>	Reduced compute cost</a:t>
            </a:r>
          </a:p>
          <a:p>
            <a:r>
              <a:rPr lang="en-IN" dirty="0"/>
              <a:t>	Faster execution</a:t>
            </a:r>
          </a:p>
        </p:txBody>
      </p:sp>
    </p:spTree>
    <p:extLst>
      <p:ext uri="{BB962C8B-B14F-4D97-AF65-F5344CB8AC3E}">
        <p14:creationId xmlns:p14="http://schemas.microsoft.com/office/powerpoint/2010/main" val="3021161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957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Snowpark </a:t>
            </a:r>
            <a:r>
              <a:rPr lang="en-IN" b="1" dirty="0" err="1"/>
              <a:t>DataFrame</a:t>
            </a:r>
            <a:r>
              <a:rPr lang="en-IN" b="1" dirty="0"/>
              <a:t> Flow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4479-F10D-C19C-C5AE-DAEAED3E94D9}"/>
              </a:ext>
            </a:extLst>
          </p:cNvPr>
          <p:cNvSpPr txBox="1"/>
          <p:nvPr/>
        </p:nvSpPr>
        <p:spPr>
          <a:xfrm>
            <a:off x="318518" y="835657"/>
            <a:ext cx="87980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Read Data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Transform (select, filter, join)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Optimize (Snowflake Optimizer)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Execute in Warehouse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Result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3E413-A84B-724B-C03D-E1C4803A7CD6}"/>
              </a:ext>
            </a:extLst>
          </p:cNvPr>
          <p:cNvSpPr txBox="1"/>
          <p:nvPr/>
        </p:nvSpPr>
        <p:spPr>
          <a:xfrm>
            <a:off x="190502" y="3626596"/>
            <a:ext cx="61173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Snowpark with Files (Stages)</a:t>
            </a:r>
          </a:p>
          <a:p>
            <a:r>
              <a:rPr lang="en-IN" dirty="0"/>
              <a:t>Snowpark can work with: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Internal stages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External stages (S3, ADLS, GCS)</a:t>
            </a:r>
          </a:p>
          <a:p>
            <a:endParaRPr lang="en-IN" b="1" dirty="0"/>
          </a:p>
          <a:p>
            <a:r>
              <a:rPr lang="en-IN" b="1" dirty="0"/>
              <a:t>File → </a:t>
            </a:r>
            <a:r>
              <a:rPr lang="en-IN" b="1" dirty="0" err="1"/>
              <a:t>DataFrame</a:t>
            </a:r>
            <a:r>
              <a:rPr lang="en-IN" b="1" dirty="0"/>
              <a:t> →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Avro</a:t>
            </a:r>
          </a:p>
        </p:txBody>
      </p:sp>
    </p:spTree>
    <p:extLst>
      <p:ext uri="{BB962C8B-B14F-4D97-AF65-F5344CB8AC3E}">
        <p14:creationId xmlns:p14="http://schemas.microsoft.com/office/powerpoint/2010/main" val="3011516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957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User Defined Functions (UDFs)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B9D90D-4244-8056-BE41-F8A795E65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615501"/>
              </p:ext>
            </p:extLst>
          </p:nvPr>
        </p:nvGraphicFramePr>
        <p:xfrm>
          <a:off x="210312" y="957993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03383937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0180134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137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Scalar UDF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Row-by-row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498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Vectorized UDF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Batch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26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Stored 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Control flow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5556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469B41B-1C4F-18FD-1A5C-FD9ECB9C223C}"/>
              </a:ext>
            </a:extLst>
          </p:cNvPr>
          <p:cNvSpPr txBox="1"/>
          <p:nvPr/>
        </p:nvSpPr>
        <p:spPr>
          <a:xfrm>
            <a:off x="342900" y="2552944"/>
            <a:ext cx="6117336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Written in Python / Java / Scala</a:t>
            </a:r>
          </a:p>
          <a:p>
            <a:pPr>
              <a:spcBef>
                <a:spcPts val="600"/>
              </a:spcBef>
            </a:pPr>
            <a:r>
              <a:rPr lang="en-IN" dirty="0"/>
              <a:t>✔ Stored &amp; executed inside Snowflake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Snowpark Stored Procedures</a:t>
            </a:r>
          </a:p>
          <a:p>
            <a:pPr>
              <a:spcBef>
                <a:spcPts val="600"/>
              </a:spcBef>
            </a:pPr>
            <a:r>
              <a:rPr lang="en-IN" dirty="0"/>
              <a:t>Used when:</a:t>
            </a:r>
          </a:p>
          <a:p>
            <a:pPr>
              <a:spcBef>
                <a:spcPts val="600"/>
              </a:spcBef>
            </a:pPr>
            <a:r>
              <a:rPr lang="en-IN" dirty="0"/>
              <a:t>	You need loops</a:t>
            </a:r>
          </a:p>
          <a:p>
            <a:pPr>
              <a:spcBef>
                <a:spcPts val="600"/>
              </a:spcBef>
            </a:pPr>
            <a:r>
              <a:rPr lang="en-IN" dirty="0"/>
              <a:t>	Error handling</a:t>
            </a:r>
          </a:p>
          <a:p>
            <a:pPr>
              <a:spcBef>
                <a:spcPts val="600"/>
              </a:spcBef>
            </a:pPr>
            <a:r>
              <a:rPr lang="en-IN" dirty="0"/>
              <a:t>	Multi-step logic</a:t>
            </a:r>
          </a:p>
        </p:txBody>
      </p:sp>
    </p:spTree>
    <p:extLst>
      <p:ext uri="{BB962C8B-B14F-4D97-AF65-F5344CB8AC3E}">
        <p14:creationId xmlns:p14="http://schemas.microsoft.com/office/powerpoint/2010/main" val="21832892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D035340-9030-CE2B-5EC4-26B2012F54C2}"/>
              </a:ext>
            </a:extLst>
          </p:cNvPr>
          <p:cNvSpPr txBox="1"/>
          <p:nvPr/>
        </p:nvSpPr>
        <p:spPr>
          <a:xfrm>
            <a:off x="276606" y="392049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Security &amp; Governance</a:t>
            </a:r>
          </a:p>
          <a:p>
            <a:r>
              <a:rPr lang="en-IN" dirty="0"/>
              <a:t>Snowpark inherits:</a:t>
            </a:r>
          </a:p>
          <a:p>
            <a:r>
              <a:rPr lang="en-IN" dirty="0"/>
              <a:t>	Role-based access control	</a:t>
            </a:r>
          </a:p>
          <a:p>
            <a:r>
              <a:rPr lang="en-IN" dirty="0"/>
              <a:t>	Row access policies</a:t>
            </a:r>
          </a:p>
          <a:p>
            <a:r>
              <a:rPr lang="en-IN" dirty="0"/>
              <a:t>	Column masking</a:t>
            </a:r>
          </a:p>
          <a:p>
            <a:r>
              <a:rPr lang="en-IN" dirty="0"/>
              <a:t>	Network policies</a:t>
            </a:r>
          </a:p>
          <a:p>
            <a:r>
              <a:rPr lang="en-IN" dirty="0"/>
              <a:t>✔ No new security surface</a:t>
            </a:r>
          </a:p>
          <a:p>
            <a:r>
              <a:rPr lang="en-IN" dirty="0"/>
              <a:t>✔ Same compliance as Snowflake SQL</a:t>
            </a:r>
          </a:p>
          <a:p>
            <a:endParaRPr lang="en-IN" dirty="0"/>
          </a:p>
          <a:p>
            <a:r>
              <a:rPr lang="en-IN" b="1" dirty="0"/>
              <a:t>Performance Advantages</a:t>
            </a:r>
          </a:p>
          <a:p>
            <a:r>
              <a:rPr lang="en-IN" dirty="0"/>
              <a:t>	Push-down execution</a:t>
            </a:r>
          </a:p>
          <a:p>
            <a:r>
              <a:rPr lang="en-IN" dirty="0"/>
              <a:t>	Query pruning</a:t>
            </a:r>
          </a:p>
          <a:p>
            <a:r>
              <a:rPr lang="en-IN" dirty="0"/>
              <a:t>	Caching</a:t>
            </a:r>
          </a:p>
          <a:p>
            <a:r>
              <a:rPr lang="en-IN" dirty="0"/>
              <a:t>	Automatic scaling</a:t>
            </a:r>
          </a:p>
          <a:p>
            <a:r>
              <a:rPr lang="en-IN" dirty="0"/>
              <a:t>✔ Faster than external Spark in many cases</a:t>
            </a:r>
          </a:p>
          <a:p>
            <a:r>
              <a:rPr lang="en-IN" dirty="0"/>
              <a:t>✔ No data egress cost</a:t>
            </a:r>
          </a:p>
          <a:p>
            <a:endParaRPr lang="en-IN" dirty="0"/>
          </a:p>
          <a:p>
            <a:r>
              <a:rPr lang="en-IN" b="1" dirty="0"/>
              <a:t>Cost Optimization</a:t>
            </a:r>
          </a:p>
          <a:p>
            <a:r>
              <a:rPr lang="en-IN" dirty="0"/>
              <a:t>	Uses existing warehouses</a:t>
            </a:r>
          </a:p>
          <a:p>
            <a:r>
              <a:rPr lang="en-IN" dirty="0"/>
              <a:t>	No extra cluster management</a:t>
            </a:r>
          </a:p>
          <a:p>
            <a:r>
              <a:rPr lang="en-IN" dirty="0"/>
              <a:t>	Pay only for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521143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19B96-2835-17A4-CFB2-58FEC065D059}"/>
              </a:ext>
            </a:extLst>
          </p:cNvPr>
          <p:cNvSpPr txBox="1"/>
          <p:nvPr/>
        </p:nvSpPr>
        <p:spPr>
          <a:xfrm>
            <a:off x="217934" y="157216"/>
            <a:ext cx="10983466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Cortex</a:t>
            </a:r>
          </a:p>
          <a:p>
            <a:endParaRPr lang="en-IN" dirty="0"/>
          </a:p>
          <a:p>
            <a:r>
              <a:rPr lang="en-IN" dirty="0"/>
              <a:t>Snowflake Cortex is an AI and ML layer embedded natively within the Snowflake Data Cloud.</a:t>
            </a:r>
          </a:p>
          <a:p>
            <a:r>
              <a:rPr lang="en-IN" dirty="0"/>
              <a:t>It enables organizations to apply AI directly on governed enterprise data without moving data outside Snowflake.</a:t>
            </a:r>
          </a:p>
          <a:p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Cortex is designed for: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Enterprise-grade AI adoption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Strong governance, security, and compliance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Minimal operational complexity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Business-ready AI use cases at scale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US" dirty="0"/>
              <a:t>Snowflake Cortex sits </a:t>
            </a:r>
            <a:r>
              <a:rPr lang="en-US" b="1" dirty="0"/>
              <a:t>above the core Snowflake data platform</a:t>
            </a:r>
            <a:r>
              <a:rPr lang="en-US" dirty="0"/>
              <a:t>, tightly integrated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storage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engine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Security &amp;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sharing and collaboration</a:t>
            </a:r>
          </a:p>
          <a:p>
            <a:pPr>
              <a:spcBef>
                <a:spcPts val="600"/>
              </a:spcBef>
            </a:pPr>
            <a:r>
              <a:rPr lang="en-US" dirty="0"/>
              <a:t>It </a:t>
            </a:r>
            <a:r>
              <a:rPr lang="en-US" b="1" dirty="0"/>
              <a:t>bridges the gap between data and AI</a:t>
            </a:r>
            <a:r>
              <a:rPr lang="en-US" dirty="0"/>
              <a:t>, enabling analytics, BI, and AI workloads to operate on a </a:t>
            </a:r>
            <a:r>
              <a:rPr lang="en-US" b="1" dirty="0"/>
              <a:t>single source of truth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2401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A diagram of a computer">
            <a:extLst>
              <a:ext uri="{FF2B5EF4-FFF2-40B4-BE49-F238E27FC236}">
                <a16:creationId xmlns:a16="http://schemas.microsoft.com/office/drawing/2014/main" id="{110BDB72-8311-504C-4A98-939224AD1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97"/>
            <a:ext cx="11987784" cy="4217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71D336-6F52-3CB0-0AD6-40821B2509F7}"/>
              </a:ext>
            </a:extLst>
          </p:cNvPr>
          <p:cNvSpPr txBox="1"/>
          <p:nvPr/>
        </p:nvSpPr>
        <p:spPr>
          <a:xfrm>
            <a:off x="114300" y="4474964"/>
            <a:ext cx="1153058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User Interaction: Users access the system via the UI, where credentials and access controls are verified.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Governance: Snowflake Horizon enforces security policies (RBAC) on all requests.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AI Processing: Cortex Agents orchestrate tasks, routing requests to tools like Cortex Analyst (structured data) and Cortex Search (unstructured data).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Execution: A Virtual Warehouse runs the queries, interacting with integrated AI Models (e.g., OpenAI, Anthropic).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Data Access: The system utilizes data from internal tables, external sources, and the Snowflake Marketplace to generate responses.</a:t>
            </a:r>
          </a:p>
        </p:txBody>
      </p:sp>
    </p:spTree>
    <p:extLst>
      <p:ext uri="{BB962C8B-B14F-4D97-AF65-F5344CB8AC3E}">
        <p14:creationId xmlns:p14="http://schemas.microsoft.com/office/powerpoint/2010/main" val="6414542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Key Components of Snowflake Cortex</a:t>
            </a:r>
          </a:p>
          <a:p>
            <a:pPr>
              <a:spcBef>
                <a:spcPts val="600"/>
              </a:spcBef>
            </a:pPr>
            <a:r>
              <a:rPr lang="en-IN" b="1" dirty="0"/>
              <a:t>AI Services Layer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Cortex provides built-in AI capabilities that operate directly on Snowflake data, including: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Large Language Model (LLM) access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Natural language understanding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Text processing and semantic analysis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Predictive and inferential capabilities</a:t>
            </a:r>
          </a:p>
          <a:p>
            <a:pPr>
              <a:spcBef>
                <a:spcPts val="600"/>
              </a:spcBef>
            </a:pPr>
            <a:r>
              <a:rPr lang="en-IN" dirty="0"/>
              <a:t>These services are serverless and fully managed by Snowflake.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Native Model Integration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Cortex integrates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Snowflake-managed AI models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Select third-party foundation models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Secure model hosting within Snowflake’s environment</a:t>
            </a:r>
          </a:p>
          <a:p>
            <a:pPr>
              <a:spcBef>
                <a:spcPts val="600"/>
              </a:spcBef>
            </a:pPr>
            <a:r>
              <a:rPr lang="en-IN" b="1" dirty="0"/>
              <a:t>This avoids: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External API dependency risks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leakage concerns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Complex integration pipelines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995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Governance &amp; Security Architecture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Cortex strictly follows Snowflake’s governance model: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Role-Based Access Control (RBAC)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Object-level and column-level security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masking and row-level access rules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views and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AI processes cannot access data beyond assigned privileges.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usage respects existing access policies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Model execution is auditable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Metadata and lineage are preserved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outputs are traceable back to source data</a:t>
            </a:r>
          </a:p>
          <a:p>
            <a:pPr>
              <a:spcBef>
                <a:spcPts val="600"/>
              </a:spcBef>
            </a:pPr>
            <a:r>
              <a:rPr lang="en-US" dirty="0"/>
              <a:t>This ensures regulatory compliance and enterprise trust.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2380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Governance &amp; Security Architecture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Cortex strictly follows Snowflake’s governance model: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Role-Based Access Control (RBAC)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Object-level and column-level security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 masking and row-level access rules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Secure views and policies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AI processes cannot access data beyond assigned privileges.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usage respects existing access policies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Model execution is auditable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Metadata and lineage are preserved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outputs are traceable back to source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This ensures regulatory compliance and enterprise trust.</a:t>
            </a:r>
          </a:p>
          <a:p>
            <a:pPr>
              <a:spcBef>
                <a:spcPts val="600"/>
              </a:spcBef>
            </a:pPr>
            <a:r>
              <a:rPr lang="en-US" b="1" dirty="0"/>
              <a:t>Privacy &amp; Compliance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Cortex is designed to meet enterprise compliance standards: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unauthorized data export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training on customer data unless explicitly configured</a:t>
            </a:r>
          </a:p>
        </p:txBody>
      </p:sp>
    </p:spTree>
    <p:extLst>
      <p:ext uri="{BB962C8B-B14F-4D97-AF65-F5344CB8AC3E}">
        <p14:creationId xmlns:p14="http://schemas.microsoft.com/office/powerpoint/2010/main" val="17634840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Integration with Snowflake Ecosystem</a:t>
            </a:r>
          </a:p>
          <a:p>
            <a:pPr>
              <a:spcBef>
                <a:spcPts val="600"/>
              </a:spcBef>
            </a:pPr>
            <a:r>
              <a:rPr lang="en-US" b="1" dirty="0"/>
              <a:t>Analytics &amp; BI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Cortex integrates seamlessly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SQL analytics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Dashboards and reporting tools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Natural language querying layers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insights become part of standard analytics workflows.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Data Engineering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Works with structured, semi-structured, and unstructured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pipelines built using Snowflake-native tools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Operates alongside transformation and orchestration layers</a:t>
            </a:r>
          </a:p>
        </p:txBody>
      </p:sp>
    </p:spTree>
    <p:extLst>
      <p:ext uri="{BB962C8B-B14F-4D97-AF65-F5344CB8AC3E}">
        <p14:creationId xmlns:p14="http://schemas.microsoft.com/office/powerpoint/2010/main" val="268146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Performance &amp; Scalability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Snowflake Cortex benefits from: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Snowflake’s elastic compute model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scaling and workload isolation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infrastructure provisioning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Predictable performance under enterprise loads</a:t>
            </a:r>
          </a:p>
          <a:p>
            <a:pPr>
              <a:spcBef>
                <a:spcPts val="600"/>
              </a:spcBef>
            </a:pPr>
            <a:r>
              <a:rPr lang="en-US" dirty="0"/>
              <a:t>AI workloads scale independently and efficiently.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Cost Management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Cortex follows Snowflake’s consumption-based pricing philosophy: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Pay for usage, not capacity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idle infrastructure cost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Transparent billing aligned with compute consumption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Easier forecasting and chargeback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aligns AI costs with business value delivered.</a:t>
            </a:r>
          </a:p>
        </p:txBody>
      </p:sp>
    </p:spTree>
    <p:extLst>
      <p:ext uri="{BB962C8B-B14F-4D97-AF65-F5344CB8AC3E}">
        <p14:creationId xmlns:p14="http://schemas.microsoft.com/office/powerpoint/2010/main" val="13050851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D8CE0B-8A92-B929-29A0-8D259054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65738"/>
              </p:ext>
            </p:extLst>
          </p:nvPr>
        </p:nvGraphicFramePr>
        <p:xfrm>
          <a:off x="292608" y="413266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175453088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0252800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86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AI runs where data lives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506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Inherits Snowflake’s security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33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Centralized, policy-driven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3681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Fully managed, serverless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029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Elastic and cloud-native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902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Accessible to non-ML experts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804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611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Core Components</a:t>
            </a:r>
          </a:p>
          <a:p>
            <a:r>
              <a:rPr lang="en-IN" b="1" dirty="0"/>
              <a:t>Cortex AI Functions</a:t>
            </a:r>
            <a:r>
              <a:rPr lang="en-IN" dirty="0"/>
              <a:t>: Ready-to-use LLM functions accessible via SQL or Python for common tasks: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COMPLETE: Generates text based on a prompt using models like Llama, Claude, and Mistral.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TRANSLATE: Converts text between languages (e.g., English, German, French, Japanese).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SENTIMENT: Scores text from -1 (negative) to 1 (positive).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SUMMARIZE: Condenses long-form text into concise summaries.</a:t>
            </a:r>
          </a:p>
          <a:p>
            <a:endParaRPr lang="en-IN" dirty="0"/>
          </a:p>
          <a:p>
            <a:r>
              <a:rPr lang="en-IN" b="1" dirty="0"/>
              <a:t>Cortex Analyst:</a:t>
            </a:r>
            <a:r>
              <a:rPr lang="en-IN" dirty="0"/>
              <a:t> A conversational interface that allows business users to ask questions about structured data in natural language, which is then converted into accurate SQL queries using a semantic model.</a:t>
            </a:r>
          </a:p>
          <a:p>
            <a:endParaRPr lang="en-IN" dirty="0"/>
          </a:p>
          <a:p>
            <a:r>
              <a:rPr lang="en-IN" b="1" dirty="0"/>
              <a:t>Cortex Search:</a:t>
            </a:r>
            <a:r>
              <a:rPr lang="en-IN" dirty="0"/>
              <a:t> A hybrid search service (combining semantic and keyword search) designed for high-performance retrieval-augmented generation (RAG) applications over unstructured data like documents.</a:t>
            </a:r>
          </a:p>
          <a:p>
            <a:endParaRPr lang="en-IN" dirty="0"/>
          </a:p>
          <a:p>
            <a:r>
              <a:rPr lang="en-IN" b="1" dirty="0"/>
              <a:t>Cortex Agents: </a:t>
            </a:r>
            <a:r>
              <a:rPr lang="en-IN" dirty="0"/>
              <a:t>Intelligent agents that orchestrate across both structured (Analyst) and unstructured (Search) sources to answer complex, multi-step business queries.</a:t>
            </a:r>
          </a:p>
          <a:p>
            <a:endParaRPr lang="en-IN" b="1" dirty="0"/>
          </a:p>
          <a:p>
            <a:r>
              <a:rPr lang="en-IN" b="1" dirty="0"/>
              <a:t>Cortex Fine-Tuning: </a:t>
            </a:r>
            <a:r>
              <a:rPr lang="en-IN" dirty="0"/>
              <a:t>A managed service that allows users to customize base LLMs with their own data to improve performance on domain-specific tasks while reducing latency and cost. </a:t>
            </a:r>
          </a:p>
        </p:txBody>
      </p:sp>
    </p:spTree>
    <p:extLst>
      <p:ext uri="{BB962C8B-B14F-4D97-AF65-F5344CB8AC3E}">
        <p14:creationId xmlns:p14="http://schemas.microsoft.com/office/powerpoint/2010/main" val="833414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Developer Tools</a:t>
            </a:r>
          </a:p>
          <a:p>
            <a:pPr>
              <a:spcBef>
                <a:spcPts val="600"/>
              </a:spcBef>
            </a:pPr>
            <a:r>
              <a:rPr lang="en-IN" dirty="0"/>
              <a:t>Cortex Playground: A visual interface in </a:t>
            </a:r>
            <a:r>
              <a:rPr lang="en-IN" dirty="0" err="1"/>
              <a:t>Snowsight</a:t>
            </a:r>
            <a:r>
              <a:rPr lang="en-IN" dirty="0"/>
              <a:t> (AI &amp; ML Studio) to test, compare, and refine prompts across different LLMs before deployment.</a:t>
            </a:r>
          </a:p>
          <a:p>
            <a:pPr>
              <a:spcBef>
                <a:spcPts val="600"/>
              </a:spcBef>
            </a:pPr>
            <a:r>
              <a:rPr lang="en-IN" b="1" dirty="0"/>
              <a:t>AI Observability: </a:t>
            </a:r>
            <a:r>
              <a:rPr lang="en-IN" dirty="0"/>
              <a:t>Features for tracing, evaluating, and benchmarking AI applications to ensure accuracy and cost-efficiency using "LLM-as-a-judge" techniques.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Cortex REST API: </a:t>
            </a:r>
            <a:r>
              <a:rPr lang="en-IN" dirty="0"/>
              <a:t>Enables developers to integrate Cortex AI capabilities into external custom applications using standard HTTP requests.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9580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Cortex AI Functions</a:t>
            </a:r>
          </a:p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Google Sans"/>
              </a:rPr>
              <a:t>Cortex AI Functions</a:t>
            </a:r>
            <a:r>
              <a:rPr lang="en-US" b="0" i="0" dirty="0">
                <a:effectLst/>
                <a:latin typeface="Google Sans"/>
              </a:rPr>
              <a:t>: Ready-to-use LLM functions accessible via SQL or Python for common tasks: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Cortex Function Categories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LLM &amp; Text Generation Functions use for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Summarization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Explanation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Content creation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Chatbots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Report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1304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COMPLETE() </a:t>
            </a:r>
            <a:r>
              <a:rPr lang="en-US" dirty="0"/>
              <a:t>as a serverless SQL function that calls a Large Language Model (LLM) to generate text completions—summaries, explanations, rewrites, SQL help, classifications, and more—directly inside Snowflake.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COMPLETE() does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Takes a prompt (text) as input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Sends it to an LLM hosted/managed by Snowflake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Returns generated text as a SQL result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IN" dirty="0"/>
              <a:t>Syntax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SNOWFLAKE.CORTEX.COMPLETE(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   </a:t>
            </a:r>
            <a:r>
              <a:rPr lang="en-IN" dirty="0" err="1"/>
              <a:t>model_name</a:t>
            </a:r>
            <a:r>
              <a:rPr lang="en-IN" dirty="0"/>
              <a:t>,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   prompt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)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9881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4B674E-315B-9440-5609-665C993C3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855072"/>
              </p:ext>
            </p:extLst>
          </p:nvPr>
        </p:nvGraphicFramePr>
        <p:xfrm>
          <a:off x="658368" y="573945"/>
          <a:ext cx="9390888" cy="2194560"/>
        </p:xfrm>
        <a:graphic>
          <a:graphicData uri="http://schemas.openxmlformats.org/drawingml/2006/table">
            <a:tbl>
              <a:tblPr/>
              <a:tblGrid>
                <a:gridCol w="4695444">
                  <a:extLst>
                    <a:ext uri="{9D8B030D-6E8A-4147-A177-3AD203B41FA5}">
                      <a16:colId xmlns:a16="http://schemas.microsoft.com/office/drawing/2014/main" val="4265953440"/>
                    </a:ext>
                  </a:extLst>
                </a:gridCol>
                <a:gridCol w="4695444">
                  <a:extLst>
                    <a:ext uri="{9D8B030D-6E8A-4147-A177-3AD203B41FA5}">
                      <a16:colId xmlns:a16="http://schemas.microsoft.com/office/drawing/2014/main" val="25554474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How COMPLETE()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0141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Data summarization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Summarize reports, logs, 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830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SQL explanation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Explain complex SQL to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950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Text rewriting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Formalize emails, simplify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767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Documentation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Auto-generate column or table descriptions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4906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Analytics narratives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Convert numbers into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3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9562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8CC08-5024-F35B-1FCA-154C2C971B5B}"/>
              </a:ext>
            </a:extLst>
          </p:cNvPr>
          <p:cNvSpPr txBox="1"/>
          <p:nvPr/>
        </p:nvSpPr>
        <p:spPr>
          <a:xfrm>
            <a:off x="395478" y="413266"/>
            <a:ext cx="1156487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CLASSIFY_TEXT()?</a:t>
            </a:r>
          </a:p>
          <a:p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SNOWFLAKE.CORTEX.CLASSIFY_TEXT() is an AI function that classifies text into one predefined category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Used for intent detection, tagging, routing, and categorization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Returns the best matching label from your list</a:t>
            </a:r>
          </a:p>
          <a:p>
            <a:endParaRPr lang="en-IN" dirty="0"/>
          </a:p>
          <a:p>
            <a:r>
              <a:rPr lang="en-IN" dirty="0"/>
              <a:t>When to Use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Support ticket routing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Email / feedback classification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Expense narration tagging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Review or comment categorization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A9B1C-F795-C469-7CA4-CB1A78E8273C}"/>
              </a:ext>
            </a:extLst>
          </p:cNvPr>
          <p:cNvSpPr txBox="1"/>
          <p:nvPr/>
        </p:nvSpPr>
        <p:spPr>
          <a:xfrm>
            <a:off x="642366" y="459228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SNOWFLAKE.CORTEX.CLASSIFY_TEXT(</a:t>
            </a:r>
          </a:p>
          <a:p>
            <a:r>
              <a:rPr lang="en-IN" dirty="0"/>
              <a:t>  &lt;text&gt;,</a:t>
            </a:r>
          </a:p>
          <a:p>
            <a:r>
              <a:rPr lang="en-IN" dirty="0"/>
              <a:t>  &lt;categories&gt;,</a:t>
            </a:r>
          </a:p>
          <a:p>
            <a:r>
              <a:rPr lang="en-IN" dirty="0"/>
              <a:t>  [options]</a:t>
            </a:r>
          </a:p>
          <a:p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2548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A9B1C-F795-C469-7CA4-CB1A78E8273C}"/>
              </a:ext>
            </a:extLst>
          </p:cNvPr>
          <p:cNvSpPr txBox="1"/>
          <p:nvPr/>
        </p:nvSpPr>
        <p:spPr>
          <a:xfrm>
            <a:off x="505206" y="40619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TRANSLATE(</a:t>
            </a:r>
          </a:p>
          <a:p>
            <a:r>
              <a:rPr lang="en-IN" dirty="0"/>
              <a:t>   &lt;text&gt;,</a:t>
            </a:r>
          </a:p>
          <a:p>
            <a:r>
              <a:rPr lang="en-IN" dirty="0"/>
              <a:t>   &lt;</a:t>
            </a:r>
            <a:r>
              <a:rPr lang="en-IN" dirty="0" err="1"/>
              <a:t>source_language</a:t>
            </a:r>
            <a:r>
              <a:rPr lang="en-IN" dirty="0"/>
              <a:t>&gt;,</a:t>
            </a:r>
          </a:p>
          <a:p>
            <a:r>
              <a:rPr lang="en-IN" dirty="0"/>
              <a:t>   &lt;</a:t>
            </a:r>
            <a:r>
              <a:rPr lang="en-IN" dirty="0" err="1"/>
              <a:t>target_language</a:t>
            </a:r>
            <a:r>
              <a:rPr lang="en-IN" dirty="0"/>
              <a:t>&gt;</a:t>
            </a:r>
          </a:p>
          <a:p>
            <a:r>
              <a:rPr lang="en-IN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2BC4C-529C-16F0-586D-E94DB632D471}"/>
              </a:ext>
            </a:extLst>
          </p:cNvPr>
          <p:cNvSpPr txBox="1"/>
          <p:nvPr/>
        </p:nvSpPr>
        <p:spPr>
          <a:xfrm>
            <a:off x="569214" y="624358"/>
            <a:ext cx="1016584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TRANSLATE()</a:t>
            </a:r>
            <a:r>
              <a:rPr lang="en-IN" dirty="0"/>
              <a:t> is a Cortex AI function used to translate text from one language to another using </a:t>
            </a:r>
          </a:p>
          <a:p>
            <a:pPr>
              <a:spcBef>
                <a:spcPts val="600"/>
              </a:spcBef>
            </a:pPr>
            <a:r>
              <a:rPr lang="en-IN" dirty="0"/>
              <a:t>large language models.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Key Capabilities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Works on VARCHAR / TEXT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Supports 100+ languages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Handles sentences, paragraphs, business text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Runs fully inside Snowflake</a:t>
            </a:r>
          </a:p>
        </p:txBody>
      </p:sp>
    </p:spTree>
    <p:extLst>
      <p:ext uri="{BB962C8B-B14F-4D97-AF65-F5344CB8AC3E}">
        <p14:creationId xmlns:p14="http://schemas.microsoft.com/office/powerpoint/2010/main" val="2939759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7" y="285988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Language Codes (Examples)</a:t>
            </a:r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15B99C-67BC-0A25-296B-53C1BA113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49440"/>
              </p:ext>
            </p:extLst>
          </p:nvPr>
        </p:nvGraphicFramePr>
        <p:xfrm>
          <a:off x="621792" y="747681"/>
          <a:ext cx="10131424" cy="29260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69440180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452935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2795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9961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Hindi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704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Tamil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790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Telugu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394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French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1490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German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393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Spanish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6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0318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What is SNOWFLAKE.CORTEX.SENTIMENT?</a:t>
            </a:r>
          </a:p>
          <a:p>
            <a:pPr>
              <a:spcBef>
                <a:spcPts val="600"/>
              </a:spcBef>
            </a:pPr>
            <a:r>
              <a:rPr lang="en-IN" dirty="0"/>
              <a:t>SNOWFLAKE.CORTEX.SENTIMENT is an AI function that </a:t>
            </a:r>
            <a:r>
              <a:rPr lang="en-IN" dirty="0" err="1"/>
              <a:t>analyzes</a:t>
            </a:r>
            <a:r>
              <a:rPr lang="en-IN" dirty="0"/>
              <a:t> text and determines the emotional tone of the content.</a:t>
            </a:r>
          </a:p>
          <a:p>
            <a:pPr>
              <a:spcBef>
                <a:spcPts val="600"/>
              </a:spcBef>
            </a:pPr>
            <a:r>
              <a:rPr lang="en-IN" dirty="0"/>
              <a:t>It answers: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“Is this text Positive, Negative, or Neutral?”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Works directly in SQL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No model training required</a:t>
            </a:r>
          </a:p>
          <a:p>
            <a:pPr>
              <a:spcBef>
                <a:spcPts val="600"/>
              </a:spcBef>
            </a:pPr>
            <a:r>
              <a:rPr lang="en-IN" dirty="0"/>
              <a:t>Uses Snowflake-managed Large Language Models (LLMs)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Why Sentiment Analysis Matters (Business Context)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Common business questions: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Are customers happy or unhappy?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Which products generate negative feedback?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Are complaints increasing month-over-month?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What is the overall mood of users?</a:t>
            </a:r>
          </a:p>
          <a:p>
            <a:pPr>
              <a:spcBef>
                <a:spcPts val="600"/>
              </a:spcBef>
            </a:pPr>
            <a:r>
              <a:rPr lang="en-IN" dirty="0"/>
              <a:t>Cortex SENTIMENT solves this at scale inside Snowflake.</a:t>
            </a:r>
          </a:p>
        </p:txBody>
      </p:sp>
    </p:spTree>
    <p:extLst>
      <p:ext uri="{BB962C8B-B14F-4D97-AF65-F5344CB8AC3E}">
        <p14:creationId xmlns:p14="http://schemas.microsoft.com/office/powerpoint/2010/main" val="9590848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Function Syntax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SNOWFLAKE.CORTEX.SENTIMENT(&lt;text&gt;)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Input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STRING / VARCHAR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a literal or column value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Output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POSITIVE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NEGATIVE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NEUTRAL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DF8265-0537-65F3-DEB1-1C4E16C0A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020241"/>
              </p:ext>
            </p:extLst>
          </p:nvPr>
        </p:nvGraphicFramePr>
        <p:xfrm>
          <a:off x="402336" y="4478433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73957358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20296674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Score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385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+0.25 to 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9422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–0.25 to +0.25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Neutral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388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–1 to –0.25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03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753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What is EXTRACT_ANSWER()?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SNOWFLAKE.CORTEX.EXTRACT_ANSWER() is a question-answer extraction function.</a:t>
            </a:r>
          </a:p>
          <a:p>
            <a:pPr>
              <a:spcBef>
                <a:spcPts val="600"/>
              </a:spcBef>
            </a:pPr>
            <a:r>
              <a:rPr lang="en-US" dirty="0"/>
              <a:t>It reads a given passage of text and extracts the most relevant answer to a specific question — without generating new content.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Think of it as “find the answer inside this text”.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Basic Syntax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SNOWFLAKE.CORTEX.EXTRACT_ANSWER(</a:t>
            </a:r>
          </a:p>
          <a:p>
            <a:pPr>
              <a:spcBef>
                <a:spcPts val="600"/>
              </a:spcBef>
            </a:pPr>
            <a:r>
              <a:rPr lang="en-US" dirty="0"/>
              <a:t>  &lt;</a:t>
            </a:r>
            <a:r>
              <a:rPr lang="en-US" dirty="0" err="1"/>
              <a:t>context_text</a:t>
            </a:r>
            <a:r>
              <a:rPr lang="en-US" dirty="0"/>
              <a:t>&gt;,</a:t>
            </a:r>
          </a:p>
          <a:p>
            <a:pPr>
              <a:spcBef>
                <a:spcPts val="600"/>
              </a:spcBef>
            </a:pPr>
            <a:r>
              <a:rPr lang="en-US" dirty="0"/>
              <a:t>  &lt;question&gt;</a:t>
            </a:r>
          </a:p>
          <a:p>
            <a:pPr>
              <a:spcBef>
                <a:spcPts val="600"/>
              </a:spcBef>
            </a:pP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2220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Snowflake </a:t>
            </a:r>
            <a:r>
              <a:rPr lang="en-US" b="1" dirty="0" err="1"/>
              <a:t>Streamlit</a:t>
            </a:r>
            <a:r>
              <a:rPr lang="en-US" dirty="0"/>
              <a:t> is the </a:t>
            </a:r>
            <a:r>
              <a:rPr lang="en-US" b="1" dirty="0"/>
              <a:t>native integration of </a:t>
            </a:r>
            <a:r>
              <a:rPr lang="en-US" b="1" dirty="0" err="1"/>
              <a:t>Streamlit</a:t>
            </a:r>
            <a:r>
              <a:rPr lang="en-US" b="1" dirty="0"/>
              <a:t> inside Snowflake</a:t>
            </a:r>
            <a:r>
              <a:rPr lang="en-US" dirty="0"/>
              <a:t>, allowing you to: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Build </a:t>
            </a:r>
            <a:r>
              <a:rPr lang="en-US" b="1" dirty="0"/>
              <a:t>interactive dashboards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Python only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Run apps </a:t>
            </a:r>
            <a:r>
              <a:rPr lang="en-US" b="1" dirty="0"/>
              <a:t>inside Snowflake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Securely access Snowflake data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Think of it as </a:t>
            </a:r>
            <a:r>
              <a:rPr lang="en-US" b="1" dirty="0"/>
              <a:t>BI + Python + Governance</a:t>
            </a:r>
            <a:r>
              <a:rPr lang="en-US" dirty="0"/>
              <a:t> in one platform.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Why Snowflake Introduced </a:t>
            </a:r>
            <a:r>
              <a:rPr lang="en-IN" b="1" dirty="0" err="1"/>
              <a:t>Streamlit</a:t>
            </a: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Traditional BI challenges: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Complex licensing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Separate data movement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Weak AI integration</a:t>
            </a:r>
          </a:p>
          <a:p>
            <a:pPr>
              <a:spcBef>
                <a:spcPts val="600"/>
              </a:spcBef>
            </a:pPr>
            <a:r>
              <a:rPr lang="en-IN" b="1" dirty="0"/>
              <a:t>Snowflake </a:t>
            </a:r>
            <a:r>
              <a:rPr lang="en-IN" b="1" dirty="0" err="1"/>
              <a:t>Streamlit</a:t>
            </a:r>
            <a:r>
              <a:rPr lang="en-IN" b="1" dirty="0"/>
              <a:t> solves: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Custom business logic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Secure in-platform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Real-time analytics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AI-ready applications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425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D0415-1FA6-D972-E848-D4D4101A2BE1}"/>
              </a:ext>
            </a:extLst>
          </p:cNvPr>
          <p:cNvSpPr txBox="1"/>
          <p:nvPr/>
        </p:nvSpPr>
        <p:spPr>
          <a:xfrm>
            <a:off x="450342" y="539925"/>
            <a:ext cx="60944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</a:t>
            </a:r>
            <a:r>
              <a:rPr lang="en-IN" b="1" dirty="0" err="1"/>
              <a:t>Streamlit</a:t>
            </a:r>
            <a:r>
              <a:rPr lang="en-IN" b="1" dirty="0"/>
              <a:t> Architecture</a:t>
            </a:r>
          </a:p>
          <a:p>
            <a:endParaRPr lang="en-IN" dirty="0"/>
          </a:p>
          <a:p>
            <a:pPr lvl="2"/>
            <a:r>
              <a:rPr lang="en-IN" dirty="0"/>
              <a:t>User Browser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Snowflake UI (</a:t>
            </a:r>
            <a:r>
              <a:rPr lang="en-IN" dirty="0" err="1"/>
              <a:t>Streamlit</a:t>
            </a:r>
            <a:r>
              <a:rPr lang="en-IN" dirty="0"/>
              <a:t> App)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Snowpark Python Runtime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Snowflake Tables / Views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✔ Runs inside Snowflake</a:t>
            </a:r>
          </a:p>
          <a:p>
            <a:r>
              <a:rPr lang="en-IN" dirty="0"/>
              <a:t>✔ Uses logged-in user’s role</a:t>
            </a:r>
          </a:p>
          <a:p>
            <a:r>
              <a:rPr lang="en-IN" dirty="0"/>
              <a:t>✔ Fully governed</a:t>
            </a:r>
          </a:p>
        </p:txBody>
      </p:sp>
    </p:spTree>
    <p:extLst>
      <p:ext uri="{BB962C8B-B14F-4D97-AF65-F5344CB8AC3E}">
        <p14:creationId xmlns:p14="http://schemas.microsoft.com/office/powerpoint/2010/main" val="1780827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D0415-1FA6-D972-E848-D4D4101A2BE1}"/>
              </a:ext>
            </a:extLst>
          </p:cNvPr>
          <p:cNvSpPr txBox="1"/>
          <p:nvPr/>
        </p:nvSpPr>
        <p:spPr>
          <a:xfrm>
            <a:off x="450342" y="53992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Slide 6: How It Differs from Open-Source </a:t>
            </a:r>
            <a:r>
              <a:rPr lang="en-US" b="1" dirty="0" err="1"/>
              <a:t>Streamlit</a:t>
            </a:r>
            <a:endParaRPr lang="en-US" b="1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BF2C76-7491-2C18-B639-872952BF8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81189"/>
              </p:ext>
            </p:extLst>
          </p:nvPr>
        </p:nvGraphicFramePr>
        <p:xfrm>
          <a:off x="450342" y="1234440"/>
          <a:ext cx="8556498" cy="2194560"/>
        </p:xfrm>
        <a:graphic>
          <a:graphicData uri="http://schemas.openxmlformats.org/drawingml/2006/table">
            <a:tbl>
              <a:tblPr/>
              <a:tblGrid>
                <a:gridCol w="2852166">
                  <a:extLst>
                    <a:ext uri="{9D8B030D-6E8A-4147-A177-3AD203B41FA5}">
                      <a16:colId xmlns:a16="http://schemas.microsoft.com/office/drawing/2014/main" val="1957615528"/>
                    </a:ext>
                  </a:extLst>
                </a:gridCol>
                <a:gridCol w="2852166">
                  <a:extLst>
                    <a:ext uri="{9D8B030D-6E8A-4147-A177-3AD203B41FA5}">
                      <a16:colId xmlns:a16="http://schemas.microsoft.com/office/drawing/2014/main" val="1618605064"/>
                    </a:ext>
                  </a:extLst>
                </a:gridCol>
                <a:gridCol w="2852166">
                  <a:extLst>
                    <a:ext uri="{9D8B030D-6E8A-4147-A177-3AD203B41FA5}">
                      <a16:colId xmlns:a16="http://schemas.microsoft.com/office/drawing/2014/main" val="10612621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Open 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Snowflake 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7657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Inside 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494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0948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Credentials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Not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3827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 RBAC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578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Data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75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0070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1248E8-92DC-B766-2411-BDAB432B2D59}"/>
              </a:ext>
            </a:extLst>
          </p:cNvPr>
          <p:cNvSpPr txBox="1"/>
          <p:nvPr/>
        </p:nvSpPr>
        <p:spPr>
          <a:xfrm>
            <a:off x="496062" y="474345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UI Components</a:t>
            </a:r>
          </a:p>
          <a:p>
            <a:r>
              <a:rPr lang="en-IN" b="1" dirty="0"/>
              <a:t>Display</a:t>
            </a:r>
          </a:p>
          <a:p>
            <a:r>
              <a:rPr lang="en-IN" dirty="0"/>
              <a:t>	</a:t>
            </a:r>
            <a:r>
              <a:rPr lang="en-IN" dirty="0" err="1"/>
              <a:t>st.title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st.header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st.metric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st.markdown</a:t>
            </a:r>
            <a:r>
              <a:rPr lang="en-IN" dirty="0"/>
              <a:t>()</a:t>
            </a:r>
          </a:p>
          <a:p>
            <a:r>
              <a:rPr lang="en-IN" b="1" dirty="0"/>
              <a:t>Data</a:t>
            </a:r>
            <a:r>
              <a:rPr lang="en-IN" dirty="0"/>
              <a:t>	</a:t>
            </a:r>
            <a:r>
              <a:rPr lang="en-IN" dirty="0" err="1"/>
              <a:t>st.dataframe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st.table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Input Controls</a:t>
            </a:r>
          </a:p>
          <a:p>
            <a:r>
              <a:rPr lang="en-IN" dirty="0"/>
              <a:t>	</a:t>
            </a:r>
            <a:r>
              <a:rPr lang="en-IN" dirty="0" err="1"/>
              <a:t>st.selectbox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st.multiselect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st.date_input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st.slider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st.button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Used for:</a:t>
            </a:r>
          </a:p>
          <a:p>
            <a:r>
              <a:rPr lang="en-IN" dirty="0"/>
              <a:t>	Date filters</a:t>
            </a:r>
          </a:p>
          <a:p>
            <a:r>
              <a:rPr lang="en-IN" dirty="0"/>
              <a:t>	Region selection</a:t>
            </a:r>
          </a:p>
          <a:p>
            <a:r>
              <a:rPr lang="en-IN" dirty="0"/>
              <a:t>	KPI slicing</a:t>
            </a:r>
          </a:p>
          <a:p>
            <a:r>
              <a:rPr lang="en-IN" dirty="0"/>
              <a:t>	Drill-downs</a:t>
            </a:r>
          </a:p>
        </p:txBody>
      </p:sp>
    </p:spTree>
    <p:extLst>
      <p:ext uri="{BB962C8B-B14F-4D97-AF65-F5344CB8AC3E}">
        <p14:creationId xmlns:p14="http://schemas.microsoft.com/office/powerpoint/2010/main" val="21879562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1248E8-92DC-B766-2411-BDAB432B2D59}"/>
              </a:ext>
            </a:extLst>
          </p:cNvPr>
          <p:cNvSpPr txBox="1"/>
          <p:nvPr/>
        </p:nvSpPr>
        <p:spPr>
          <a:xfrm>
            <a:off x="496062" y="474345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Layout Management</a:t>
            </a:r>
          </a:p>
          <a:p>
            <a:r>
              <a:rPr lang="en-IN" dirty="0"/>
              <a:t>	</a:t>
            </a:r>
            <a:r>
              <a:rPr lang="en-IN" dirty="0" err="1"/>
              <a:t>st.columns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st.container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st.sidebar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st.expander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77056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{04468A7E-B669-4DE0-85AB-C388E7CF73F0}tf03457452</Template>
  <TotalTime>7201</TotalTime>
  <Words>7592</Words>
  <Application>Microsoft Office PowerPoint</Application>
  <PresentationFormat>Widescreen</PresentationFormat>
  <Paragraphs>1425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4" baseType="lpstr">
      <vt:lpstr>Aptos</vt:lpstr>
      <vt:lpstr>Arial</vt:lpstr>
      <vt:lpstr>Calibri</vt:lpstr>
      <vt:lpstr>Calibri Light</vt:lpstr>
      <vt:lpstr>Google Sans</vt:lpstr>
      <vt:lpstr>Segoe UI</vt:lpstr>
      <vt:lpstr>Celestial</vt:lpstr>
      <vt:lpstr>Snowflake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13</cp:revision>
  <dcterms:created xsi:type="dcterms:W3CDTF">2025-09-01T11:43:39Z</dcterms:created>
  <dcterms:modified xsi:type="dcterms:W3CDTF">2026-01-02T05:22:05Z</dcterms:modified>
</cp:coreProperties>
</file>