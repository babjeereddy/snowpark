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74" d="100"/>
          <a:sy n="74" d="100"/>
        </p:scale>
        <p:origin x="376" y="152"/>
      </p:cViewPr>
      <p:guideLst/>
    </p:cSldViewPr>
  </p:slideViewPr>
  <p:notesTextViewPr>
    <p:cViewPr>
      <p:scale>
        <a:sx n="1" d="1"/>
        <a:sy n="1" d="1"/>
      </p:scale>
      <p:origin x="0" y="0"/>
    </p:cViewPr>
  </p:notesTextViewPr>
  <p:notesViewPr>
    <p:cSldViewPr snapToGrid="0">
      <p:cViewPr varScale="1">
        <p:scale>
          <a:sx n="56" d="100"/>
          <a:sy n="56" d="100"/>
        </p:scale>
        <p:origin x="2588" y="5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nnamreddybabjee@outlook.com" userId="3e261792aa522278" providerId="LiveId" clId="{09623748-5923-44FF-A1FC-B4D536943BBC}"/>
    <pc:docChg chg="custSel addSld modSld sldOrd">
      <pc:chgData name="ponnamreddybabjee@outlook.com" userId="3e261792aa522278" providerId="LiveId" clId="{09623748-5923-44FF-A1FC-B4D536943BBC}" dt="2026-01-21T01:28:23.369" v="227" actId="113"/>
      <pc:docMkLst>
        <pc:docMk/>
      </pc:docMkLst>
      <pc:sldChg chg="modSp mod">
        <pc:chgData name="ponnamreddybabjee@outlook.com" userId="3e261792aa522278" providerId="LiveId" clId="{09623748-5923-44FF-A1FC-B4D536943BBC}" dt="2026-01-13T03:33:07.975" v="14" actId="113"/>
        <pc:sldMkLst>
          <pc:docMk/>
          <pc:sldMk cId="3415911409" sldId="257"/>
        </pc:sldMkLst>
        <pc:spChg chg="mod">
          <ac:chgData name="ponnamreddybabjee@outlook.com" userId="3e261792aa522278" providerId="LiveId" clId="{09623748-5923-44FF-A1FC-B4D536943BBC}" dt="2026-01-13T03:33:07.975" v="14" actId="113"/>
          <ac:spMkLst>
            <pc:docMk/>
            <pc:sldMk cId="3415911409" sldId="257"/>
            <ac:spMk id="21" creationId="{10B67BFA-0719-9116-EA9A-E31B11C465C2}"/>
          </ac:spMkLst>
        </pc:spChg>
      </pc:sldChg>
      <pc:sldChg chg="modSp mod">
        <pc:chgData name="ponnamreddybabjee@outlook.com" userId="3e261792aa522278" providerId="LiveId" clId="{09623748-5923-44FF-A1FC-B4D536943BBC}" dt="2026-01-13T03:29:31.771" v="3" actId="1076"/>
        <pc:sldMkLst>
          <pc:docMk/>
          <pc:sldMk cId="3485332248" sldId="262"/>
        </pc:sldMkLst>
        <pc:spChg chg="mod">
          <ac:chgData name="ponnamreddybabjee@outlook.com" userId="3e261792aa522278" providerId="LiveId" clId="{09623748-5923-44FF-A1FC-B4D536943BBC}" dt="2026-01-13T03:29:23.010" v="2" actId="115"/>
          <ac:spMkLst>
            <pc:docMk/>
            <pc:sldMk cId="3485332248" sldId="262"/>
            <ac:spMk id="5" creationId="{4F6E562D-4868-BCAE-9506-70BCB73E4193}"/>
          </ac:spMkLst>
        </pc:spChg>
        <pc:spChg chg="mod">
          <ac:chgData name="ponnamreddybabjee@outlook.com" userId="3e261792aa522278" providerId="LiveId" clId="{09623748-5923-44FF-A1FC-B4D536943BBC}" dt="2026-01-13T03:29:31.771" v="3" actId="1076"/>
          <ac:spMkLst>
            <pc:docMk/>
            <pc:sldMk cId="3485332248" sldId="262"/>
            <ac:spMk id="7" creationId="{E4FCEA45-313A-95ED-3869-348C8DB8FA7E}"/>
          </ac:spMkLst>
        </pc:spChg>
      </pc:sldChg>
      <pc:sldChg chg="modSp mod">
        <pc:chgData name="ponnamreddybabjee@outlook.com" userId="3e261792aa522278" providerId="LiveId" clId="{09623748-5923-44FF-A1FC-B4D536943BBC}" dt="2026-01-13T03:30:30.400" v="5" actId="6549"/>
        <pc:sldMkLst>
          <pc:docMk/>
          <pc:sldMk cId="275159514" sldId="263"/>
        </pc:sldMkLst>
        <pc:spChg chg="mod">
          <ac:chgData name="ponnamreddybabjee@outlook.com" userId="3e261792aa522278" providerId="LiveId" clId="{09623748-5923-44FF-A1FC-B4D536943BBC}" dt="2026-01-13T03:30:30.400" v="5" actId="6549"/>
          <ac:spMkLst>
            <pc:docMk/>
            <pc:sldMk cId="275159514" sldId="263"/>
            <ac:spMk id="5" creationId="{4F6E562D-4868-BCAE-9506-70BCB73E4193}"/>
          </ac:spMkLst>
        </pc:spChg>
      </pc:sldChg>
      <pc:sldChg chg="delSp modSp mod">
        <pc:chgData name="ponnamreddybabjee@outlook.com" userId="3e261792aa522278" providerId="LiveId" clId="{09623748-5923-44FF-A1FC-B4D536943BBC}" dt="2026-01-13T03:32:42.342" v="12" actId="113"/>
        <pc:sldMkLst>
          <pc:docMk/>
          <pc:sldMk cId="426746164" sldId="271"/>
        </pc:sldMkLst>
        <pc:spChg chg="mod">
          <ac:chgData name="ponnamreddybabjee@outlook.com" userId="3e261792aa522278" providerId="LiveId" clId="{09623748-5923-44FF-A1FC-B4D536943BBC}" dt="2026-01-13T03:32:42.342" v="12" actId="113"/>
          <ac:spMkLst>
            <pc:docMk/>
            <pc:sldMk cId="426746164" sldId="271"/>
            <ac:spMk id="4" creationId="{2DED2A01-7654-D8E6-F1BE-61A98FDC6843}"/>
          </ac:spMkLst>
        </pc:spChg>
        <pc:picChg chg="del">
          <ac:chgData name="ponnamreddybabjee@outlook.com" userId="3e261792aa522278" providerId="LiveId" clId="{09623748-5923-44FF-A1FC-B4D536943BBC}" dt="2026-01-13T03:31:00.292" v="6" actId="478"/>
          <ac:picMkLst>
            <pc:docMk/>
            <pc:sldMk cId="426746164" sldId="271"/>
            <ac:picMk id="5" creationId="{88EE1B11-617A-D1DB-78AA-DA176BB5065B}"/>
          </ac:picMkLst>
        </pc:picChg>
      </pc:sldChg>
      <pc:sldChg chg="addSp delSp modSp add mod ord">
        <pc:chgData name="ponnamreddybabjee@outlook.com" userId="3e261792aa522278" providerId="LiveId" clId="{09623748-5923-44FF-A1FC-B4D536943BBC}" dt="2026-01-21T01:02:04.012" v="22" actId="1076"/>
        <pc:sldMkLst>
          <pc:docMk/>
          <pc:sldMk cId="3784435852" sldId="275"/>
        </pc:sldMkLst>
        <pc:spChg chg="add mod">
          <ac:chgData name="ponnamreddybabjee@outlook.com" userId="3e261792aa522278" providerId="LiveId" clId="{09623748-5923-44FF-A1FC-B4D536943BBC}" dt="2026-01-21T01:02:04.012" v="22" actId="1076"/>
          <ac:spMkLst>
            <pc:docMk/>
            <pc:sldMk cId="3784435852" sldId="275"/>
            <ac:spMk id="3" creationId="{032BE951-9D17-DAE8-EDBC-401D44334098}"/>
          </ac:spMkLst>
        </pc:spChg>
        <pc:spChg chg="mod">
          <ac:chgData name="ponnamreddybabjee@outlook.com" userId="3e261792aa522278" providerId="LiveId" clId="{09623748-5923-44FF-A1FC-B4D536943BBC}" dt="2026-01-21T00:59:15.490" v="20"/>
          <ac:spMkLst>
            <pc:docMk/>
            <pc:sldMk cId="3784435852" sldId="275"/>
            <ac:spMk id="4" creationId="{A9807D3B-5407-0F91-15DE-26361EF50FBE}"/>
          </ac:spMkLst>
        </pc:spChg>
        <pc:picChg chg="del">
          <ac:chgData name="ponnamreddybabjee@outlook.com" userId="3e261792aa522278" providerId="LiveId" clId="{09623748-5923-44FF-A1FC-B4D536943BBC}" dt="2026-01-21T00:59:08.304" v="18" actId="478"/>
          <ac:picMkLst>
            <pc:docMk/>
            <pc:sldMk cId="3784435852" sldId="275"/>
            <ac:picMk id="5" creationId="{2C9EAE5A-0134-8E22-5029-A304E6FD91D5}"/>
          </ac:picMkLst>
        </pc:picChg>
      </pc:sldChg>
      <pc:sldChg chg="addSp delSp modSp add mod">
        <pc:chgData name="ponnamreddybabjee@outlook.com" userId="3e261792aa522278" providerId="LiveId" clId="{09623748-5923-44FF-A1FC-B4D536943BBC}" dt="2026-01-21T01:07:01.808" v="36" actId="12"/>
        <pc:sldMkLst>
          <pc:docMk/>
          <pc:sldMk cId="4071242603" sldId="276"/>
        </pc:sldMkLst>
        <pc:spChg chg="del">
          <ac:chgData name="ponnamreddybabjee@outlook.com" userId="3e261792aa522278" providerId="LiveId" clId="{09623748-5923-44FF-A1FC-B4D536943BBC}" dt="2026-01-21T01:05:44.557" v="24" actId="478"/>
          <ac:spMkLst>
            <pc:docMk/>
            <pc:sldMk cId="4071242603" sldId="276"/>
            <ac:spMk id="3" creationId="{032BE951-9D17-DAE8-EDBC-401D44334098}"/>
          </ac:spMkLst>
        </pc:spChg>
        <pc:spChg chg="add mod">
          <ac:chgData name="ponnamreddybabjee@outlook.com" userId="3e261792aa522278" providerId="LiveId" clId="{09623748-5923-44FF-A1FC-B4D536943BBC}" dt="2026-01-21T01:07:01.808" v="36" actId="12"/>
          <ac:spMkLst>
            <pc:docMk/>
            <pc:sldMk cId="4071242603" sldId="276"/>
            <ac:spMk id="5" creationId="{B7F1947F-5B8C-1B5F-8CA0-1087CF03AFB5}"/>
          </ac:spMkLst>
        </pc:spChg>
      </pc:sldChg>
      <pc:sldChg chg="addSp delSp modSp add mod modNotes">
        <pc:chgData name="ponnamreddybabjee@outlook.com" userId="3e261792aa522278" providerId="LiveId" clId="{09623748-5923-44FF-A1FC-B4D536943BBC}" dt="2026-01-21T01:12:01.353" v="83"/>
        <pc:sldMkLst>
          <pc:docMk/>
          <pc:sldMk cId="1452212980" sldId="277"/>
        </pc:sldMkLst>
        <pc:spChg chg="add mod">
          <ac:chgData name="ponnamreddybabjee@outlook.com" userId="3e261792aa522278" providerId="LiveId" clId="{09623748-5923-44FF-A1FC-B4D536943BBC}" dt="2026-01-21T01:07:54.693" v="43" actId="20577"/>
          <ac:spMkLst>
            <pc:docMk/>
            <pc:sldMk cId="1452212980" sldId="277"/>
            <ac:spMk id="3" creationId="{0338DDFE-8CD4-DB83-C9C8-3126765126C6}"/>
          </ac:spMkLst>
        </pc:spChg>
        <pc:spChg chg="del">
          <ac:chgData name="ponnamreddybabjee@outlook.com" userId="3e261792aa522278" providerId="LiveId" clId="{09623748-5923-44FF-A1FC-B4D536943BBC}" dt="2026-01-21T01:07:46.797" v="39" actId="478"/>
          <ac:spMkLst>
            <pc:docMk/>
            <pc:sldMk cId="1452212980" sldId="277"/>
            <ac:spMk id="4" creationId="{A9807D3B-5407-0F91-15DE-26361EF50FBE}"/>
          </ac:spMkLst>
        </pc:spChg>
        <pc:spChg chg="del">
          <ac:chgData name="ponnamreddybabjee@outlook.com" userId="3e261792aa522278" providerId="LiveId" clId="{09623748-5923-44FF-A1FC-B4D536943BBC}" dt="2026-01-21T01:07:43.525" v="38" actId="478"/>
          <ac:spMkLst>
            <pc:docMk/>
            <pc:sldMk cId="1452212980" sldId="277"/>
            <ac:spMk id="5" creationId="{B7F1947F-5B8C-1B5F-8CA0-1087CF03AFB5}"/>
          </ac:spMkLst>
        </pc:spChg>
        <pc:spChg chg="add mod">
          <ac:chgData name="ponnamreddybabjee@outlook.com" userId="3e261792aa522278" providerId="LiveId" clId="{09623748-5923-44FF-A1FC-B4D536943BBC}" dt="2026-01-21T01:09:33.122" v="71" actId="20577"/>
          <ac:spMkLst>
            <pc:docMk/>
            <pc:sldMk cId="1452212980" sldId="277"/>
            <ac:spMk id="8" creationId="{C6D135D2-9D99-CB36-7D6C-D4474A0E3742}"/>
          </ac:spMkLst>
        </pc:spChg>
        <pc:graphicFrameChg chg="add mod modGraphic">
          <ac:chgData name="ponnamreddybabjee@outlook.com" userId="3e261792aa522278" providerId="LiveId" clId="{09623748-5923-44FF-A1FC-B4D536943BBC}" dt="2026-01-21T01:10:08.616" v="79" actId="20577"/>
          <ac:graphicFrameMkLst>
            <pc:docMk/>
            <pc:sldMk cId="1452212980" sldId="277"/>
            <ac:graphicFrameMk id="6" creationId="{7E48C3A8-335A-E7B9-0C52-7FB235A25256}"/>
          </ac:graphicFrameMkLst>
        </pc:graphicFrameChg>
        <pc:graphicFrameChg chg="add mod">
          <ac:chgData name="ponnamreddybabjee@outlook.com" userId="3e261792aa522278" providerId="LiveId" clId="{09623748-5923-44FF-A1FC-B4D536943BBC}" dt="2026-01-21T01:09:57.366" v="74"/>
          <ac:graphicFrameMkLst>
            <pc:docMk/>
            <pc:sldMk cId="1452212980" sldId="277"/>
            <ac:graphicFrameMk id="9" creationId="{BC5DD9DE-A91A-B2EA-1BAD-306DE109042A}"/>
          </ac:graphicFrameMkLst>
        </pc:graphicFrameChg>
      </pc:sldChg>
      <pc:sldChg chg="addSp delSp modSp add mod">
        <pc:chgData name="ponnamreddybabjee@outlook.com" userId="3e261792aa522278" providerId="LiveId" clId="{09623748-5923-44FF-A1FC-B4D536943BBC}" dt="2026-01-21T01:17:09.554" v="106" actId="113"/>
        <pc:sldMkLst>
          <pc:docMk/>
          <pc:sldMk cId="261840211" sldId="278"/>
        </pc:sldMkLst>
        <pc:spChg chg="add">
          <ac:chgData name="ponnamreddybabjee@outlook.com" userId="3e261792aa522278" providerId="LiveId" clId="{09623748-5923-44FF-A1FC-B4D536943BBC}" dt="2026-01-21T01:14:09.105" v="89"/>
          <ac:spMkLst>
            <pc:docMk/>
            <pc:sldMk cId="261840211" sldId="278"/>
            <ac:spMk id="2" creationId="{B9B988D1-8068-06F3-6D1B-D710DC6A90EC}"/>
          </ac:spMkLst>
        </pc:spChg>
        <pc:spChg chg="del mod">
          <ac:chgData name="ponnamreddybabjee@outlook.com" userId="3e261792aa522278" providerId="LiveId" clId="{09623748-5923-44FF-A1FC-B4D536943BBC}" dt="2026-01-21T01:14:16.649" v="91"/>
          <ac:spMkLst>
            <pc:docMk/>
            <pc:sldMk cId="261840211" sldId="278"/>
            <ac:spMk id="3" creationId="{0338DDFE-8CD4-DB83-C9C8-3126765126C6}"/>
          </ac:spMkLst>
        </pc:spChg>
        <pc:spChg chg="add">
          <ac:chgData name="ponnamreddybabjee@outlook.com" userId="3e261792aa522278" providerId="LiveId" clId="{09623748-5923-44FF-A1FC-B4D536943BBC}" dt="2026-01-21T01:14:17.526" v="92"/>
          <ac:spMkLst>
            <pc:docMk/>
            <pc:sldMk cId="261840211" sldId="278"/>
            <ac:spMk id="4" creationId="{88489A99-5B4E-7E00-A557-6B8D1D4FF6E3}"/>
          </ac:spMkLst>
        </pc:spChg>
        <pc:spChg chg="add mod">
          <ac:chgData name="ponnamreddybabjee@outlook.com" userId="3e261792aa522278" providerId="LiveId" clId="{09623748-5923-44FF-A1FC-B4D536943BBC}" dt="2026-01-21T01:17:09.554" v="106" actId="113"/>
          <ac:spMkLst>
            <pc:docMk/>
            <pc:sldMk cId="261840211" sldId="278"/>
            <ac:spMk id="7" creationId="{6FC2F5D0-435A-63B5-A6B0-1C269CECB8BE}"/>
          </ac:spMkLst>
        </pc:spChg>
        <pc:spChg chg="del">
          <ac:chgData name="ponnamreddybabjee@outlook.com" userId="3e261792aa522278" providerId="LiveId" clId="{09623748-5923-44FF-A1FC-B4D536943BBC}" dt="2026-01-21T01:14:02.139" v="87" actId="478"/>
          <ac:spMkLst>
            <pc:docMk/>
            <pc:sldMk cId="261840211" sldId="278"/>
            <ac:spMk id="8" creationId="{C6D135D2-9D99-CB36-7D6C-D4474A0E3742}"/>
          </ac:spMkLst>
        </pc:spChg>
        <pc:graphicFrameChg chg="del">
          <ac:chgData name="ponnamreddybabjee@outlook.com" userId="3e261792aa522278" providerId="LiveId" clId="{09623748-5923-44FF-A1FC-B4D536943BBC}" dt="2026-01-21T01:13:51.667" v="85" actId="478"/>
          <ac:graphicFrameMkLst>
            <pc:docMk/>
            <pc:sldMk cId="261840211" sldId="278"/>
            <ac:graphicFrameMk id="6" creationId="{7E48C3A8-335A-E7B9-0C52-7FB235A25256}"/>
          </ac:graphicFrameMkLst>
        </pc:graphicFrameChg>
        <pc:graphicFrameChg chg="del">
          <ac:chgData name="ponnamreddybabjee@outlook.com" userId="3e261792aa522278" providerId="LiveId" clId="{09623748-5923-44FF-A1FC-B4D536943BBC}" dt="2026-01-21T01:13:55.589" v="86" actId="478"/>
          <ac:graphicFrameMkLst>
            <pc:docMk/>
            <pc:sldMk cId="261840211" sldId="278"/>
            <ac:graphicFrameMk id="9" creationId="{BC5DD9DE-A91A-B2EA-1BAD-306DE109042A}"/>
          </ac:graphicFrameMkLst>
        </pc:graphicFrameChg>
      </pc:sldChg>
      <pc:sldChg chg="addSp modSp add mod">
        <pc:chgData name="ponnamreddybabjee@outlook.com" userId="3e261792aa522278" providerId="LiveId" clId="{09623748-5923-44FF-A1FC-B4D536943BBC}" dt="2026-01-21T01:22:00.347" v="133" actId="12"/>
        <pc:sldMkLst>
          <pc:docMk/>
          <pc:sldMk cId="2083563672" sldId="279"/>
        </pc:sldMkLst>
        <pc:spChg chg="add">
          <ac:chgData name="ponnamreddybabjee@outlook.com" userId="3e261792aa522278" providerId="LiveId" clId="{09623748-5923-44FF-A1FC-B4D536943BBC}" dt="2026-01-21T01:19:06.513" v="109"/>
          <ac:spMkLst>
            <pc:docMk/>
            <pc:sldMk cId="2083563672" sldId="279"/>
            <ac:spMk id="2" creationId="{CF8AF911-768B-CF53-6271-FA6325A1E032}"/>
          </ac:spMkLst>
        </pc:spChg>
        <pc:spChg chg="add">
          <ac:chgData name="ponnamreddybabjee@outlook.com" userId="3e261792aa522278" providerId="LiveId" clId="{09623748-5923-44FF-A1FC-B4D536943BBC}" dt="2026-01-21T01:19:06.513" v="109"/>
          <ac:spMkLst>
            <pc:docMk/>
            <pc:sldMk cId="2083563672" sldId="279"/>
            <ac:spMk id="3" creationId="{F60FD4F4-6E43-D62A-BF1E-67C435D48E7A}"/>
          </ac:spMkLst>
        </pc:spChg>
        <pc:spChg chg="add">
          <ac:chgData name="ponnamreddybabjee@outlook.com" userId="3e261792aa522278" providerId="LiveId" clId="{09623748-5923-44FF-A1FC-B4D536943BBC}" dt="2026-01-21T01:19:06.513" v="109"/>
          <ac:spMkLst>
            <pc:docMk/>
            <pc:sldMk cId="2083563672" sldId="279"/>
            <ac:spMk id="4" creationId="{89A7DB54-907D-17CC-6913-524D02F57681}"/>
          </ac:spMkLst>
        </pc:spChg>
        <pc:spChg chg="add">
          <ac:chgData name="ponnamreddybabjee@outlook.com" userId="3e261792aa522278" providerId="LiveId" clId="{09623748-5923-44FF-A1FC-B4D536943BBC}" dt="2026-01-21T01:19:12.822" v="111"/>
          <ac:spMkLst>
            <pc:docMk/>
            <pc:sldMk cId="2083563672" sldId="279"/>
            <ac:spMk id="5" creationId="{F3560F79-B507-04E5-0543-A0C1381E2191}"/>
          </ac:spMkLst>
        </pc:spChg>
        <pc:spChg chg="add">
          <ac:chgData name="ponnamreddybabjee@outlook.com" userId="3e261792aa522278" providerId="LiveId" clId="{09623748-5923-44FF-A1FC-B4D536943BBC}" dt="2026-01-21T01:19:12.822" v="111"/>
          <ac:spMkLst>
            <pc:docMk/>
            <pc:sldMk cId="2083563672" sldId="279"/>
            <ac:spMk id="6" creationId="{D61BA2A3-D447-336A-037C-CF73854A4EA5}"/>
          </ac:spMkLst>
        </pc:spChg>
        <pc:spChg chg="mod">
          <ac:chgData name="ponnamreddybabjee@outlook.com" userId="3e261792aa522278" providerId="LiveId" clId="{09623748-5923-44FF-A1FC-B4D536943BBC}" dt="2026-01-21T01:22:00.347" v="133" actId="12"/>
          <ac:spMkLst>
            <pc:docMk/>
            <pc:sldMk cId="2083563672" sldId="279"/>
            <ac:spMk id="7" creationId="{6FC2F5D0-435A-63B5-A6B0-1C269CECB8BE}"/>
          </ac:spMkLst>
        </pc:spChg>
        <pc:spChg chg="add">
          <ac:chgData name="ponnamreddybabjee@outlook.com" userId="3e261792aa522278" providerId="LiveId" clId="{09623748-5923-44FF-A1FC-B4D536943BBC}" dt="2026-01-21T01:19:12.822" v="111"/>
          <ac:spMkLst>
            <pc:docMk/>
            <pc:sldMk cId="2083563672" sldId="279"/>
            <ac:spMk id="8" creationId="{55192743-EDFA-833A-54FF-262B2A2AD8C5}"/>
          </ac:spMkLst>
        </pc:spChg>
      </pc:sldChg>
      <pc:sldChg chg="add">
        <pc:chgData name="ponnamreddybabjee@outlook.com" userId="3e261792aa522278" providerId="LiveId" clId="{09623748-5923-44FF-A1FC-B4D536943BBC}" dt="2026-01-21T01:22:08.726" v="134" actId="2890"/>
        <pc:sldMkLst>
          <pc:docMk/>
          <pc:sldMk cId="3683297630" sldId="280"/>
        </pc:sldMkLst>
      </pc:sldChg>
      <pc:sldChg chg="addSp modSp add mod">
        <pc:chgData name="ponnamreddybabjee@outlook.com" userId="3e261792aa522278" providerId="LiveId" clId="{09623748-5923-44FF-A1FC-B4D536943BBC}" dt="2026-01-21T01:25:10.386" v="209" actId="12"/>
        <pc:sldMkLst>
          <pc:docMk/>
          <pc:sldMk cId="2372408484" sldId="281"/>
        </pc:sldMkLst>
        <pc:spChg chg="add">
          <ac:chgData name="ponnamreddybabjee@outlook.com" userId="3e261792aa522278" providerId="LiveId" clId="{09623748-5923-44FF-A1FC-B4D536943BBC}" dt="2026-01-21T01:23:09.156" v="137"/>
          <ac:spMkLst>
            <pc:docMk/>
            <pc:sldMk cId="2372408484" sldId="281"/>
            <ac:spMk id="2" creationId="{B80285A0-1F2E-D39B-3A97-2B2C9BC64E7A}"/>
          </ac:spMkLst>
        </pc:spChg>
        <pc:spChg chg="mod">
          <ac:chgData name="ponnamreddybabjee@outlook.com" userId="3e261792aa522278" providerId="LiveId" clId="{09623748-5923-44FF-A1FC-B4D536943BBC}" dt="2026-01-21T01:25:10.386" v="209" actId="12"/>
          <ac:spMkLst>
            <pc:docMk/>
            <pc:sldMk cId="2372408484" sldId="281"/>
            <ac:spMk id="7" creationId="{6FC2F5D0-435A-63B5-A6B0-1C269CECB8BE}"/>
          </ac:spMkLst>
        </pc:spChg>
      </pc:sldChg>
      <pc:sldChg chg="addSp modSp add mod">
        <pc:chgData name="ponnamreddybabjee@outlook.com" userId="3e261792aa522278" providerId="LiveId" clId="{09623748-5923-44FF-A1FC-B4D536943BBC}" dt="2026-01-21T01:28:23.369" v="227" actId="113"/>
        <pc:sldMkLst>
          <pc:docMk/>
          <pc:sldMk cId="411786603" sldId="282"/>
        </pc:sldMkLst>
        <pc:spChg chg="add">
          <ac:chgData name="ponnamreddybabjee@outlook.com" userId="3e261792aa522278" providerId="LiveId" clId="{09623748-5923-44FF-A1FC-B4D536943BBC}" dt="2026-01-21T01:26:40.681" v="212"/>
          <ac:spMkLst>
            <pc:docMk/>
            <pc:sldMk cId="411786603" sldId="282"/>
            <ac:spMk id="2" creationId="{884D76A9-D6E6-7BC8-0784-3FA3EC3D3659}"/>
          </ac:spMkLst>
        </pc:spChg>
        <pc:spChg chg="mod">
          <ac:chgData name="ponnamreddybabjee@outlook.com" userId="3e261792aa522278" providerId="LiveId" clId="{09623748-5923-44FF-A1FC-B4D536943BBC}" dt="2026-01-21T01:28:23.369" v="227" actId="113"/>
          <ac:spMkLst>
            <pc:docMk/>
            <pc:sldMk cId="411786603" sldId="282"/>
            <ac:spMk id="7" creationId="{6FC2F5D0-435A-63B5-A6B0-1C269CECB8B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45F255-3204-4072-A905-D9EEF3D8BAFB}" type="datetimeFigureOut">
              <a:rPr lang="en-IN" smtClean="0"/>
              <a:t>21-01-2026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C9CE86-9A64-4B5A-B66F-CF0130758723}" type="slidenum">
              <a:rPr lang="en-IN" smtClean="0"/>
              <a:t>‹#›</a:t>
            </a:fld>
            <a:endParaRPr lang="en-IN"/>
          </a:p>
        </p:txBody>
      </p:sp>
    </p:spTree>
    <p:extLst>
      <p:ext uri="{BB962C8B-B14F-4D97-AF65-F5344CB8AC3E}">
        <p14:creationId xmlns:p14="http://schemas.microsoft.com/office/powerpoint/2010/main" val="2280039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API orchestration</a:t>
            </a:r>
            <a:r>
              <a:rPr lang="en-US" dirty="0"/>
              <a:t> means </a:t>
            </a:r>
            <a:r>
              <a:rPr lang="en-US" b="1" dirty="0"/>
              <a:t>coordinating and managing multiple APIs in a defined sequence</a:t>
            </a:r>
            <a:r>
              <a:rPr lang="en-US" dirty="0"/>
              <a:t> to complete </a:t>
            </a:r>
            <a:r>
              <a:rPr lang="en-US" b="1" dirty="0"/>
              <a:t>one business process</a:t>
            </a:r>
            <a:r>
              <a:rPr lang="en-US" dirty="0"/>
              <a:t>.</a:t>
            </a:r>
          </a:p>
          <a:p>
            <a:endParaRPr lang="en-US" dirty="0"/>
          </a:p>
          <a:p>
            <a:r>
              <a:rPr lang="en-US" b="1" dirty="0"/>
              <a:t>Booking a flight online</a:t>
            </a:r>
            <a:endParaRPr lang="en-US" dirty="0"/>
          </a:p>
          <a:p>
            <a:pPr>
              <a:buFont typeface="+mj-lt"/>
              <a:buAutoNum type="arabicPeriod"/>
            </a:pPr>
            <a:r>
              <a:rPr lang="en-US" dirty="0"/>
              <a:t>Call </a:t>
            </a:r>
            <a:r>
              <a:rPr lang="en-US" b="1" dirty="0"/>
              <a:t>User API</a:t>
            </a:r>
            <a:r>
              <a:rPr lang="en-US" dirty="0"/>
              <a:t> → validate user</a:t>
            </a:r>
          </a:p>
          <a:p>
            <a:pPr>
              <a:buFont typeface="+mj-lt"/>
              <a:buAutoNum type="arabicPeriod"/>
            </a:pPr>
            <a:r>
              <a:rPr lang="en-US" dirty="0"/>
              <a:t>Call </a:t>
            </a:r>
            <a:r>
              <a:rPr lang="en-US" b="1" dirty="0"/>
              <a:t>Payment API</a:t>
            </a:r>
            <a:r>
              <a:rPr lang="en-US" dirty="0"/>
              <a:t> → collect money</a:t>
            </a:r>
          </a:p>
          <a:p>
            <a:pPr>
              <a:buFont typeface="+mj-lt"/>
              <a:buAutoNum type="arabicPeriod"/>
            </a:pPr>
            <a:r>
              <a:rPr lang="en-US" dirty="0"/>
              <a:t>Call </a:t>
            </a:r>
            <a:r>
              <a:rPr lang="en-US" b="1" dirty="0"/>
              <a:t>Airline API</a:t>
            </a:r>
            <a:r>
              <a:rPr lang="en-US" dirty="0"/>
              <a:t> → book seat</a:t>
            </a:r>
          </a:p>
          <a:p>
            <a:pPr>
              <a:buFont typeface="+mj-lt"/>
              <a:buAutoNum type="arabicPeriod"/>
            </a:pPr>
            <a:r>
              <a:rPr lang="en-US" dirty="0"/>
              <a:t>Call </a:t>
            </a:r>
            <a:r>
              <a:rPr lang="en-US" b="1" dirty="0"/>
              <a:t>Notification API</a:t>
            </a:r>
            <a:r>
              <a:rPr lang="en-US" dirty="0"/>
              <a:t> → send ticket</a:t>
            </a:r>
          </a:p>
          <a:p>
            <a:endParaRPr lang="en-IN" dirty="0"/>
          </a:p>
        </p:txBody>
      </p:sp>
      <p:sp>
        <p:nvSpPr>
          <p:cNvPr id="4" name="Slide Number Placeholder 3"/>
          <p:cNvSpPr>
            <a:spLocks noGrp="1"/>
          </p:cNvSpPr>
          <p:nvPr>
            <p:ph type="sldNum" sz="quarter" idx="5"/>
          </p:nvPr>
        </p:nvSpPr>
        <p:spPr/>
        <p:txBody>
          <a:bodyPr/>
          <a:lstStyle/>
          <a:p>
            <a:fld id="{17C9CE86-9A64-4B5A-B66F-CF0130758723}" type="slidenum">
              <a:rPr lang="en-IN" smtClean="0"/>
              <a:t>22</a:t>
            </a:fld>
            <a:endParaRPr lang="en-IN"/>
          </a:p>
        </p:txBody>
      </p:sp>
    </p:spTree>
    <p:extLst>
      <p:ext uri="{BB962C8B-B14F-4D97-AF65-F5344CB8AC3E}">
        <p14:creationId xmlns:p14="http://schemas.microsoft.com/office/powerpoint/2010/main" val="13071667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API orchestration</a:t>
            </a:r>
            <a:r>
              <a:rPr lang="en-US" dirty="0"/>
              <a:t> means </a:t>
            </a:r>
            <a:r>
              <a:rPr lang="en-US" b="1" dirty="0"/>
              <a:t>coordinating and managing multiple APIs in a defined sequence</a:t>
            </a:r>
            <a:r>
              <a:rPr lang="en-US" dirty="0"/>
              <a:t> to complete </a:t>
            </a:r>
            <a:r>
              <a:rPr lang="en-US" b="1" dirty="0"/>
              <a:t>one business process</a:t>
            </a:r>
            <a:r>
              <a:rPr lang="en-US" dirty="0"/>
              <a:t>.</a:t>
            </a:r>
          </a:p>
          <a:p>
            <a:endParaRPr lang="en-US" dirty="0"/>
          </a:p>
          <a:p>
            <a:r>
              <a:rPr lang="en-US" b="1" dirty="0"/>
              <a:t>Booking a flight online</a:t>
            </a:r>
            <a:endParaRPr lang="en-US" dirty="0"/>
          </a:p>
          <a:p>
            <a:pPr>
              <a:buFont typeface="+mj-lt"/>
              <a:buAutoNum type="arabicPeriod"/>
            </a:pPr>
            <a:r>
              <a:rPr lang="en-US" dirty="0"/>
              <a:t>Call </a:t>
            </a:r>
            <a:r>
              <a:rPr lang="en-US" b="1" dirty="0"/>
              <a:t>User API</a:t>
            </a:r>
            <a:r>
              <a:rPr lang="en-US" dirty="0"/>
              <a:t> → validate user</a:t>
            </a:r>
          </a:p>
          <a:p>
            <a:pPr>
              <a:buFont typeface="+mj-lt"/>
              <a:buAutoNum type="arabicPeriod"/>
            </a:pPr>
            <a:r>
              <a:rPr lang="en-US" dirty="0"/>
              <a:t>Call </a:t>
            </a:r>
            <a:r>
              <a:rPr lang="en-US" b="1" dirty="0"/>
              <a:t>Payment API</a:t>
            </a:r>
            <a:r>
              <a:rPr lang="en-US" dirty="0"/>
              <a:t> → collect money</a:t>
            </a:r>
          </a:p>
          <a:p>
            <a:pPr>
              <a:buFont typeface="+mj-lt"/>
              <a:buAutoNum type="arabicPeriod"/>
            </a:pPr>
            <a:r>
              <a:rPr lang="en-US" dirty="0"/>
              <a:t>Call </a:t>
            </a:r>
            <a:r>
              <a:rPr lang="en-US" b="1" dirty="0"/>
              <a:t>Airline API</a:t>
            </a:r>
            <a:r>
              <a:rPr lang="en-US" dirty="0"/>
              <a:t> → book seat</a:t>
            </a:r>
          </a:p>
          <a:p>
            <a:pPr>
              <a:buFont typeface="+mj-lt"/>
              <a:buAutoNum type="arabicPeriod"/>
            </a:pPr>
            <a:r>
              <a:rPr lang="en-US" dirty="0"/>
              <a:t>Call </a:t>
            </a:r>
            <a:r>
              <a:rPr lang="en-US" b="1" dirty="0"/>
              <a:t>Notification API</a:t>
            </a:r>
            <a:r>
              <a:rPr lang="en-US" dirty="0"/>
              <a:t> → send ticket</a:t>
            </a:r>
          </a:p>
          <a:p>
            <a:endParaRPr lang="en-IN" dirty="0"/>
          </a:p>
        </p:txBody>
      </p:sp>
      <p:sp>
        <p:nvSpPr>
          <p:cNvPr id="4" name="Slide Number Placeholder 3"/>
          <p:cNvSpPr>
            <a:spLocks noGrp="1"/>
          </p:cNvSpPr>
          <p:nvPr>
            <p:ph type="sldNum" sz="quarter" idx="5"/>
          </p:nvPr>
        </p:nvSpPr>
        <p:spPr/>
        <p:txBody>
          <a:bodyPr/>
          <a:lstStyle/>
          <a:p>
            <a:fld id="{17C9CE86-9A64-4B5A-B66F-CF0130758723}" type="slidenum">
              <a:rPr lang="en-IN" smtClean="0"/>
              <a:t>23</a:t>
            </a:fld>
            <a:endParaRPr lang="en-IN"/>
          </a:p>
        </p:txBody>
      </p:sp>
    </p:spTree>
    <p:extLst>
      <p:ext uri="{BB962C8B-B14F-4D97-AF65-F5344CB8AC3E}">
        <p14:creationId xmlns:p14="http://schemas.microsoft.com/office/powerpoint/2010/main" val="2186018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API orchestration</a:t>
            </a:r>
            <a:r>
              <a:rPr lang="en-US" dirty="0"/>
              <a:t> means </a:t>
            </a:r>
            <a:r>
              <a:rPr lang="en-US" b="1" dirty="0"/>
              <a:t>coordinating and managing multiple APIs in a defined sequence</a:t>
            </a:r>
            <a:r>
              <a:rPr lang="en-US" dirty="0"/>
              <a:t> to complete </a:t>
            </a:r>
            <a:r>
              <a:rPr lang="en-US" b="1" dirty="0"/>
              <a:t>one business process</a:t>
            </a:r>
            <a:r>
              <a:rPr lang="en-US" dirty="0"/>
              <a:t>.</a:t>
            </a:r>
          </a:p>
          <a:p>
            <a:endParaRPr lang="en-US" dirty="0"/>
          </a:p>
          <a:p>
            <a:r>
              <a:rPr lang="en-US" b="1" dirty="0"/>
              <a:t>Booking a flight online</a:t>
            </a:r>
            <a:endParaRPr lang="en-US" dirty="0"/>
          </a:p>
          <a:p>
            <a:pPr>
              <a:buFont typeface="+mj-lt"/>
              <a:buAutoNum type="arabicPeriod"/>
            </a:pPr>
            <a:r>
              <a:rPr lang="en-US" dirty="0"/>
              <a:t>Call </a:t>
            </a:r>
            <a:r>
              <a:rPr lang="en-US" b="1" dirty="0"/>
              <a:t>User API</a:t>
            </a:r>
            <a:r>
              <a:rPr lang="en-US" dirty="0"/>
              <a:t> → validate user</a:t>
            </a:r>
          </a:p>
          <a:p>
            <a:pPr>
              <a:buFont typeface="+mj-lt"/>
              <a:buAutoNum type="arabicPeriod"/>
            </a:pPr>
            <a:r>
              <a:rPr lang="en-US" dirty="0"/>
              <a:t>Call </a:t>
            </a:r>
            <a:r>
              <a:rPr lang="en-US" b="1" dirty="0"/>
              <a:t>Payment API</a:t>
            </a:r>
            <a:r>
              <a:rPr lang="en-US" dirty="0"/>
              <a:t> → collect money</a:t>
            </a:r>
          </a:p>
          <a:p>
            <a:pPr>
              <a:buFont typeface="+mj-lt"/>
              <a:buAutoNum type="arabicPeriod"/>
            </a:pPr>
            <a:r>
              <a:rPr lang="en-US" dirty="0"/>
              <a:t>Call </a:t>
            </a:r>
            <a:r>
              <a:rPr lang="en-US" b="1" dirty="0"/>
              <a:t>Airline API</a:t>
            </a:r>
            <a:r>
              <a:rPr lang="en-US" dirty="0"/>
              <a:t> → book seat</a:t>
            </a:r>
          </a:p>
          <a:p>
            <a:pPr>
              <a:buFont typeface="+mj-lt"/>
              <a:buAutoNum type="arabicPeriod"/>
            </a:pPr>
            <a:r>
              <a:rPr lang="en-US" dirty="0"/>
              <a:t>Call </a:t>
            </a:r>
            <a:r>
              <a:rPr lang="en-US" b="1" dirty="0"/>
              <a:t>Notification API</a:t>
            </a:r>
            <a:r>
              <a:rPr lang="en-US" dirty="0"/>
              <a:t> → send ticket</a:t>
            </a:r>
          </a:p>
          <a:p>
            <a:endParaRPr lang="en-IN" dirty="0"/>
          </a:p>
        </p:txBody>
      </p:sp>
      <p:sp>
        <p:nvSpPr>
          <p:cNvPr id="4" name="Slide Number Placeholder 3"/>
          <p:cNvSpPr>
            <a:spLocks noGrp="1"/>
          </p:cNvSpPr>
          <p:nvPr>
            <p:ph type="sldNum" sz="quarter" idx="5"/>
          </p:nvPr>
        </p:nvSpPr>
        <p:spPr/>
        <p:txBody>
          <a:bodyPr/>
          <a:lstStyle/>
          <a:p>
            <a:fld id="{17C9CE86-9A64-4B5A-B66F-CF0130758723}" type="slidenum">
              <a:rPr lang="en-IN" smtClean="0"/>
              <a:t>24</a:t>
            </a:fld>
            <a:endParaRPr lang="en-IN"/>
          </a:p>
        </p:txBody>
      </p:sp>
    </p:spTree>
    <p:extLst>
      <p:ext uri="{BB962C8B-B14F-4D97-AF65-F5344CB8AC3E}">
        <p14:creationId xmlns:p14="http://schemas.microsoft.com/office/powerpoint/2010/main" val="1296400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API orchestration</a:t>
            </a:r>
            <a:r>
              <a:rPr lang="en-US" dirty="0"/>
              <a:t> means </a:t>
            </a:r>
            <a:r>
              <a:rPr lang="en-US" b="1" dirty="0"/>
              <a:t>coordinating and managing multiple APIs in a defined sequence</a:t>
            </a:r>
            <a:r>
              <a:rPr lang="en-US" dirty="0"/>
              <a:t> to complete </a:t>
            </a:r>
            <a:r>
              <a:rPr lang="en-US" b="1" dirty="0"/>
              <a:t>one business process</a:t>
            </a:r>
            <a:r>
              <a:rPr lang="en-US" dirty="0"/>
              <a:t>.</a:t>
            </a:r>
          </a:p>
          <a:p>
            <a:endParaRPr lang="en-US" dirty="0"/>
          </a:p>
          <a:p>
            <a:r>
              <a:rPr lang="en-US" b="1" dirty="0"/>
              <a:t>Booking a flight online</a:t>
            </a:r>
            <a:endParaRPr lang="en-US" dirty="0"/>
          </a:p>
          <a:p>
            <a:pPr>
              <a:buFont typeface="+mj-lt"/>
              <a:buAutoNum type="arabicPeriod"/>
            </a:pPr>
            <a:r>
              <a:rPr lang="en-US" dirty="0"/>
              <a:t>Call </a:t>
            </a:r>
            <a:r>
              <a:rPr lang="en-US" b="1" dirty="0"/>
              <a:t>User API</a:t>
            </a:r>
            <a:r>
              <a:rPr lang="en-US" dirty="0"/>
              <a:t> → validate user</a:t>
            </a:r>
          </a:p>
          <a:p>
            <a:pPr>
              <a:buFont typeface="+mj-lt"/>
              <a:buAutoNum type="arabicPeriod"/>
            </a:pPr>
            <a:r>
              <a:rPr lang="en-US" dirty="0"/>
              <a:t>Call </a:t>
            </a:r>
            <a:r>
              <a:rPr lang="en-US" b="1" dirty="0"/>
              <a:t>Payment API</a:t>
            </a:r>
            <a:r>
              <a:rPr lang="en-US" dirty="0"/>
              <a:t> → collect money</a:t>
            </a:r>
          </a:p>
          <a:p>
            <a:pPr>
              <a:buFont typeface="+mj-lt"/>
              <a:buAutoNum type="arabicPeriod"/>
            </a:pPr>
            <a:r>
              <a:rPr lang="en-US" dirty="0"/>
              <a:t>Call </a:t>
            </a:r>
            <a:r>
              <a:rPr lang="en-US" b="1" dirty="0"/>
              <a:t>Airline API</a:t>
            </a:r>
            <a:r>
              <a:rPr lang="en-US" dirty="0"/>
              <a:t> → book seat</a:t>
            </a:r>
          </a:p>
          <a:p>
            <a:pPr>
              <a:buFont typeface="+mj-lt"/>
              <a:buAutoNum type="arabicPeriod"/>
            </a:pPr>
            <a:r>
              <a:rPr lang="en-US" dirty="0"/>
              <a:t>Call </a:t>
            </a:r>
            <a:r>
              <a:rPr lang="en-US" b="1" dirty="0"/>
              <a:t>Notification API</a:t>
            </a:r>
            <a:r>
              <a:rPr lang="en-US" dirty="0"/>
              <a:t> → send ticket</a:t>
            </a:r>
          </a:p>
          <a:p>
            <a:endParaRPr lang="en-IN" dirty="0"/>
          </a:p>
        </p:txBody>
      </p:sp>
      <p:sp>
        <p:nvSpPr>
          <p:cNvPr id="4" name="Slide Number Placeholder 3"/>
          <p:cNvSpPr>
            <a:spLocks noGrp="1"/>
          </p:cNvSpPr>
          <p:nvPr>
            <p:ph type="sldNum" sz="quarter" idx="5"/>
          </p:nvPr>
        </p:nvSpPr>
        <p:spPr/>
        <p:txBody>
          <a:bodyPr/>
          <a:lstStyle/>
          <a:p>
            <a:fld id="{17C9CE86-9A64-4B5A-B66F-CF0130758723}" type="slidenum">
              <a:rPr lang="en-IN" smtClean="0"/>
              <a:t>25</a:t>
            </a:fld>
            <a:endParaRPr lang="en-IN"/>
          </a:p>
        </p:txBody>
      </p:sp>
    </p:spTree>
    <p:extLst>
      <p:ext uri="{BB962C8B-B14F-4D97-AF65-F5344CB8AC3E}">
        <p14:creationId xmlns:p14="http://schemas.microsoft.com/office/powerpoint/2010/main" val="1475690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API orchestration</a:t>
            </a:r>
            <a:r>
              <a:rPr lang="en-US" dirty="0"/>
              <a:t> means </a:t>
            </a:r>
            <a:r>
              <a:rPr lang="en-US" b="1" dirty="0"/>
              <a:t>coordinating and managing multiple APIs in a defined sequence</a:t>
            </a:r>
            <a:r>
              <a:rPr lang="en-US" dirty="0"/>
              <a:t> to complete </a:t>
            </a:r>
            <a:r>
              <a:rPr lang="en-US" b="1" dirty="0"/>
              <a:t>one business process</a:t>
            </a:r>
            <a:r>
              <a:rPr lang="en-US" dirty="0"/>
              <a:t>.</a:t>
            </a:r>
          </a:p>
          <a:p>
            <a:endParaRPr lang="en-US" dirty="0"/>
          </a:p>
          <a:p>
            <a:r>
              <a:rPr lang="en-US" b="1" dirty="0"/>
              <a:t>Booking a flight online</a:t>
            </a:r>
            <a:endParaRPr lang="en-US" dirty="0"/>
          </a:p>
          <a:p>
            <a:pPr>
              <a:buFont typeface="+mj-lt"/>
              <a:buAutoNum type="arabicPeriod"/>
            </a:pPr>
            <a:r>
              <a:rPr lang="en-US" dirty="0"/>
              <a:t>Call </a:t>
            </a:r>
            <a:r>
              <a:rPr lang="en-US" b="1" dirty="0"/>
              <a:t>User API</a:t>
            </a:r>
            <a:r>
              <a:rPr lang="en-US" dirty="0"/>
              <a:t> → validate user</a:t>
            </a:r>
          </a:p>
          <a:p>
            <a:pPr>
              <a:buFont typeface="+mj-lt"/>
              <a:buAutoNum type="arabicPeriod"/>
            </a:pPr>
            <a:r>
              <a:rPr lang="en-US" dirty="0"/>
              <a:t>Call </a:t>
            </a:r>
            <a:r>
              <a:rPr lang="en-US" b="1" dirty="0"/>
              <a:t>Payment API</a:t>
            </a:r>
            <a:r>
              <a:rPr lang="en-US" dirty="0"/>
              <a:t> → collect money</a:t>
            </a:r>
          </a:p>
          <a:p>
            <a:pPr>
              <a:buFont typeface="+mj-lt"/>
              <a:buAutoNum type="arabicPeriod"/>
            </a:pPr>
            <a:r>
              <a:rPr lang="en-US" dirty="0"/>
              <a:t>Call </a:t>
            </a:r>
            <a:r>
              <a:rPr lang="en-US" b="1" dirty="0"/>
              <a:t>Airline API</a:t>
            </a:r>
            <a:r>
              <a:rPr lang="en-US" dirty="0"/>
              <a:t> → book seat</a:t>
            </a:r>
          </a:p>
          <a:p>
            <a:pPr>
              <a:buFont typeface="+mj-lt"/>
              <a:buAutoNum type="arabicPeriod"/>
            </a:pPr>
            <a:r>
              <a:rPr lang="en-US" dirty="0"/>
              <a:t>Call </a:t>
            </a:r>
            <a:r>
              <a:rPr lang="en-US" b="1" dirty="0"/>
              <a:t>Notification API</a:t>
            </a:r>
            <a:r>
              <a:rPr lang="en-US" dirty="0"/>
              <a:t> → send ticket</a:t>
            </a:r>
          </a:p>
          <a:p>
            <a:endParaRPr lang="en-IN" dirty="0"/>
          </a:p>
        </p:txBody>
      </p:sp>
      <p:sp>
        <p:nvSpPr>
          <p:cNvPr id="4" name="Slide Number Placeholder 3"/>
          <p:cNvSpPr>
            <a:spLocks noGrp="1"/>
          </p:cNvSpPr>
          <p:nvPr>
            <p:ph type="sldNum" sz="quarter" idx="5"/>
          </p:nvPr>
        </p:nvSpPr>
        <p:spPr/>
        <p:txBody>
          <a:bodyPr/>
          <a:lstStyle/>
          <a:p>
            <a:fld id="{17C9CE86-9A64-4B5A-B66F-CF0130758723}" type="slidenum">
              <a:rPr lang="en-IN" smtClean="0"/>
              <a:t>26</a:t>
            </a:fld>
            <a:endParaRPr lang="en-IN"/>
          </a:p>
        </p:txBody>
      </p:sp>
    </p:spTree>
    <p:extLst>
      <p:ext uri="{BB962C8B-B14F-4D97-AF65-F5344CB8AC3E}">
        <p14:creationId xmlns:p14="http://schemas.microsoft.com/office/powerpoint/2010/main" val="38160944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API orchestration</a:t>
            </a:r>
            <a:r>
              <a:rPr lang="en-US" dirty="0"/>
              <a:t> means </a:t>
            </a:r>
            <a:r>
              <a:rPr lang="en-US" b="1" dirty="0"/>
              <a:t>coordinating and managing multiple APIs in a defined sequence</a:t>
            </a:r>
            <a:r>
              <a:rPr lang="en-US" dirty="0"/>
              <a:t> to complete </a:t>
            </a:r>
            <a:r>
              <a:rPr lang="en-US" b="1" dirty="0"/>
              <a:t>one business process</a:t>
            </a:r>
            <a:r>
              <a:rPr lang="en-US" dirty="0"/>
              <a:t>.</a:t>
            </a:r>
          </a:p>
          <a:p>
            <a:endParaRPr lang="en-US" dirty="0"/>
          </a:p>
          <a:p>
            <a:r>
              <a:rPr lang="en-US" b="1" dirty="0"/>
              <a:t>Booking a flight online</a:t>
            </a:r>
            <a:endParaRPr lang="en-US" dirty="0"/>
          </a:p>
          <a:p>
            <a:pPr>
              <a:buFont typeface="+mj-lt"/>
              <a:buAutoNum type="arabicPeriod"/>
            </a:pPr>
            <a:r>
              <a:rPr lang="en-US" dirty="0"/>
              <a:t>Call </a:t>
            </a:r>
            <a:r>
              <a:rPr lang="en-US" b="1" dirty="0"/>
              <a:t>User API</a:t>
            </a:r>
            <a:r>
              <a:rPr lang="en-US" dirty="0"/>
              <a:t> → validate user</a:t>
            </a:r>
          </a:p>
          <a:p>
            <a:pPr>
              <a:buFont typeface="+mj-lt"/>
              <a:buAutoNum type="arabicPeriod"/>
            </a:pPr>
            <a:r>
              <a:rPr lang="en-US" dirty="0"/>
              <a:t>Call </a:t>
            </a:r>
            <a:r>
              <a:rPr lang="en-US" b="1" dirty="0"/>
              <a:t>Payment API</a:t>
            </a:r>
            <a:r>
              <a:rPr lang="en-US" dirty="0"/>
              <a:t> → collect money</a:t>
            </a:r>
          </a:p>
          <a:p>
            <a:pPr>
              <a:buFont typeface="+mj-lt"/>
              <a:buAutoNum type="arabicPeriod"/>
            </a:pPr>
            <a:r>
              <a:rPr lang="en-US" dirty="0"/>
              <a:t>Call </a:t>
            </a:r>
            <a:r>
              <a:rPr lang="en-US" b="1" dirty="0"/>
              <a:t>Airline API</a:t>
            </a:r>
            <a:r>
              <a:rPr lang="en-US" dirty="0"/>
              <a:t> → book seat</a:t>
            </a:r>
          </a:p>
          <a:p>
            <a:pPr>
              <a:buFont typeface="+mj-lt"/>
              <a:buAutoNum type="arabicPeriod"/>
            </a:pPr>
            <a:r>
              <a:rPr lang="en-US" dirty="0"/>
              <a:t>Call </a:t>
            </a:r>
            <a:r>
              <a:rPr lang="en-US" b="1" dirty="0"/>
              <a:t>Notification API</a:t>
            </a:r>
            <a:r>
              <a:rPr lang="en-US" dirty="0"/>
              <a:t> → send ticket</a:t>
            </a:r>
          </a:p>
          <a:p>
            <a:endParaRPr lang="en-IN" dirty="0"/>
          </a:p>
        </p:txBody>
      </p:sp>
      <p:sp>
        <p:nvSpPr>
          <p:cNvPr id="4" name="Slide Number Placeholder 3"/>
          <p:cNvSpPr>
            <a:spLocks noGrp="1"/>
          </p:cNvSpPr>
          <p:nvPr>
            <p:ph type="sldNum" sz="quarter" idx="5"/>
          </p:nvPr>
        </p:nvSpPr>
        <p:spPr/>
        <p:txBody>
          <a:bodyPr/>
          <a:lstStyle/>
          <a:p>
            <a:fld id="{17C9CE86-9A64-4B5A-B66F-CF0130758723}" type="slidenum">
              <a:rPr lang="en-IN" smtClean="0"/>
              <a:t>27</a:t>
            </a:fld>
            <a:endParaRPr lang="en-IN"/>
          </a:p>
        </p:txBody>
      </p:sp>
    </p:spTree>
    <p:extLst>
      <p:ext uri="{BB962C8B-B14F-4D97-AF65-F5344CB8AC3E}">
        <p14:creationId xmlns:p14="http://schemas.microsoft.com/office/powerpoint/2010/main" val="3937169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1/21/2026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1/21/2026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CC8CF-54F2-1C3A-5457-D5768A702E86}"/>
              </a:ext>
            </a:extLst>
          </p:cNvPr>
          <p:cNvSpPr>
            <a:spLocks noGrp="1"/>
          </p:cNvSpPr>
          <p:nvPr>
            <p:ph type="ctrTitle"/>
          </p:nvPr>
        </p:nvSpPr>
        <p:spPr/>
        <p:txBody>
          <a:bodyPr/>
          <a:lstStyle/>
          <a:p>
            <a:r>
              <a:rPr lang="en-US" dirty="0" err="1"/>
              <a:t>Idmc</a:t>
            </a:r>
            <a:r>
              <a:rPr lang="en-US" dirty="0"/>
              <a:t>(</a:t>
            </a:r>
            <a:r>
              <a:rPr lang="en-US" sz="2400" dirty="0"/>
              <a:t>INFORMATICA DATA MANAGEMENT CLOUD)</a:t>
            </a:r>
            <a:endParaRPr lang="en-IN" sz="2400" dirty="0"/>
          </a:p>
        </p:txBody>
      </p:sp>
      <p:sp>
        <p:nvSpPr>
          <p:cNvPr id="3" name="Subtitle 2">
            <a:extLst>
              <a:ext uri="{FF2B5EF4-FFF2-40B4-BE49-F238E27FC236}">
                <a16:creationId xmlns:a16="http://schemas.microsoft.com/office/drawing/2014/main" id="{343A00E4-CE8B-BE96-37CE-78167642AC2D}"/>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818466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10B67BFA-0719-9116-EA9A-E31B11C465C2}"/>
              </a:ext>
            </a:extLst>
          </p:cNvPr>
          <p:cNvSpPr txBox="1"/>
          <p:nvPr/>
        </p:nvSpPr>
        <p:spPr>
          <a:xfrm>
            <a:off x="122925" y="226607"/>
            <a:ext cx="11031029" cy="6186309"/>
          </a:xfrm>
          <a:prstGeom prst="rect">
            <a:avLst/>
          </a:prstGeom>
          <a:noFill/>
        </p:spPr>
        <p:txBody>
          <a:bodyPr wrap="square">
            <a:spAutoFit/>
          </a:bodyPr>
          <a:lstStyle/>
          <a:p>
            <a:r>
              <a:rPr lang="en-IN" b="1" dirty="0"/>
              <a:t>ETL</a:t>
            </a:r>
            <a:r>
              <a:rPr lang="en-IN" dirty="0"/>
              <a:t> stands for Extract, Transform, Load — a fundamental process in data engineering used to move and prepare data for analysis and reporting.</a:t>
            </a:r>
          </a:p>
          <a:p>
            <a:endParaRPr lang="en-IN" dirty="0"/>
          </a:p>
          <a:p>
            <a:r>
              <a:rPr lang="en-IN" b="1" dirty="0"/>
              <a:t>Extract</a:t>
            </a:r>
          </a:p>
          <a:p>
            <a:r>
              <a:rPr lang="en-IN" dirty="0"/>
              <a:t>Data is collected from source systems</a:t>
            </a:r>
          </a:p>
          <a:p>
            <a:r>
              <a:rPr lang="en-IN" dirty="0"/>
              <a:t>Sources can include:</a:t>
            </a:r>
          </a:p>
          <a:p>
            <a:r>
              <a:rPr lang="en-IN" dirty="0"/>
              <a:t>	Databases (Oracle, MySQL)</a:t>
            </a:r>
          </a:p>
          <a:p>
            <a:r>
              <a:rPr lang="en-IN" dirty="0"/>
              <a:t>	Applications (ERP, CRM)</a:t>
            </a:r>
          </a:p>
          <a:p>
            <a:r>
              <a:rPr lang="en-IN" dirty="0"/>
              <a:t>	Files (CSV, JSON, XML)</a:t>
            </a:r>
          </a:p>
          <a:p>
            <a:r>
              <a:rPr lang="en-IN" dirty="0"/>
              <a:t>	APIs or cloud services</a:t>
            </a:r>
          </a:p>
          <a:p>
            <a:r>
              <a:rPr lang="en-IN" dirty="0"/>
              <a:t>Goal: Pull raw data without changing it</a:t>
            </a:r>
          </a:p>
          <a:p>
            <a:endParaRPr lang="en-IN" dirty="0"/>
          </a:p>
          <a:p>
            <a:r>
              <a:rPr lang="en-IN" b="1" dirty="0"/>
              <a:t>Transform</a:t>
            </a:r>
          </a:p>
          <a:p>
            <a:r>
              <a:rPr lang="en-IN" dirty="0"/>
              <a:t>Extracted data is cleaned, validated, and converted</a:t>
            </a:r>
          </a:p>
          <a:p>
            <a:r>
              <a:rPr lang="en-IN" dirty="0"/>
              <a:t>Common transformations:</a:t>
            </a:r>
          </a:p>
          <a:p>
            <a:r>
              <a:rPr lang="en-IN" dirty="0"/>
              <a:t>	Data type conversions</a:t>
            </a:r>
          </a:p>
          <a:p>
            <a:r>
              <a:rPr lang="en-IN" dirty="0"/>
              <a:t>	Removing duplicates</a:t>
            </a:r>
          </a:p>
          <a:p>
            <a:r>
              <a:rPr lang="en-IN" dirty="0"/>
              <a:t>	Filtering records</a:t>
            </a:r>
          </a:p>
          <a:p>
            <a:r>
              <a:rPr lang="en-IN" dirty="0"/>
              <a:t>	Calculations &amp; aggregations</a:t>
            </a:r>
          </a:p>
          <a:p>
            <a:r>
              <a:rPr lang="en-IN" dirty="0"/>
              <a:t>	Standardizing formats (dates, currencies)</a:t>
            </a:r>
          </a:p>
          <a:p>
            <a:r>
              <a:rPr lang="en-IN" dirty="0"/>
              <a:t>goal: Make data accurate, consistent, and usable</a:t>
            </a:r>
          </a:p>
          <a:p>
            <a:endParaRPr lang="en-IN" dirty="0"/>
          </a:p>
        </p:txBody>
      </p:sp>
    </p:spTree>
    <p:extLst>
      <p:ext uri="{BB962C8B-B14F-4D97-AF65-F5344CB8AC3E}">
        <p14:creationId xmlns:p14="http://schemas.microsoft.com/office/powerpoint/2010/main" val="3415911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10B67BFA-0719-9116-EA9A-E31B11C465C2}"/>
              </a:ext>
            </a:extLst>
          </p:cNvPr>
          <p:cNvSpPr txBox="1"/>
          <p:nvPr/>
        </p:nvSpPr>
        <p:spPr>
          <a:xfrm>
            <a:off x="122925" y="226607"/>
            <a:ext cx="11031029" cy="2862322"/>
          </a:xfrm>
          <a:prstGeom prst="rect">
            <a:avLst/>
          </a:prstGeom>
          <a:noFill/>
        </p:spPr>
        <p:txBody>
          <a:bodyPr wrap="square">
            <a:spAutoFit/>
          </a:bodyPr>
          <a:lstStyle/>
          <a:p>
            <a:r>
              <a:rPr lang="en-IN" b="1" dirty="0"/>
              <a:t>Load</a:t>
            </a:r>
          </a:p>
          <a:p>
            <a:r>
              <a:rPr lang="en-IN" dirty="0"/>
              <a:t>Transformed data is loaded into a target system</a:t>
            </a:r>
          </a:p>
          <a:p>
            <a:r>
              <a:rPr lang="en-IN" dirty="0"/>
              <a:t>Targets include:</a:t>
            </a:r>
          </a:p>
          <a:p>
            <a:r>
              <a:rPr lang="en-IN" dirty="0"/>
              <a:t>	Data Warehouse</a:t>
            </a:r>
          </a:p>
          <a:p>
            <a:r>
              <a:rPr lang="en-IN" dirty="0"/>
              <a:t>	Data Lake</a:t>
            </a:r>
          </a:p>
          <a:p>
            <a:r>
              <a:rPr lang="en-IN" dirty="0"/>
              <a:t>	Reporting database</a:t>
            </a:r>
          </a:p>
          <a:p>
            <a:r>
              <a:rPr lang="en-IN" dirty="0"/>
              <a:t>Load types:</a:t>
            </a:r>
          </a:p>
          <a:p>
            <a:r>
              <a:rPr lang="en-IN" dirty="0"/>
              <a:t>	Full load</a:t>
            </a:r>
          </a:p>
          <a:p>
            <a:r>
              <a:rPr lang="en-IN" dirty="0"/>
              <a:t>	Incremental load</a:t>
            </a:r>
          </a:p>
          <a:p>
            <a:r>
              <a:rPr lang="en-IN" dirty="0"/>
              <a:t>Goal: Make data available for analytics and reporting</a:t>
            </a:r>
          </a:p>
        </p:txBody>
      </p:sp>
      <p:sp>
        <p:nvSpPr>
          <p:cNvPr id="3" name="TextBox 2">
            <a:extLst>
              <a:ext uri="{FF2B5EF4-FFF2-40B4-BE49-F238E27FC236}">
                <a16:creationId xmlns:a16="http://schemas.microsoft.com/office/drawing/2014/main" id="{28021541-4A50-4DBD-4B62-57C640E45DDB}"/>
              </a:ext>
            </a:extLst>
          </p:cNvPr>
          <p:cNvSpPr txBox="1"/>
          <p:nvPr/>
        </p:nvSpPr>
        <p:spPr>
          <a:xfrm>
            <a:off x="1438" y="3282221"/>
            <a:ext cx="12101422" cy="3139321"/>
          </a:xfrm>
          <a:prstGeom prst="rect">
            <a:avLst/>
          </a:prstGeom>
          <a:noFill/>
        </p:spPr>
        <p:txBody>
          <a:bodyPr wrap="square">
            <a:spAutoFit/>
          </a:bodyPr>
          <a:lstStyle/>
          <a:p>
            <a:r>
              <a:rPr lang="en-IN" b="1" dirty="0"/>
              <a:t>What are ETL Tools?</a:t>
            </a:r>
          </a:p>
          <a:p>
            <a:r>
              <a:rPr lang="en-IN" dirty="0"/>
              <a:t>ETL tools are specialized software platforms designed to Extract, Transform, and Load data reliably, at scale, and with governance.</a:t>
            </a:r>
          </a:p>
          <a:p>
            <a:endParaRPr lang="en-IN" dirty="0"/>
          </a:p>
          <a:p>
            <a:r>
              <a:rPr lang="en-IN" dirty="0"/>
              <a:t>They provide:</a:t>
            </a:r>
          </a:p>
          <a:p>
            <a:r>
              <a:rPr lang="en-IN" dirty="0"/>
              <a:t>	Visual, low-code development</a:t>
            </a:r>
          </a:p>
          <a:p>
            <a:r>
              <a:rPr lang="en-IN" dirty="0"/>
              <a:t>	Built-in connectors</a:t>
            </a:r>
          </a:p>
          <a:p>
            <a:r>
              <a:rPr lang="en-IN" dirty="0"/>
              <a:t>	Metadata &amp; lineage</a:t>
            </a:r>
          </a:p>
          <a:p>
            <a:r>
              <a:rPr lang="en-IN" dirty="0"/>
              <a:t>	Error handling and monitoring</a:t>
            </a:r>
          </a:p>
          <a:p>
            <a:r>
              <a:rPr lang="en-IN" dirty="0"/>
              <a:t>	Performance optimization</a:t>
            </a:r>
          </a:p>
          <a:p>
            <a:r>
              <a:rPr lang="en-IN" dirty="0"/>
              <a:t>	Scheduling &amp; orchestration</a:t>
            </a:r>
          </a:p>
        </p:txBody>
      </p:sp>
    </p:spTree>
    <p:extLst>
      <p:ext uri="{BB962C8B-B14F-4D97-AF65-F5344CB8AC3E}">
        <p14:creationId xmlns:p14="http://schemas.microsoft.com/office/powerpoint/2010/main" val="381881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10B67BFA-0719-9116-EA9A-E31B11C465C2}"/>
              </a:ext>
            </a:extLst>
          </p:cNvPr>
          <p:cNvSpPr txBox="1"/>
          <p:nvPr/>
        </p:nvSpPr>
        <p:spPr>
          <a:xfrm>
            <a:off x="321332" y="217980"/>
            <a:ext cx="11031029" cy="1200329"/>
          </a:xfrm>
          <a:prstGeom prst="rect">
            <a:avLst/>
          </a:prstGeom>
          <a:noFill/>
        </p:spPr>
        <p:txBody>
          <a:bodyPr wrap="square">
            <a:spAutoFit/>
          </a:bodyPr>
          <a:lstStyle/>
          <a:p>
            <a:r>
              <a:rPr lang="en-US" b="1" dirty="0"/>
              <a:t>Why Not Just Use PL/SQL or Scripts?</a:t>
            </a:r>
          </a:p>
          <a:p>
            <a:pPr lvl="2"/>
            <a:r>
              <a:rPr lang="en-US" dirty="0"/>
              <a:t>You can use PL/SQL, Python, Shell, etc.</a:t>
            </a:r>
          </a:p>
          <a:p>
            <a:pPr lvl="2"/>
            <a:r>
              <a:rPr lang="en-US" dirty="0"/>
              <a:t>But they do not scale well for enterprise ETL.</a:t>
            </a:r>
          </a:p>
          <a:p>
            <a:endParaRPr lang="en-IN" dirty="0"/>
          </a:p>
        </p:txBody>
      </p:sp>
      <p:graphicFrame>
        <p:nvGraphicFramePr>
          <p:cNvPr id="2" name="Table 1">
            <a:extLst>
              <a:ext uri="{FF2B5EF4-FFF2-40B4-BE49-F238E27FC236}">
                <a16:creationId xmlns:a16="http://schemas.microsoft.com/office/drawing/2014/main" id="{7A642AE6-0A00-6860-2EA2-A3582278526D}"/>
              </a:ext>
            </a:extLst>
          </p:cNvPr>
          <p:cNvGraphicFramePr>
            <a:graphicFrameLocks noGrp="1"/>
          </p:cNvGraphicFramePr>
          <p:nvPr>
            <p:extLst>
              <p:ext uri="{D42A27DB-BD31-4B8C-83A1-F6EECF244321}">
                <p14:modId xmlns:p14="http://schemas.microsoft.com/office/powerpoint/2010/main" val="215143471"/>
              </p:ext>
            </p:extLst>
          </p:nvPr>
        </p:nvGraphicFramePr>
        <p:xfrm>
          <a:off x="198781" y="1865495"/>
          <a:ext cx="9190398" cy="3649657"/>
        </p:xfrm>
        <a:graphic>
          <a:graphicData uri="http://schemas.openxmlformats.org/drawingml/2006/table">
            <a:tbl>
              <a:tblPr/>
              <a:tblGrid>
                <a:gridCol w="3063466">
                  <a:extLst>
                    <a:ext uri="{9D8B030D-6E8A-4147-A177-3AD203B41FA5}">
                      <a16:colId xmlns:a16="http://schemas.microsoft.com/office/drawing/2014/main" val="2947081977"/>
                    </a:ext>
                  </a:extLst>
                </a:gridCol>
                <a:gridCol w="3063466">
                  <a:extLst>
                    <a:ext uri="{9D8B030D-6E8A-4147-A177-3AD203B41FA5}">
                      <a16:colId xmlns:a16="http://schemas.microsoft.com/office/drawing/2014/main" val="3339490940"/>
                    </a:ext>
                  </a:extLst>
                </a:gridCol>
                <a:gridCol w="3063466">
                  <a:extLst>
                    <a:ext uri="{9D8B030D-6E8A-4147-A177-3AD203B41FA5}">
                      <a16:colId xmlns:a16="http://schemas.microsoft.com/office/drawing/2014/main" val="522326810"/>
                    </a:ext>
                  </a:extLst>
                </a:gridCol>
              </a:tblGrid>
              <a:tr h="331787">
                <a:tc>
                  <a:txBody>
                    <a:bodyPr/>
                    <a:lstStyle/>
                    <a:p>
                      <a:r>
                        <a:rPr lang="en-IN" sz="1600"/>
                        <a:t>Area</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a:t>ETL Tools</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a:t>PL/SQL / Scripts</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8849891"/>
                  </a:ext>
                </a:extLst>
              </a:tr>
              <a:tr h="331787">
                <a:tc>
                  <a:txBody>
                    <a:bodyPr/>
                    <a:lstStyle/>
                    <a:p>
                      <a:r>
                        <a:rPr lang="en-IN" sz="1600" b="1"/>
                        <a:t>Development</a:t>
                      </a:r>
                      <a:endParaRPr lang="en-IN" sz="1600"/>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a:t>Drag-and-drop, reusable</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a:t>Manual coding</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9068927"/>
                  </a:ext>
                </a:extLst>
              </a:tr>
              <a:tr h="331787">
                <a:tc>
                  <a:txBody>
                    <a:bodyPr/>
                    <a:lstStyle/>
                    <a:p>
                      <a:r>
                        <a:rPr lang="en-IN" sz="1600" b="1"/>
                        <a:t>Source Support</a:t>
                      </a:r>
                      <a:endParaRPr lang="en-IN" sz="1600"/>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a:t>DBs, files, APIs, SaaS</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a:t>Mostly DB / limited</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3437291"/>
                  </a:ext>
                </a:extLst>
              </a:tr>
              <a:tr h="331787">
                <a:tc>
                  <a:txBody>
                    <a:bodyPr/>
                    <a:lstStyle/>
                    <a:p>
                      <a:r>
                        <a:rPr lang="en-IN" sz="1600" b="1"/>
                        <a:t>Maintainability</a:t>
                      </a:r>
                      <a:endParaRPr lang="en-IN" sz="1600"/>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a:t>Easy to modify</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a:t>High effort</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0794875"/>
                  </a:ext>
                </a:extLst>
              </a:tr>
              <a:tr h="331787">
                <a:tc>
                  <a:txBody>
                    <a:bodyPr/>
                    <a:lstStyle/>
                    <a:p>
                      <a:r>
                        <a:rPr lang="en-IN" sz="1600" b="1"/>
                        <a:t>Error Handling</a:t>
                      </a:r>
                      <a:endParaRPr lang="en-IN" sz="1600"/>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a:t>Built-in retries &amp; logs</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a:t>Custom code needed</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0047139"/>
                  </a:ext>
                </a:extLst>
              </a:tr>
              <a:tr h="331787">
                <a:tc>
                  <a:txBody>
                    <a:bodyPr/>
                    <a:lstStyle/>
                    <a:p>
                      <a:r>
                        <a:rPr lang="en-IN" sz="1600" b="1"/>
                        <a:t>Monitoring</a:t>
                      </a:r>
                      <a:endParaRPr lang="en-IN" sz="1600"/>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a:t>Dashboards &amp; alerts</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a:t>Manual log checks</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5356658"/>
                  </a:ext>
                </a:extLst>
              </a:tr>
              <a:tr h="331787">
                <a:tc>
                  <a:txBody>
                    <a:bodyPr/>
                    <a:lstStyle/>
                    <a:p>
                      <a:r>
                        <a:rPr lang="en-IN" sz="1600" b="1"/>
                        <a:t>Performance</a:t>
                      </a:r>
                      <a:endParaRPr lang="en-IN" sz="1600"/>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a:t>Parallel processing</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a:t>Mostly serial</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2935918"/>
                  </a:ext>
                </a:extLst>
              </a:tr>
              <a:tr h="331787">
                <a:tc>
                  <a:txBody>
                    <a:bodyPr/>
                    <a:lstStyle/>
                    <a:p>
                      <a:r>
                        <a:rPr lang="en-IN" sz="1600" b="1"/>
                        <a:t>Metadata &amp; Lineage</a:t>
                      </a:r>
                      <a:endParaRPr lang="en-IN" sz="1600"/>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a:t>Automatic</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a:t>Not available</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6460965"/>
                  </a:ext>
                </a:extLst>
              </a:tr>
              <a:tr h="331787">
                <a:tc>
                  <a:txBody>
                    <a:bodyPr/>
                    <a:lstStyle/>
                    <a:p>
                      <a:r>
                        <a:rPr lang="en-IN" sz="1600" b="1"/>
                        <a:t>Scheduling</a:t>
                      </a:r>
                      <a:endParaRPr lang="en-IN" sz="1600"/>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a:t>Integrated</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a:t>Cron / custom jobs</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0455317"/>
                  </a:ext>
                </a:extLst>
              </a:tr>
              <a:tr h="331787">
                <a:tc>
                  <a:txBody>
                    <a:bodyPr/>
                    <a:lstStyle/>
                    <a:p>
                      <a:r>
                        <a:rPr lang="en-IN" sz="1600" b="1"/>
                        <a:t>Audit &amp; Compliance</a:t>
                      </a:r>
                      <a:endParaRPr lang="en-IN" sz="1600"/>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a:t>Built-in</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a:t>Hard to implement</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2523194"/>
                  </a:ext>
                </a:extLst>
              </a:tr>
              <a:tr h="331787">
                <a:tc>
                  <a:txBody>
                    <a:bodyPr/>
                    <a:lstStyle/>
                    <a:p>
                      <a:r>
                        <a:rPr lang="en-IN" sz="1600" b="1"/>
                        <a:t>Scalability</a:t>
                      </a:r>
                      <a:endParaRPr lang="en-IN" sz="1600"/>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a:t>Enterprise-grade</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dirty="0"/>
                        <a:t>Breaks at scale</a:t>
                      </a:r>
                    </a:p>
                  </a:txBody>
                  <a:tcPr marL="82947" marR="82947" marT="41473" marB="41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5673822"/>
                  </a:ext>
                </a:extLst>
              </a:tr>
            </a:tbl>
          </a:graphicData>
        </a:graphic>
      </p:graphicFrame>
      <p:sp>
        <p:nvSpPr>
          <p:cNvPr id="5" name="TextBox 4">
            <a:extLst>
              <a:ext uri="{FF2B5EF4-FFF2-40B4-BE49-F238E27FC236}">
                <a16:creationId xmlns:a16="http://schemas.microsoft.com/office/drawing/2014/main" id="{06C5732A-32B2-3FCD-E638-FF98DF7BAE0D}"/>
              </a:ext>
            </a:extLst>
          </p:cNvPr>
          <p:cNvSpPr txBox="1"/>
          <p:nvPr/>
        </p:nvSpPr>
        <p:spPr>
          <a:xfrm>
            <a:off x="62542" y="1418309"/>
            <a:ext cx="6094562" cy="369332"/>
          </a:xfrm>
          <a:prstGeom prst="rect">
            <a:avLst/>
          </a:prstGeom>
          <a:noFill/>
        </p:spPr>
        <p:txBody>
          <a:bodyPr wrap="square">
            <a:spAutoFit/>
          </a:bodyPr>
          <a:lstStyle/>
          <a:p>
            <a:r>
              <a:rPr lang="en-IN" dirty="0"/>
              <a:t>ETL Tools vs PL/SQL / Script</a:t>
            </a:r>
          </a:p>
        </p:txBody>
      </p:sp>
    </p:spTree>
    <p:extLst>
      <p:ext uri="{BB962C8B-B14F-4D97-AF65-F5344CB8AC3E}">
        <p14:creationId xmlns:p14="http://schemas.microsoft.com/office/powerpoint/2010/main" val="59465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A5BE543-3BB1-C5C0-B79C-2BCB56A49683}"/>
              </a:ext>
            </a:extLst>
          </p:cNvPr>
          <p:cNvSpPr txBox="1"/>
          <p:nvPr/>
        </p:nvSpPr>
        <p:spPr>
          <a:xfrm>
            <a:off x="122925" y="195440"/>
            <a:ext cx="12069075" cy="6463308"/>
          </a:xfrm>
          <a:prstGeom prst="rect">
            <a:avLst/>
          </a:prstGeom>
          <a:noFill/>
        </p:spPr>
        <p:txBody>
          <a:bodyPr wrap="square">
            <a:spAutoFit/>
          </a:bodyPr>
          <a:lstStyle/>
          <a:p>
            <a:r>
              <a:rPr lang="en-IN" dirty="0"/>
              <a:t>What is On-Prem ETL?</a:t>
            </a:r>
          </a:p>
          <a:p>
            <a:endParaRPr lang="en-IN" dirty="0"/>
          </a:p>
          <a:p>
            <a:r>
              <a:rPr lang="en-IN" dirty="0"/>
              <a:t>On-Premises ETL means the ETL tool and infrastructure are installed and managed inside an organization’s own data </a:t>
            </a:r>
            <a:r>
              <a:rPr lang="en-IN" dirty="0" err="1"/>
              <a:t>center</a:t>
            </a:r>
            <a:r>
              <a:rPr lang="en-IN" dirty="0"/>
              <a:t>.</a:t>
            </a:r>
          </a:p>
          <a:p>
            <a:r>
              <a:rPr lang="en-IN" b="1" dirty="0"/>
              <a:t>Key Characteristics</a:t>
            </a:r>
          </a:p>
          <a:p>
            <a:r>
              <a:rPr lang="en-IN" dirty="0"/>
              <a:t>	Servers owned by the organization</a:t>
            </a:r>
          </a:p>
          <a:p>
            <a:r>
              <a:rPr lang="en-IN" dirty="0"/>
              <a:t>	Installed behind corporate firewall</a:t>
            </a:r>
          </a:p>
          <a:p>
            <a:r>
              <a:rPr lang="en-IN" dirty="0"/>
              <a:t>	Managed by internal IT teams</a:t>
            </a:r>
          </a:p>
          <a:p>
            <a:r>
              <a:rPr lang="en-IN" dirty="0"/>
              <a:t>	Fixed hardware capacity</a:t>
            </a:r>
          </a:p>
          <a:p>
            <a:endParaRPr lang="en-IN" dirty="0"/>
          </a:p>
          <a:p>
            <a:r>
              <a:rPr lang="en-IN" b="1" dirty="0"/>
              <a:t>Typical Setup</a:t>
            </a:r>
          </a:p>
          <a:p>
            <a:r>
              <a:rPr lang="en-IN" dirty="0"/>
              <a:t>	Source systems (ERP, CRM, DB)</a:t>
            </a:r>
          </a:p>
          <a:p>
            <a:r>
              <a:rPr lang="en-IN" dirty="0"/>
              <a:t>	On-prem ETL server</a:t>
            </a:r>
          </a:p>
          <a:p>
            <a:r>
              <a:rPr lang="en-IN" dirty="0"/>
              <a:t>	On-prem data warehouse</a:t>
            </a:r>
          </a:p>
          <a:p>
            <a:endParaRPr lang="en-IN" dirty="0"/>
          </a:p>
          <a:p>
            <a:r>
              <a:rPr lang="en-IN" dirty="0"/>
              <a:t>What is Cloud ETL?</a:t>
            </a:r>
          </a:p>
          <a:p>
            <a:r>
              <a:rPr lang="en-IN" dirty="0"/>
              <a:t>Cloud ETL means ETL runs on cloud infrastructure, accessed via browser, with elastic compute and managed services.</a:t>
            </a:r>
          </a:p>
          <a:p>
            <a:endParaRPr lang="en-IN" dirty="0"/>
          </a:p>
          <a:p>
            <a:r>
              <a:rPr lang="en-IN" b="1" dirty="0"/>
              <a:t>Key Characteristics</a:t>
            </a:r>
          </a:p>
          <a:p>
            <a:r>
              <a:rPr lang="en-IN" dirty="0"/>
              <a:t>	No local installation</a:t>
            </a:r>
          </a:p>
          <a:p>
            <a:r>
              <a:rPr lang="en-IN" dirty="0"/>
              <a:t>	Runs on AWS / Azure / GCP</a:t>
            </a:r>
          </a:p>
          <a:p>
            <a:r>
              <a:rPr lang="en-IN" dirty="0"/>
              <a:t>	Auto-scaling compute</a:t>
            </a:r>
          </a:p>
          <a:p>
            <a:r>
              <a:rPr lang="en-IN" dirty="0"/>
              <a:t>	Subscription-based pricing</a:t>
            </a:r>
          </a:p>
          <a:p>
            <a:r>
              <a:rPr lang="en-IN" dirty="0"/>
              <a:t>	Designed for SaaS, APIs, and cloud data stores</a:t>
            </a:r>
          </a:p>
        </p:txBody>
      </p:sp>
    </p:spTree>
    <p:extLst>
      <p:ext uri="{BB962C8B-B14F-4D97-AF65-F5344CB8AC3E}">
        <p14:creationId xmlns:p14="http://schemas.microsoft.com/office/powerpoint/2010/main" val="2707774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AB2310-13EA-F1C6-974A-8C4A13284FDC}"/>
              </a:ext>
            </a:extLst>
          </p:cNvPr>
          <p:cNvSpPr txBox="1"/>
          <p:nvPr/>
        </p:nvSpPr>
        <p:spPr>
          <a:xfrm>
            <a:off x="226444" y="259594"/>
            <a:ext cx="6094562" cy="369332"/>
          </a:xfrm>
          <a:prstGeom prst="rect">
            <a:avLst/>
          </a:prstGeom>
          <a:noFill/>
        </p:spPr>
        <p:txBody>
          <a:bodyPr wrap="square">
            <a:spAutoFit/>
          </a:bodyPr>
          <a:lstStyle/>
          <a:p>
            <a:r>
              <a:rPr lang="fr-FR" b="1" dirty="0"/>
              <a:t>On-Prem ETL vs Cloud ETL</a:t>
            </a:r>
            <a:endParaRPr lang="en-IN" b="1" dirty="0"/>
          </a:p>
        </p:txBody>
      </p:sp>
      <p:graphicFrame>
        <p:nvGraphicFramePr>
          <p:cNvPr id="4" name="Table 3">
            <a:extLst>
              <a:ext uri="{FF2B5EF4-FFF2-40B4-BE49-F238E27FC236}">
                <a16:creationId xmlns:a16="http://schemas.microsoft.com/office/drawing/2014/main" id="{1A9618CB-1BF3-0860-B1F0-02062CDC2EB0}"/>
              </a:ext>
            </a:extLst>
          </p:cNvPr>
          <p:cNvGraphicFramePr>
            <a:graphicFrameLocks noGrp="1"/>
          </p:cNvGraphicFramePr>
          <p:nvPr>
            <p:extLst>
              <p:ext uri="{D42A27DB-BD31-4B8C-83A1-F6EECF244321}">
                <p14:modId xmlns:p14="http://schemas.microsoft.com/office/powerpoint/2010/main" val="2196282248"/>
              </p:ext>
            </p:extLst>
          </p:nvPr>
        </p:nvGraphicFramePr>
        <p:xfrm>
          <a:off x="136076" y="973993"/>
          <a:ext cx="10109439" cy="3655620"/>
        </p:xfrm>
        <a:graphic>
          <a:graphicData uri="http://schemas.openxmlformats.org/drawingml/2006/table">
            <a:tbl>
              <a:tblPr/>
              <a:tblGrid>
                <a:gridCol w="3369813">
                  <a:extLst>
                    <a:ext uri="{9D8B030D-6E8A-4147-A177-3AD203B41FA5}">
                      <a16:colId xmlns:a16="http://schemas.microsoft.com/office/drawing/2014/main" val="2591853250"/>
                    </a:ext>
                  </a:extLst>
                </a:gridCol>
                <a:gridCol w="3369813">
                  <a:extLst>
                    <a:ext uri="{9D8B030D-6E8A-4147-A177-3AD203B41FA5}">
                      <a16:colId xmlns:a16="http://schemas.microsoft.com/office/drawing/2014/main" val="255170191"/>
                    </a:ext>
                  </a:extLst>
                </a:gridCol>
                <a:gridCol w="3369813">
                  <a:extLst>
                    <a:ext uri="{9D8B030D-6E8A-4147-A177-3AD203B41FA5}">
                      <a16:colId xmlns:a16="http://schemas.microsoft.com/office/drawing/2014/main" val="3032195804"/>
                    </a:ext>
                  </a:extLst>
                </a:gridCol>
              </a:tblGrid>
              <a:tr h="364966">
                <a:tc>
                  <a:txBody>
                    <a:bodyPr/>
                    <a:lstStyle/>
                    <a:p>
                      <a:r>
                        <a:rPr lang="en-IN" sz="1800"/>
                        <a:t>Aspect</a:t>
                      </a:r>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On-Prem ETL</a:t>
                      </a:r>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Cloud ETL</a:t>
                      </a:r>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9189563"/>
                  </a:ext>
                </a:extLst>
              </a:tr>
              <a:tr h="364966">
                <a:tc>
                  <a:txBody>
                    <a:bodyPr/>
                    <a:lstStyle/>
                    <a:p>
                      <a:r>
                        <a:rPr lang="en-IN" sz="1800" b="1"/>
                        <a:t>Infrastructure</a:t>
                      </a:r>
                      <a:endParaRPr lang="en-IN" sz="1800"/>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Owned &amp; managed</a:t>
                      </a:r>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Fully managed</a:t>
                      </a:r>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8176988"/>
                  </a:ext>
                </a:extLst>
              </a:tr>
              <a:tr h="364966">
                <a:tc>
                  <a:txBody>
                    <a:bodyPr/>
                    <a:lstStyle/>
                    <a:p>
                      <a:r>
                        <a:rPr lang="en-IN" sz="1800" b="1"/>
                        <a:t>Scalability</a:t>
                      </a:r>
                      <a:endParaRPr lang="en-IN" sz="1800"/>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Limited by hardware</a:t>
                      </a:r>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Elastic, auto-scale</a:t>
                      </a:r>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6406431"/>
                  </a:ext>
                </a:extLst>
              </a:tr>
              <a:tr h="364966">
                <a:tc>
                  <a:txBody>
                    <a:bodyPr/>
                    <a:lstStyle/>
                    <a:p>
                      <a:r>
                        <a:rPr lang="en-IN" sz="1800" b="1"/>
                        <a:t>Cost Model</a:t>
                      </a:r>
                      <a:endParaRPr lang="en-IN" sz="1800"/>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CapEx (servers, licenses)</a:t>
                      </a:r>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OpEx (pay-as-you-use)</a:t>
                      </a:r>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3204852"/>
                  </a:ext>
                </a:extLst>
              </a:tr>
              <a:tr h="364966">
                <a:tc>
                  <a:txBody>
                    <a:bodyPr/>
                    <a:lstStyle/>
                    <a:p>
                      <a:r>
                        <a:rPr lang="en-IN" sz="1800" b="1"/>
                        <a:t>Deployment</a:t>
                      </a:r>
                      <a:endParaRPr lang="en-IN" sz="1800"/>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Weeks / months</a:t>
                      </a:r>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Hours / days</a:t>
                      </a:r>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883194"/>
                  </a:ext>
                </a:extLst>
              </a:tr>
              <a:tr h="364966">
                <a:tc>
                  <a:txBody>
                    <a:bodyPr/>
                    <a:lstStyle/>
                    <a:p>
                      <a:r>
                        <a:rPr lang="en-IN" sz="1800" b="1"/>
                        <a:t>Upgrades</a:t>
                      </a:r>
                      <a:endParaRPr lang="en-IN" sz="1800"/>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Manual &amp; risky</a:t>
                      </a:r>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Automatic</a:t>
                      </a:r>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7398494"/>
                  </a:ext>
                </a:extLst>
              </a:tr>
              <a:tr h="364966">
                <a:tc>
                  <a:txBody>
                    <a:bodyPr/>
                    <a:lstStyle/>
                    <a:p>
                      <a:r>
                        <a:rPr lang="en-IN" sz="1800" b="1"/>
                        <a:t>Accessibility</a:t>
                      </a:r>
                      <a:endParaRPr lang="en-IN" sz="1800"/>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Internal network</a:t>
                      </a:r>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Browser-based</a:t>
                      </a:r>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9037112"/>
                  </a:ext>
                </a:extLst>
              </a:tr>
              <a:tr h="364966">
                <a:tc>
                  <a:txBody>
                    <a:bodyPr/>
                    <a:lstStyle/>
                    <a:p>
                      <a:r>
                        <a:rPr lang="en-IN" sz="1800" b="1"/>
                        <a:t>Disaster Recovery</a:t>
                      </a:r>
                      <a:endParaRPr lang="en-IN" sz="1800"/>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Custom setup</a:t>
                      </a:r>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Built-in</a:t>
                      </a:r>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8090454"/>
                  </a:ext>
                </a:extLst>
              </a:tr>
              <a:tr h="364966">
                <a:tc>
                  <a:txBody>
                    <a:bodyPr/>
                    <a:lstStyle/>
                    <a:p>
                      <a:r>
                        <a:rPr lang="en-IN" sz="1800" b="1"/>
                        <a:t>Maintenance</a:t>
                      </a:r>
                      <a:endParaRPr lang="en-IN" sz="1800"/>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High IT effort</a:t>
                      </a:r>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Minimal</a:t>
                      </a:r>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0967371"/>
                  </a:ext>
                </a:extLst>
              </a:tr>
              <a:tr h="364966">
                <a:tc>
                  <a:txBody>
                    <a:bodyPr/>
                    <a:lstStyle/>
                    <a:p>
                      <a:r>
                        <a:rPr lang="en-IN" sz="1800" b="1"/>
                        <a:t>Cloud Integration</a:t>
                      </a:r>
                      <a:endParaRPr lang="en-IN" sz="1800"/>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Limited</a:t>
                      </a:r>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dirty="0"/>
                        <a:t>Native &amp; seamless</a:t>
                      </a:r>
                    </a:p>
                  </a:txBody>
                  <a:tcPr marL="91242" marR="91242" marT="45621" marB="45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9453748"/>
                  </a:ext>
                </a:extLst>
              </a:tr>
            </a:tbl>
          </a:graphicData>
        </a:graphic>
      </p:graphicFrame>
    </p:spTree>
    <p:extLst>
      <p:ext uri="{BB962C8B-B14F-4D97-AF65-F5344CB8AC3E}">
        <p14:creationId xmlns:p14="http://schemas.microsoft.com/office/powerpoint/2010/main" val="924513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AB2310-13EA-F1C6-974A-8C4A13284FDC}"/>
              </a:ext>
            </a:extLst>
          </p:cNvPr>
          <p:cNvSpPr txBox="1"/>
          <p:nvPr/>
        </p:nvSpPr>
        <p:spPr>
          <a:xfrm>
            <a:off x="226444" y="259594"/>
            <a:ext cx="6094562" cy="369332"/>
          </a:xfrm>
          <a:prstGeom prst="rect">
            <a:avLst/>
          </a:prstGeom>
          <a:noFill/>
        </p:spPr>
        <p:txBody>
          <a:bodyPr wrap="square">
            <a:spAutoFit/>
          </a:bodyPr>
          <a:lstStyle/>
          <a:p>
            <a:r>
              <a:rPr lang="en-US" b="1" dirty="0"/>
              <a:t>What is IDMC? (Informatica Data Management Cloud)</a:t>
            </a:r>
            <a:endParaRPr lang="en-IN" b="1" dirty="0"/>
          </a:p>
        </p:txBody>
      </p:sp>
      <p:sp>
        <p:nvSpPr>
          <p:cNvPr id="5" name="TextBox 4">
            <a:extLst>
              <a:ext uri="{FF2B5EF4-FFF2-40B4-BE49-F238E27FC236}">
                <a16:creationId xmlns:a16="http://schemas.microsoft.com/office/drawing/2014/main" id="{4F6E562D-4868-BCAE-9506-70BCB73E4193}"/>
              </a:ext>
            </a:extLst>
          </p:cNvPr>
          <p:cNvSpPr txBox="1"/>
          <p:nvPr/>
        </p:nvSpPr>
        <p:spPr>
          <a:xfrm>
            <a:off x="226444" y="749393"/>
            <a:ext cx="11833284" cy="923330"/>
          </a:xfrm>
          <a:prstGeom prst="rect">
            <a:avLst/>
          </a:prstGeom>
          <a:noFill/>
        </p:spPr>
        <p:txBody>
          <a:bodyPr wrap="square">
            <a:spAutoFit/>
          </a:bodyPr>
          <a:lstStyle/>
          <a:p>
            <a:r>
              <a:rPr lang="en-IN" b="1" dirty="0"/>
              <a:t>IDMC</a:t>
            </a:r>
            <a:r>
              <a:rPr lang="en-IN" dirty="0"/>
              <a:t> stands for </a:t>
            </a:r>
            <a:r>
              <a:rPr lang="en-IN" b="1" dirty="0"/>
              <a:t>Informatica Data </a:t>
            </a:r>
            <a:r>
              <a:rPr lang="en-IN" b="1" i="1" dirty="0"/>
              <a:t>Management Cloud</a:t>
            </a:r>
            <a:r>
              <a:rPr lang="en-IN" i="1" dirty="0"/>
              <a:t> — a </a:t>
            </a:r>
            <a:r>
              <a:rPr lang="en-IN" b="1" i="1" dirty="0"/>
              <a:t>cloud-native, AI-powered data management platform</a:t>
            </a:r>
            <a:r>
              <a:rPr lang="en-IN" i="1" dirty="0"/>
              <a:t> from </a:t>
            </a:r>
            <a:r>
              <a:rPr lang="en-IN" b="1" i="1" dirty="0"/>
              <a:t>Informatica</a:t>
            </a:r>
            <a:r>
              <a:rPr lang="en-IN" i="1" dirty="0"/>
              <a:t>.</a:t>
            </a:r>
          </a:p>
          <a:p>
            <a:r>
              <a:rPr lang="en-IN" i="1" dirty="0"/>
              <a:t>It helps organizations </a:t>
            </a:r>
            <a:r>
              <a:rPr lang="en-IN" b="1" i="1" dirty="0"/>
              <a:t>inte</a:t>
            </a:r>
            <a:r>
              <a:rPr lang="en-IN" b="1" dirty="0"/>
              <a:t>grate, govern, secure, and manage data</a:t>
            </a:r>
            <a:r>
              <a:rPr lang="en-IN" dirty="0"/>
              <a:t> across </a:t>
            </a:r>
            <a:r>
              <a:rPr lang="en-IN" b="1" dirty="0"/>
              <a:t>on-prem, cloud, and hybrid</a:t>
            </a:r>
            <a:r>
              <a:rPr lang="en-IN" dirty="0"/>
              <a:t> environments.</a:t>
            </a:r>
          </a:p>
        </p:txBody>
      </p:sp>
      <p:sp>
        <p:nvSpPr>
          <p:cNvPr id="7" name="TextBox 6">
            <a:extLst>
              <a:ext uri="{FF2B5EF4-FFF2-40B4-BE49-F238E27FC236}">
                <a16:creationId xmlns:a16="http://schemas.microsoft.com/office/drawing/2014/main" id="{E4FCEA45-313A-95ED-3869-348C8DB8FA7E}"/>
              </a:ext>
            </a:extLst>
          </p:cNvPr>
          <p:cNvSpPr txBox="1"/>
          <p:nvPr/>
        </p:nvSpPr>
        <p:spPr>
          <a:xfrm>
            <a:off x="1438" y="2089479"/>
            <a:ext cx="6094562" cy="4508927"/>
          </a:xfrm>
          <a:prstGeom prst="rect">
            <a:avLst/>
          </a:prstGeom>
          <a:noFill/>
        </p:spPr>
        <p:txBody>
          <a:bodyPr wrap="square">
            <a:spAutoFit/>
          </a:bodyPr>
          <a:lstStyle/>
          <a:p>
            <a:r>
              <a:rPr lang="en-US" b="1" dirty="0"/>
              <a:t>Why IDMC Was Introduced</a:t>
            </a:r>
          </a:p>
          <a:p>
            <a:r>
              <a:rPr lang="en-US" dirty="0"/>
              <a:t>Traditional on-prem ETL tools:</a:t>
            </a:r>
          </a:p>
          <a:p>
            <a:pPr marL="800100" lvl="1" indent="-342900">
              <a:spcBef>
                <a:spcPts val="600"/>
              </a:spcBef>
              <a:buFont typeface="Arial" panose="020B0604020202020204" pitchFamily="34" charset="0"/>
              <a:buChar char="•"/>
            </a:pPr>
            <a:r>
              <a:rPr lang="en-US" dirty="0"/>
              <a:t>Are hard to scale</a:t>
            </a:r>
          </a:p>
          <a:p>
            <a:pPr marL="800100" lvl="1" indent="-342900">
              <a:spcBef>
                <a:spcPts val="600"/>
              </a:spcBef>
              <a:buFont typeface="Arial" panose="020B0604020202020204" pitchFamily="34" charset="0"/>
              <a:buChar char="•"/>
            </a:pPr>
            <a:r>
              <a:rPr lang="en-US" dirty="0"/>
              <a:t>Need heavy infrastructure</a:t>
            </a:r>
          </a:p>
          <a:p>
            <a:pPr marL="800100" lvl="1" indent="-342900">
              <a:spcBef>
                <a:spcPts val="600"/>
              </a:spcBef>
              <a:buFont typeface="Arial" panose="020B0604020202020204" pitchFamily="34" charset="0"/>
              <a:buChar char="•"/>
            </a:pPr>
            <a:r>
              <a:rPr lang="en-US" dirty="0"/>
              <a:t>Struggle with cloud &amp; SaaS data</a:t>
            </a:r>
          </a:p>
          <a:p>
            <a:r>
              <a:rPr lang="en-US" b="1" dirty="0"/>
              <a:t>IDMC solves this by being cloud-first, scalable, and AI-driven.</a:t>
            </a:r>
          </a:p>
          <a:p>
            <a:endParaRPr lang="en-US" b="1" dirty="0"/>
          </a:p>
          <a:p>
            <a:r>
              <a:rPr lang="en-US" b="1" dirty="0"/>
              <a:t>AI at the Core (CLAIRE®)</a:t>
            </a:r>
          </a:p>
          <a:p>
            <a:r>
              <a:rPr lang="en-US" dirty="0"/>
              <a:t>IDMC uses </a:t>
            </a:r>
            <a:r>
              <a:rPr lang="en-US" b="1" dirty="0"/>
              <a:t>CLAIRE® AI</a:t>
            </a:r>
            <a:r>
              <a:rPr lang="en-US" dirty="0"/>
              <a:t> to:</a:t>
            </a:r>
          </a:p>
          <a:p>
            <a:pPr marL="800100" lvl="1" indent="-342900">
              <a:spcBef>
                <a:spcPts val="600"/>
              </a:spcBef>
              <a:buFont typeface="Arial" panose="020B0604020202020204" pitchFamily="34" charset="0"/>
              <a:buChar char="•"/>
            </a:pPr>
            <a:r>
              <a:rPr lang="en-US" dirty="0"/>
              <a:t>Suggest transformations</a:t>
            </a:r>
          </a:p>
          <a:p>
            <a:pPr marL="800100" lvl="1" indent="-342900">
              <a:spcBef>
                <a:spcPts val="600"/>
              </a:spcBef>
              <a:buFont typeface="Arial" panose="020B0604020202020204" pitchFamily="34" charset="0"/>
              <a:buChar char="•"/>
            </a:pPr>
            <a:r>
              <a:rPr lang="en-US" dirty="0"/>
              <a:t>Auto-detect data quality rules</a:t>
            </a:r>
          </a:p>
          <a:p>
            <a:pPr marL="800100" lvl="1" indent="-342900">
              <a:spcBef>
                <a:spcPts val="600"/>
              </a:spcBef>
              <a:buFont typeface="Arial" panose="020B0604020202020204" pitchFamily="34" charset="0"/>
              <a:buChar char="•"/>
            </a:pPr>
            <a:r>
              <a:rPr lang="en-US" dirty="0"/>
              <a:t>Recommend mappings</a:t>
            </a:r>
          </a:p>
          <a:p>
            <a:pPr marL="800100" lvl="1" indent="-342900">
              <a:spcBef>
                <a:spcPts val="600"/>
              </a:spcBef>
              <a:buFont typeface="Arial" panose="020B0604020202020204" pitchFamily="34" charset="0"/>
              <a:buChar char="•"/>
            </a:pPr>
            <a:r>
              <a:rPr lang="en-US" dirty="0"/>
              <a:t>Improve performance &amp; accuracy</a:t>
            </a:r>
          </a:p>
          <a:p>
            <a:endParaRPr lang="en-US" dirty="0"/>
          </a:p>
        </p:txBody>
      </p:sp>
    </p:spTree>
    <p:extLst>
      <p:ext uri="{BB962C8B-B14F-4D97-AF65-F5344CB8AC3E}">
        <p14:creationId xmlns:p14="http://schemas.microsoft.com/office/powerpoint/2010/main" val="3485332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F6E562D-4868-BCAE-9506-70BCB73E4193}"/>
              </a:ext>
            </a:extLst>
          </p:cNvPr>
          <p:cNvSpPr txBox="1"/>
          <p:nvPr/>
        </p:nvSpPr>
        <p:spPr>
          <a:xfrm>
            <a:off x="0" y="235818"/>
            <a:ext cx="11833284" cy="6032421"/>
          </a:xfrm>
          <a:prstGeom prst="rect">
            <a:avLst/>
          </a:prstGeom>
          <a:noFill/>
        </p:spPr>
        <p:txBody>
          <a:bodyPr wrap="square">
            <a:spAutoFit/>
          </a:bodyPr>
          <a:lstStyle/>
          <a:p>
            <a:pPr>
              <a:spcBef>
                <a:spcPts val="600"/>
              </a:spcBef>
            </a:pPr>
            <a:r>
              <a:rPr lang="en-IN" b="1" dirty="0"/>
              <a:t>Core Services in IDMC</a:t>
            </a:r>
          </a:p>
          <a:p>
            <a:pPr>
              <a:spcBef>
                <a:spcPts val="600"/>
              </a:spcBef>
            </a:pPr>
            <a:r>
              <a:rPr lang="en-IN" b="1" dirty="0"/>
              <a:t>Cloud Data Integration (CDI)</a:t>
            </a:r>
          </a:p>
          <a:p>
            <a:pPr marL="800100" lvl="1" indent="-342900">
              <a:spcBef>
                <a:spcPts val="600"/>
              </a:spcBef>
              <a:buFont typeface="Arial" panose="020B0604020202020204" pitchFamily="34" charset="0"/>
              <a:buChar char="•"/>
            </a:pPr>
            <a:r>
              <a:rPr lang="en-IN" dirty="0"/>
              <a:t>Cloud ETL / ELT</a:t>
            </a:r>
          </a:p>
          <a:p>
            <a:pPr marL="800100" lvl="1" indent="-342900">
              <a:spcBef>
                <a:spcPts val="600"/>
              </a:spcBef>
              <a:buFont typeface="Arial" panose="020B0604020202020204" pitchFamily="34" charset="0"/>
              <a:buChar char="•"/>
            </a:pPr>
            <a:r>
              <a:rPr lang="en-IN" dirty="0"/>
              <a:t>Batch &amp; near-real-time pipelines</a:t>
            </a:r>
          </a:p>
          <a:p>
            <a:pPr marL="800100" lvl="1" indent="-342900">
              <a:spcBef>
                <a:spcPts val="600"/>
              </a:spcBef>
              <a:buFont typeface="Arial" panose="020B0604020202020204" pitchFamily="34" charset="0"/>
              <a:buChar char="•"/>
            </a:pPr>
            <a:r>
              <a:rPr lang="en-IN" dirty="0"/>
              <a:t>Pushdown optimization</a:t>
            </a:r>
          </a:p>
          <a:p>
            <a:pPr>
              <a:spcBef>
                <a:spcPts val="600"/>
              </a:spcBef>
            </a:pPr>
            <a:r>
              <a:rPr lang="en-IN" b="1" dirty="0"/>
              <a:t> Cloud Application Integration (CAI)</a:t>
            </a:r>
          </a:p>
          <a:p>
            <a:pPr marL="800100" lvl="1" indent="-342900">
              <a:spcBef>
                <a:spcPts val="600"/>
              </a:spcBef>
              <a:buFont typeface="Arial" panose="020B0604020202020204" pitchFamily="34" charset="0"/>
              <a:buChar char="•"/>
            </a:pPr>
            <a:r>
              <a:rPr lang="en-IN" dirty="0"/>
              <a:t>Integrates applications &amp; APIs</a:t>
            </a:r>
          </a:p>
          <a:p>
            <a:pPr marL="800100" lvl="1" indent="-342900">
              <a:spcBef>
                <a:spcPts val="600"/>
              </a:spcBef>
              <a:buFont typeface="Arial" panose="020B0604020202020204" pitchFamily="34" charset="0"/>
              <a:buChar char="•"/>
            </a:pPr>
            <a:r>
              <a:rPr lang="en-IN" dirty="0"/>
              <a:t>Event-based and real-time flows</a:t>
            </a:r>
          </a:p>
          <a:p>
            <a:pPr>
              <a:spcBef>
                <a:spcPts val="600"/>
              </a:spcBef>
            </a:pPr>
            <a:r>
              <a:rPr lang="en-IN" b="1" dirty="0"/>
              <a:t>Cloud Data Quality (CDQ)</a:t>
            </a:r>
          </a:p>
          <a:p>
            <a:pPr marL="800100" lvl="1" indent="-342900">
              <a:spcBef>
                <a:spcPts val="600"/>
              </a:spcBef>
              <a:buFont typeface="Arial" panose="020B0604020202020204" pitchFamily="34" charset="0"/>
              <a:buChar char="•"/>
            </a:pPr>
            <a:r>
              <a:rPr lang="en-IN" dirty="0"/>
              <a:t>Profiling, cleansing, validation</a:t>
            </a:r>
          </a:p>
          <a:p>
            <a:pPr marL="800100" lvl="1" indent="-342900">
              <a:spcBef>
                <a:spcPts val="600"/>
              </a:spcBef>
              <a:buFont typeface="Arial" panose="020B0604020202020204" pitchFamily="34" charset="0"/>
              <a:buChar char="•"/>
            </a:pPr>
            <a:r>
              <a:rPr lang="en-IN" dirty="0"/>
              <a:t>Standardization &amp; matching</a:t>
            </a:r>
          </a:p>
          <a:p>
            <a:pPr>
              <a:spcBef>
                <a:spcPts val="600"/>
              </a:spcBef>
            </a:pPr>
            <a:r>
              <a:rPr lang="en-IN" b="1" dirty="0"/>
              <a:t>Data Governance &amp; </a:t>
            </a:r>
            <a:r>
              <a:rPr lang="en-IN" b="1" dirty="0" err="1"/>
              <a:t>Catalog</a:t>
            </a:r>
            <a:endParaRPr lang="en-IN" b="1" dirty="0"/>
          </a:p>
          <a:p>
            <a:pPr marL="800100" lvl="1" indent="-342900">
              <a:spcBef>
                <a:spcPts val="600"/>
              </a:spcBef>
              <a:buFont typeface="Arial" panose="020B0604020202020204" pitchFamily="34" charset="0"/>
              <a:buChar char="•"/>
            </a:pPr>
            <a:r>
              <a:rPr lang="en-IN" dirty="0"/>
              <a:t>Metadata management</a:t>
            </a:r>
          </a:p>
          <a:p>
            <a:pPr marL="800100" lvl="1" indent="-342900">
              <a:spcBef>
                <a:spcPts val="600"/>
              </a:spcBef>
              <a:buFont typeface="Arial" panose="020B0604020202020204" pitchFamily="34" charset="0"/>
              <a:buChar char="•"/>
            </a:pPr>
            <a:r>
              <a:rPr lang="en-IN" dirty="0"/>
              <a:t>Data lineage &amp; impact analysis</a:t>
            </a:r>
          </a:p>
          <a:p>
            <a:pPr>
              <a:spcBef>
                <a:spcPts val="600"/>
              </a:spcBef>
            </a:pPr>
            <a:r>
              <a:rPr lang="en-IN" b="1" dirty="0"/>
              <a:t>MDM (Master Data Management)</a:t>
            </a:r>
          </a:p>
          <a:p>
            <a:pPr marL="800100" lvl="1" indent="-342900">
              <a:spcBef>
                <a:spcPts val="600"/>
              </a:spcBef>
              <a:buFont typeface="Arial" panose="020B0604020202020204" pitchFamily="34" charset="0"/>
              <a:buChar char="•"/>
            </a:pPr>
            <a:r>
              <a:rPr lang="en-IN" dirty="0"/>
              <a:t>Single source of truth for key entities</a:t>
            </a:r>
          </a:p>
          <a:p>
            <a:pPr marL="800100" lvl="1" indent="-342900">
              <a:spcBef>
                <a:spcPts val="600"/>
              </a:spcBef>
              <a:buFont typeface="Arial" panose="020B0604020202020204" pitchFamily="34" charset="0"/>
              <a:buChar char="•"/>
            </a:pPr>
            <a:r>
              <a:rPr lang="en-IN" dirty="0"/>
              <a:t>Customer 360, product 360</a:t>
            </a:r>
          </a:p>
        </p:txBody>
      </p:sp>
    </p:spTree>
    <p:extLst>
      <p:ext uri="{BB962C8B-B14F-4D97-AF65-F5344CB8AC3E}">
        <p14:creationId xmlns:p14="http://schemas.microsoft.com/office/powerpoint/2010/main" val="275159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F6E562D-4868-BCAE-9506-70BCB73E4193}"/>
              </a:ext>
            </a:extLst>
          </p:cNvPr>
          <p:cNvSpPr txBox="1"/>
          <p:nvPr/>
        </p:nvSpPr>
        <p:spPr>
          <a:xfrm>
            <a:off x="0" y="235818"/>
            <a:ext cx="11833284" cy="723275"/>
          </a:xfrm>
          <a:prstGeom prst="rect">
            <a:avLst/>
          </a:prstGeom>
          <a:noFill/>
        </p:spPr>
        <p:txBody>
          <a:bodyPr wrap="square">
            <a:spAutoFit/>
          </a:bodyPr>
          <a:lstStyle/>
          <a:p>
            <a:r>
              <a:rPr lang="en-IN" b="1" dirty="0"/>
              <a:t>IDMC vs Traditional On-Prem Informatica</a:t>
            </a:r>
          </a:p>
          <a:p>
            <a:pPr>
              <a:spcBef>
                <a:spcPts val="600"/>
              </a:spcBef>
            </a:pPr>
            <a:endParaRPr lang="en-IN" dirty="0"/>
          </a:p>
        </p:txBody>
      </p:sp>
      <p:graphicFrame>
        <p:nvGraphicFramePr>
          <p:cNvPr id="2" name="Table 1">
            <a:extLst>
              <a:ext uri="{FF2B5EF4-FFF2-40B4-BE49-F238E27FC236}">
                <a16:creationId xmlns:a16="http://schemas.microsoft.com/office/drawing/2014/main" id="{0E78F35A-0111-10F9-ECBA-FEE752D78F15}"/>
              </a:ext>
            </a:extLst>
          </p:cNvPr>
          <p:cNvGraphicFramePr>
            <a:graphicFrameLocks noGrp="1"/>
          </p:cNvGraphicFramePr>
          <p:nvPr>
            <p:extLst>
              <p:ext uri="{D42A27DB-BD31-4B8C-83A1-F6EECF244321}">
                <p14:modId xmlns:p14="http://schemas.microsoft.com/office/powerpoint/2010/main" val="1457559539"/>
              </p:ext>
            </p:extLst>
          </p:nvPr>
        </p:nvGraphicFramePr>
        <p:xfrm>
          <a:off x="150962" y="959093"/>
          <a:ext cx="10131426" cy="2560320"/>
        </p:xfrm>
        <a:graphic>
          <a:graphicData uri="http://schemas.openxmlformats.org/drawingml/2006/table">
            <a:tbl>
              <a:tblPr/>
              <a:tblGrid>
                <a:gridCol w="3377142">
                  <a:extLst>
                    <a:ext uri="{9D8B030D-6E8A-4147-A177-3AD203B41FA5}">
                      <a16:colId xmlns:a16="http://schemas.microsoft.com/office/drawing/2014/main" val="655851377"/>
                    </a:ext>
                  </a:extLst>
                </a:gridCol>
                <a:gridCol w="3377142">
                  <a:extLst>
                    <a:ext uri="{9D8B030D-6E8A-4147-A177-3AD203B41FA5}">
                      <a16:colId xmlns:a16="http://schemas.microsoft.com/office/drawing/2014/main" val="160518212"/>
                    </a:ext>
                  </a:extLst>
                </a:gridCol>
                <a:gridCol w="3377142">
                  <a:extLst>
                    <a:ext uri="{9D8B030D-6E8A-4147-A177-3AD203B41FA5}">
                      <a16:colId xmlns:a16="http://schemas.microsoft.com/office/drawing/2014/main" val="558747968"/>
                    </a:ext>
                  </a:extLst>
                </a:gridCol>
              </a:tblGrid>
              <a:tr h="365760">
                <a:tc>
                  <a:txBody>
                    <a:bodyPr/>
                    <a:lstStyle/>
                    <a:p>
                      <a:r>
                        <a:rPr lang="en-IN" sz="1800"/>
                        <a:t>Aspect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On-Prem Informatica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IDMC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1167735"/>
                  </a:ext>
                </a:extLst>
              </a:tr>
              <a:tr h="365760">
                <a:tc>
                  <a:txBody>
                    <a:bodyPr/>
                    <a:lstStyle/>
                    <a:p>
                      <a:r>
                        <a:rPr lang="en-IN" sz="1800"/>
                        <a:t>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Installed in data center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Cloud-native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246232"/>
                  </a:ext>
                </a:extLst>
              </a:tr>
              <a:tr h="365760">
                <a:tc>
                  <a:txBody>
                    <a:bodyPr/>
                    <a:lstStyle/>
                    <a:p>
                      <a:r>
                        <a:rPr lang="en-IN" sz="1800"/>
                        <a:t>Scaling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Hardware-limited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Elastic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5619863"/>
                  </a:ext>
                </a:extLst>
              </a:tr>
              <a:tr h="365760">
                <a:tc>
                  <a:txBody>
                    <a:bodyPr/>
                    <a:lstStyle/>
                    <a:p>
                      <a:r>
                        <a:rPr lang="en-IN" sz="1800"/>
                        <a:t>Upgrades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Manual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Automatic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6548238"/>
                  </a:ext>
                </a:extLst>
              </a:tr>
              <a:tr h="365760">
                <a:tc>
                  <a:txBody>
                    <a:bodyPr/>
                    <a:lstStyle/>
                    <a:p>
                      <a:r>
                        <a:rPr lang="en-IN" sz="1800"/>
                        <a:t>AI Assistance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Limited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Built-in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269473"/>
                  </a:ext>
                </a:extLst>
              </a:tr>
              <a:tr h="365760">
                <a:tc>
                  <a:txBody>
                    <a:bodyPr/>
                    <a:lstStyle/>
                    <a:p>
                      <a:r>
                        <a:rPr lang="en-IN" sz="1800"/>
                        <a:t>Cloud/SaaS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Complex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Native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1209301"/>
                  </a:ext>
                </a:extLst>
              </a:tr>
              <a:tr h="365760">
                <a:tc>
                  <a:txBody>
                    <a:bodyPr/>
                    <a:lstStyle/>
                    <a:p>
                      <a:r>
                        <a:rPr lang="en-IN" sz="1800"/>
                        <a:t>Cost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CapEx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dirty="0"/>
                        <a:t>Subscription (</a:t>
                      </a:r>
                      <a:r>
                        <a:rPr lang="en-IN" sz="1800" dirty="0" err="1"/>
                        <a:t>OpEx</a:t>
                      </a:r>
                      <a:r>
                        <a:rPr lang="en-IN" sz="1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1892051"/>
                  </a:ext>
                </a:extLst>
              </a:tr>
            </a:tbl>
          </a:graphicData>
        </a:graphic>
      </p:graphicFrame>
    </p:spTree>
    <p:extLst>
      <p:ext uri="{BB962C8B-B14F-4D97-AF65-F5344CB8AC3E}">
        <p14:creationId xmlns:p14="http://schemas.microsoft.com/office/powerpoint/2010/main" val="367515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F6E562D-4868-BCAE-9506-70BCB73E4193}"/>
              </a:ext>
            </a:extLst>
          </p:cNvPr>
          <p:cNvSpPr txBox="1"/>
          <p:nvPr/>
        </p:nvSpPr>
        <p:spPr>
          <a:xfrm>
            <a:off x="0" y="235818"/>
            <a:ext cx="11833284" cy="723275"/>
          </a:xfrm>
          <a:prstGeom prst="rect">
            <a:avLst/>
          </a:prstGeom>
          <a:noFill/>
        </p:spPr>
        <p:txBody>
          <a:bodyPr wrap="square">
            <a:spAutoFit/>
          </a:bodyPr>
          <a:lstStyle/>
          <a:p>
            <a:r>
              <a:rPr lang="en-IN" b="1" dirty="0"/>
              <a:t>IDMC vs Traditional On-Prem Informatica</a:t>
            </a:r>
          </a:p>
          <a:p>
            <a:pPr>
              <a:spcBef>
                <a:spcPts val="600"/>
              </a:spcBef>
            </a:pPr>
            <a:endParaRPr lang="en-IN" dirty="0"/>
          </a:p>
        </p:txBody>
      </p:sp>
      <p:graphicFrame>
        <p:nvGraphicFramePr>
          <p:cNvPr id="2" name="Table 1">
            <a:extLst>
              <a:ext uri="{FF2B5EF4-FFF2-40B4-BE49-F238E27FC236}">
                <a16:creationId xmlns:a16="http://schemas.microsoft.com/office/drawing/2014/main" id="{0E78F35A-0111-10F9-ECBA-FEE752D78F15}"/>
              </a:ext>
            </a:extLst>
          </p:cNvPr>
          <p:cNvGraphicFramePr>
            <a:graphicFrameLocks noGrp="1"/>
          </p:cNvGraphicFramePr>
          <p:nvPr/>
        </p:nvGraphicFramePr>
        <p:xfrm>
          <a:off x="150962" y="959093"/>
          <a:ext cx="10131426" cy="2560320"/>
        </p:xfrm>
        <a:graphic>
          <a:graphicData uri="http://schemas.openxmlformats.org/drawingml/2006/table">
            <a:tbl>
              <a:tblPr/>
              <a:tblGrid>
                <a:gridCol w="3377142">
                  <a:extLst>
                    <a:ext uri="{9D8B030D-6E8A-4147-A177-3AD203B41FA5}">
                      <a16:colId xmlns:a16="http://schemas.microsoft.com/office/drawing/2014/main" val="655851377"/>
                    </a:ext>
                  </a:extLst>
                </a:gridCol>
                <a:gridCol w="3377142">
                  <a:extLst>
                    <a:ext uri="{9D8B030D-6E8A-4147-A177-3AD203B41FA5}">
                      <a16:colId xmlns:a16="http://schemas.microsoft.com/office/drawing/2014/main" val="160518212"/>
                    </a:ext>
                  </a:extLst>
                </a:gridCol>
                <a:gridCol w="3377142">
                  <a:extLst>
                    <a:ext uri="{9D8B030D-6E8A-4147-A177-3AD203B41FA5}">
                      <a16:colId xmlns:a16="http://schemas.microsoft.com/office/drawing/2014/main" val="558747968"/>
                    </a:ext>
                  </a:extLst>
                </a:gridCol>
              </a:tblGrid>
              <a:tr h="365760">
                <a:tc>
                  <a:txBody>
                    <a:bodyPr/>
                    <a:lstStyle/>
                    <a:p>
                      <a:r>
                        <a:rPr lang="en-IN" sz="1800"/>
                        <a:t>Aspect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On-Prem Informatica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IDMC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1167735"/>
                  </a:ext>
                </a:extLst>
              </a:tr>
              <a:tr h="365760">
                <a:tc>
                  <a:txBody>
                    <a:bodyPr/>
                    <a:lstStyle/>
                    <a:p>
                      <a:r>
                        <a:rPr lang="en-IN" sz="1800"/>
                        <a:t>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Installed in data center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Cloud-native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246232"/>
                  </a:ext>
                </a:extLst>
              </a:tr>
              <a:tr h="365760">
                <a:tc>
                  <a:txBody>
                    <a:bodyPr/>
                    <a:lstStyle/>
                    <a:p>
                      <a:r>
                        <a:rPr lang="en-IN" sz="1800"/>
                        <a:t>Scaling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Hardware-limited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Elastic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5619863"/>
                  </a:ext>
                </a:extLst>
              </a:tr>
              <a:tr h="365760">
                <a:tc>
                  <a:txBody>
                    <a:bodyPr/>
                    <a:lstStyle/>
                    <a:p>
                      <a:r>
                        <a:rPr lang="en-IN" sz="1800"/>
                        <a:t>Upgrades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Manual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Automatic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6548238"/>
                  </a:ext>
                </a:extLst>
              </a:tr>
              <a:tr h="365760">
                <a:tc>
                  <a:txBody>
                    <a:bodyPr/>
                    <a:lstStyle/>
                    <a:p>
                      <a:r>
                        <a:rPr lang="en-IN" sz="1800"/>
                        <a:t>AI Assistance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Limited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Built-in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269473"/>
                  </a:ext>
                </a:extLst>
              </a:tr>
              <a:tr h="365760">
                <a:tc>
                  <a:txBody>
                    <a:bodyPr/>
                    <a:lstStyle/>
                    <a:p>
                      <a:r>
                        <a:rPr lang="en-IN" sz="1800"/>
                        <a:t>Cloud/SaaS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Complex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Native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1209301"/>
                  </a:ext>
                </a:extLst>
              </a:tr>
              <a:tr h="365760">
                <a:tc>
                  <a:txBody>
                    <a:bodyPr/>
                    <a:lstStyle/>
                    <a:p>
                      <a:r>
                        <a:rPr lang="en-IN" sz="1800"/>
                        <a:t>Cost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CapEx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dirty="0"/>
                        <a:t>Subscription (</a:t>
                      </a:r>
                      <a:r>
                        <a:rPr lang="en-IN" sz="1800" dirty="0" err="1"/>
                        <a:t>OpEx</a:t>
                      </a:r>
                      <a:r>
                        <a:rPr lang="en-IN" sz="1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1892051"/>
                  </a:ext>
                </a:extLst>
              </a:tr>
            </a:tbl>
          </a:graphicData>
        </a:graphic>
      </p:graphicFrame>
    </p:spTree>
    <p:extLst>
      <p:ext uri="{BB962C8B-B14F-4D97-AF65-F5344CB8AC3E}">
        <p14:creationId xmlns:p14="http://schemas.microsoft.com/office/powerpoint/2010/main" val="3905501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M01S07.png">
            <a:extLst>
              <a:ext uri="{FF2B5EF4-FFF2-40B4-BE49-F238E27FC236}">
                <a16:creationId xmlns:a16="http://schemas.microsoft.com/office/drawing/2014/main" id="{3E04466A-147C-0BC0-A94B-EB0FA905813E}"/>
              </a:ext>
            </a:extLst>
          </p:cNvPr>
          <p:cNvPicPr>
            <a:picLocks noChangeAspect="1" noChangeArrowheads="1"/>
          </p:cNvPicPr>
          <p:nvPr/>
        </p:nvPicPr>
        <p:blipFill>
          <a:blip r:embed="rId2"/>
          <a:srcRect/>
          <a:stretch>
            <a:fillRect/>
          </a:stretch>
        </p:blipFill>
        <p:spPr bwMode="auto">
          <a:xfrm>
            <a:off x="112143" y="0"/>
            <a:ext cx="11861321" cy="6935638"/>
          </a:xfrm>
          <a:prstGeom prst="rect">
            <a:avLst/>
          </a:prstGeom>
          <a:noFill/>
        </p:spPr>
      </p:pic>
    </p:spTree>
    <p:extLst>
      <p:ext uri="{BB962C8B-B14F-4D97-AF65-F5344CB8AC3E}">
        <p14:creationId xmlns:p14="http://schemas.microsoft.com/office/powerpoint/2010/main" val="486691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D1AC2BD2-1365-8D35-B10A-D9E5F5541E73}"/>
              </a:ext>
            </a:extLst>
          </p:cNvPr>
          <p:cNvPicPr>
            <a:picLocks noChangeAspect="1" noChangeArrowheads="1"/>
          </p:cNvPicPr>
          <p:nvPr/>
        </p:nvPicPr>
        <p:blipFill>
          <a:blip r:embed="rId2"/>
          <a:srcRect/>
          <a:stretch>
            <a:fillRect/>
          </a:stretch>
        </p:blipFill>
        <p:spPr bwMode="auto">
          <a:xfrm>
            <a:off x="-146649" y="60385"/>
            <a:ext cx="12232257" cy="6797615"/>
          </a:xfrm>
          <a:prstGeom prst="rect">
            <a:avLst/>
          </a:prstGeom>
          <a:noFill/>
          <a:ln w="9525">
            <a:noFill/>
            <a:miter lim="800000"/>
            <a:headEnd/>
            <a:tailEnd/>
          </a:ln>
          <a:effectLst/>
        </p:spPr>
      </p:pic>
    </p:spTree>
    <p:extLst>
      <p:ext uri="{BB962C8B-B14F-4D97-AF65-F5344CB8AC3E}">
        <p14:creationId xmlns:p14="http://schemas.microsoft.com/office/powerpoint/2010/main" val="1549564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M01S12.png">
            <a:extLst>
              <a:ext uri="{FF2B5EF4-FFF2-40B4-BE49-F238E27FC236}">
                <a16:creationId xmlns:a16="http://schemas.microsoft.com/office/drawing/2014/main" id="{4D145252-FF21-5443-80AE-996EB43A54BA}"/>
              </a:ext>
            </a:extLst>
          </p:cNvPr>
          <p:cNvPicPr>
            <a:picLocks noChangeAspect="1" noChangeArrowheads="1"/>
          </p:cNvPicPr>
          <p:nvPr/>
        </p:nvPicPr>
        <p:blipFill>
          <a:blip r:embed="rId2"/>
          <a:srcRect/>
          <a:stretch>
            <a:fillRect/>
          </a:stretch>
        </p:blipFill>
        <p:spPr bwMode="auto">
          <a:xfrm>
            <a:off x="687238" y="509284"/>
            <a:ext cx="10817523" cy="5322498"/>
          </a:xfrm>
          <a:prstGeom prst="rect">
            <a:avLst/>
          </a:prstGeom>
          <a:noFill/>
        </p:spPr>
      </p:pic>
      <p:sp>
        <p:nvSpPr>
          <p:cNvPr id="5" name="TextBox 4">
            <a:extLst>
              <a:ext uri="{FF2B5EF4-FFF2-40B4-BE49-F238E27FC236}">
                <a16:creationId xmlns:a16="http://schemas.microsoft.com/office/drawing/2014/main" id="{AC0D2E8B-0378-9BB4-DCA4-508299B5E485}"/>
              </a:ext>
            </a:extLst>
          </p:cNvPr>
          <p:cNvSpPr txBox="1"/>
          <p:nvPr/>
        </p:nvSpPr>
        <p:spPr>
          <a:xfrm>
            <a:off x="563591" y="1734235"/>
            <a:ext cx="12016596" cy="369332"/>
          </a:xfrm>
          <a:prstGeom prst="rect">
            <a:avLst/>
          </a:prstGeom>
          <a:noFill/>
        </p:spPr>
        <p:txBody>
          <a:bodyPr wrap="square">
            <a:spAutoFit/>
          </a:bodyPr>
          <a:lstStyle/>
          <a:p>
            <a:r>
              <a:rPr lang="en-US" b="1" dirty="0" err="1"/>
              <a:t>Inforamtica</a:t>
            </a:r>
            <a:r>
              <a:rPr lang="en-US" b="1" dirty="0"/>
              <a:t> Cloud Services</a:t>
            </a:r>
          </a:p>
        </p:txBody>
      </p:sp>
      <p:sp>
        <p:nvSpPr>
          <p:cNvPr id="6" name="Rectangle 5">
            <a:extLst>
              <a:ext uri="{FF2B5EF4-FFF2-40B4-BE49-F238E27FC236}">
                <a16:creationId xmlns:a16="http://schemas.microsoft.com/office/drawing/2014/main" id="{179AB89E-5787-78F4-408B-42CBD6011659}"/>
              </a:ext>
            </a:extLst>
          </p:cNvPr>
          <p:cNvSpPr/>
          <p:nvPr/>
        </p:nvSpPr>
        <p:spPr>
          <a:xfrm>
            <a:off x="304800" y="152400"/>
            <a:ext cx="4572000" cy="923330"/>
          </a:xfrm>
          <a:prstGeom prst="rect">
            <a:avLst/>
          </a:prstGeom>
        </p:spPr>
        <p:txBody>
          <a:bodyPr>
            <a:spAutoFit/>
          </a:bodyPr>
          <a:lstStyle/>
          <a:p>
            <a:pPr fontAlgn="base"/>
            <a:r>
              <a:rPr lang="en-US" b="1" dirty="0"/>
              <a:t>IICS Architecture</a:t>
            </a:r>
          </a:p>
          <a:p>
            <a:br>
              <a:rPr lang="en-US" dirty="0"/>
            </a:br>
            <a:endParaRPr lang="en-US" dirty="0"/>
          </a:p>
        </p:txBody>
      </p:sp>
      <p:sp>
        <p:nvSpPr>
          <p:cNvPr id="7" name="TextBox 6">
            <a:extLst>
              <a:ext uri="{FF2B5EF4-FFF2-40B4-BE49-F238E27FC236}">
                <a16:creationId xmlns:a16="http://schemas.microsoft.com/office/drawing/2014/main" id="{5D12751B-EE40-0C2D-5C76-AB76C20045E4}"/>
              </a:ext>
            </a:extLst>
          </p:cNvPr>
          <p:cNvSpPr txBox="1"/>
          <p:nvPr/>
        </p:nvSpPr>
        <p:spPr>
          <a:xfrm>
            <a:off x="362308" y="5984182"/>
            <a:ext cx="12016596" cy="369332"/>
          </a:xfrm>
          <a:prstGeom prst="rect">
            <a:avLst/>
          </a:prstGeom>
          <a:noFill/>
        </p:spPr>
        <p:txBody>
          <a:bodyPr wrap="square">
            <a:spAutoFit/>
          </a:bodyPr>
          <a:lstStyle/>
          <a:p>
            <a:r>
              <a:rPr lang="en-US" b="1" dirty="0"/>
              <a:t>As IICS is an iPaaS based application, you can access it from any machine with Internet access and a web browser</a:t>
            </a:r>
          </a:p>
        </p:txBody>
      </p:sp>
    </p:spTree>
    <p:extLst>
      <p:ext uri="{BB962C8B-B14F-4D97-AF65-F5344CB8AC3E}">
        <p14:creationId xmlns:p14="http://schemas.microsoft.com/office/powerpoint/2010/main" val="467246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52BD68-7F84-07ED-AB9B-6138BE244CCB}"/>
              </a:ext>
            </a:extLst>
          </p:cNvPr>
          <p:cNvSpPr/>
          <p:nvPr/>
        </p:nvSpPr>
        <p:spPr>
          <a:xfrm>
            <a:off x="228600" y="381000"/>
            <a:ext cx="10864970" cy="646331"/>
          </a:xfrm>
          <a:prstGeom prst="rect">
            <a:avLst/>
          </a:prstGeom>
        </p:spPr>
        <p:txBody>
          <a:bodyPr wrap="square">
            <a:spAutoFit/>
          </a:bodyPr>
          <a:lstStyle/>
          <a:p>
            <a:pPr fontAlgn="base"/>
            <a:r>
              <a:rPr lang="en-US" b="1" dirty="0"/>
              <a:t>IICS Repository</a:t>
            </a:r>
          </a:p>
          <a:p>
            <a:pPr fontAlgn="base"/>
            <a:r>
              <a:rPr lang="en-US" dirty="0"/>
              <a:t>When you create, schedule, and run tasks, its information is written to the IICS repository. </a:t>
            </a:r>
          </a:p>
        </p:txBody>
      </p:sp>
      <p:pic>
        <p:nvPicPr>
          <p:cNvPr id="4" name="Picture 1">
            <a:extLst>
              <a:ext uri="{FF2B5EF4-FFF2-40B4-BE49-F238E27FC236}">
                <a16:creationId xmlns:a16="http://schemas.microsoft.com/office/drawing/2014/main" id="{851470DB-3A68-DDCC-A835-804BF59F8207}"/>
              </a:ext>
            </a:extLst>
          </p:cNvPr>
          <p:cNvPicPr>
            <a:picLocks noChangeAspect="1" noChangeArrowheads="1"/>
          </p:cNvPicPr>
          <p:nvPr/>
        </p:nvPicPr>
        <p:blipFill>
          <a:blip r:embed="rId2"/>
          <a:srcRect/>
          <a:stretch>
            <a:fillRect/>
          </a:stretch>
        </p:blipFill>
        <p:spPr bwMode="auto">
          <a:xfrm>
            <a:off x="310551" y="1167801"/>
            <a:ext cx="5867400" cy="5543550"/>
          </a:xfrm>
          <a:prstGeom prst="rect">
            <a:avLst/>
          </a:prstGeom>
          <a:noFill/>
          <a:ln w="9525">
            <a:noFill/>
            <a:miter lim="800000"/>
            <a:headEnd/>
            <a:tailEnd/>
          </a:ln>
          <a:effectLst/>
        </p:spPr>
      </p:pic>
      <p:pic>
        <p:nvPicPr>
          <p:cNvPr id="8" name="Picture 2">
            <a:extLst>
              <a:ext uri="{FF2B5EF4-FFF2-40B4-BE49-F238E27FC236}">
                <a16:creationId xmlns:a16="http://schemas.microsoft.com/office/drawing/2014/main" id="{83EF799A-F34D-301D-EE2D-469286EC0849}"/>
              </a:ext>
            </a:extLst>
          </p:cNvPr>
          <p:cNvPicPr>
            <a:picLocks noChangeAspect="1" noChangeArrowheads="1"/>
          </p:cNvPicPr>
          <p:nvPr/>
        </p:nvPicPr>
        <p:blipFill>
          <a:blip r:embed="rId3"/>
          <a:srcRect/>
          <a:stretch>
            <a:fillRect/>
          </a:stretch>
        </p:blipFill>
        <p:spPr bwMode="auto">
          <a:xfrm>
            <a:off x="7128295" y="2883019"/>
            <a:ext cx="2647950" cy="2533650"/>
          </a:xfrm>
          <a:prstGeom prst="rect">
            <a:avLst/>
          </a:prstGeom>
          <a:noFill/>
          <a:ln w="9525">
            <a:noFill/>
            <a:miter lim="800000"/>
            <a:headEnd/>
            <a:tailEnd/>
          </a:ln>
          <a:effectLst/>
        </p:spPr>
      </p:pic>
    </p:spTree>
    <p:extLst>
      <p:ext uri="{BB962C8B-B14F-4D97-AF65-F5344CB8AC3E}">
        <p14:creationId xmlns:p14="http://schemas.microsoft.com/office/powerpoint/2010/main" val="440288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C8C61BE-69F8-4645-BBD1-95FBE791F58A}"/>
              </a:ext>
            </a:extLst>
          </p:cNvPr>
          <p:cNvSpPr/>
          <p:nvPr/>
        </p:nvSpPr>
        <p:spPr>
          <a:xfrm>
            <a:off x="381000" y="381000"/>
            <a:ext cx="10712570" cy="4524315"/>
          </a:xfrm>
          <a:prstGeom prst="rect">
            <a:avLst/>
          </a:prstGeom>
        </p:spPr>
        <p:txBody>
          <a:bodyPr wrap="square">
            <a:spAutoFit/>
          </a:bodyPr>
          <a:lstStyle/>
          <a:p>
            <a:pPr fontAlgn="base"/>
            <a:r>
              <a:rPr lang="en-US" b="1" dirty="0"/>
              <a:t>Cloud Data Integration Service</a:t>
            </a:r>
          </a:p>
          <a:p>
            <a:pPr fontAlgn="base"/>
            <a:endParaRPr lang="en-US" dirty="0"/>
          </a:p>
          <a:p>
            <a:pPr fontAlgn="base"/>
            <a:r>
              <a:rPr lang="en-US" dirty="0"/>
              <a:t>Data Integration service is used to build high-performing cloud data warehouses and manage data integration activities to use in the IICS tasks. </a:t>
            </a:r>
          </a:p>
          <a:p>
            <a:pPr fontAlgn="base"/>
            <a:endParaRPr lang="en-US" dirty="0"/>
          </a:p>
          <a:p>
            <a:pPr fontAlgn="base"/>
            <a:r>
              <a:rPr lang="en-US" dirty="0"/>
              <a:t>You can perform the following tasks in the Data Integration service: </a:t>
            </a:r>
          </a:p>
          <a:p>
            <a:pPr fontAlgn="base"/>
            <a:endParaRPr lang="en-US" dirty="0"/>
          </a:p>
          <a:p>
            <a:pPr fontAlgn="base"/>
            <a:r>
              <a:rPr lang="en-US" dirty="0"/>
              <a:t>Design task from a variety of sources, targets, and transformations and use them to transform and map data.</a:t>
            </a:r>
          </a:p>
          <a:p>
            <a:pPr fontAlgn="base"/>
            <a:endParaRPr lang="en-US" dirty="0"/>
          </a:p>
          <a:p>
            <a:pPr fontAlgn="base"/>
            <a:r>
              <a:rPr lang="en-US" dirty="0"/>
              <a:t>Execute a task on demand, based on a schedule, or on real time events such as an outbound message triggered in </a:t>
            </a:r>
            <a:r>
              <a:rPr lang="en-US" dirty="0" err="1"/>
              <a:t>Salesforce</a:t>
            </a:r>
            <a:endParaRPr lang="en-US" dirty="0"/>
          </a:p>
          <a:p>
            <a:pPr fontAlgn="base"/>
            <a:endParaRPr lang="en-US" dirty="0"/>
          </a:p>
          <a:p>
            <a:pPr fontAlgn="base"/>
            <a:endParaRPr lang="en-US" dirty="0"/>
          </a:p>
          <a:p>
            <a:pPr fontAlgn="base"/>
            <a:r>
              <a:rPr lang="en-US" dirty="0"/>
              <a:t>Monitor tasks for session logs, job status, and error logs in the jobs section of the Data Integration Service.</a:t>
            </a:r>
          </a:p>
          <a:p>
            <a:pPr fontAlgn="base"/>
            <a:endParaRPr lang="en-US" dirty="0"/>
          </a:p>
          <a:p>
            <a:pPr fontAlgn="base"/>
            <a:r>
              <a:rPr lang="en-US" dirty="0"/>
              <a:t>Administer tasks to manage users, their access rights and privileges, and view audit logs.</a:t>
            </a:r>
          </a:p>
        </p:txBody>
      </p:sp>
    </p:spTree>
    <p:extLst>
      <p:ext uri="{BB962C8B-B14F-4D97-AF65-F5344CB8AC3E}">
        <p14:creationId xmlns:p14="http://schemas.microsoft.com/office/powerpoint/2010/main" val="2836135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DED2A01-7654-D8E6-F1BE-61A98FDC6843}"/>
              </a:ext>
            </a:extLst>
          </p:cNvPr>
          <p:cNvSpPr/>
          <p:nvPr/>
        </p:nvSpPr>
        <p:spPr>
          <a:xfrm>
            <a:off x="350807" y="503207"/>
            <a:ext cx="11182710" cy="3416320"/>
          </a:xfrm>
          <a:prstGeom prst="rect">
            <a:avLst/>
          </a:prstGeom>
        </p:spPr>
        <p:txBody>
          <a:bodyPr wrap="square">
            <a:spAutoFit/>
          </a:bodyPr>
          <a:lstStyle/>
          <a:p>
            <a:r>
              <a:rPr lang="en-US" b="1" dirty="0"/>
              <a:t>Mapping : </a:t>
            </a:r>
            <a:r>
              <a:rPr lang="en-US" dirty="0"/>
              <a:t>A mapping defines reusable data flow logic that you can use in mapping tasks. A mapping defines the flow of data from a source to a target.</a:t>
            </a:r>
          </a:p>
          <a:p>
            <a:endParaRPr lang="en-US" dirty="0"/>
          </a:p>
          <a:p>
            <a:r>
              <a:rPr lang="en-US" b="1" dirty="0"/>
              <a:t>Task Flow : </a:t>
            </a:r>
            <a:r>
              <a:rPr lang="en-US" dirty="0"/>
              <a:t>A </a:t>
            </a:r>
            <a:r>
              <a:rPr lang="en-US" dirty="0" err="1"/>
              <a:t>taskflow</a:t>
            </a:r>
            <a:r>
              <a:rPr lang="en-US" dirty="0"/>
              <a:t> controls the sequence in which you execute the tasks. The execution sequence of tasks is based on the execution of the previous task. You must first create tasks and then add them to a </a:t>
            </a:r>
            <a:r>
              <a:rPr lang="en-US" dirty="0" err="1"/>
              <a:t>taskflow</a:t>
            </a:r>
            <a:r>
              <a:rPr lang="en-US" dirty="0"/>
              <a:t>.</a:t>
            </a:r>
          </a:p>
          <a:p>
            <a:endParaRPr lang="en-US" b="1" dirty="0"/>
          </a:p>
          <a:p>
            <a:pPr fontAlgn="base"/>
            <a:r>
              <a:rPr lang="en-US" b="1" dirty="0"/>
              <a:t>Cloud Data Integration Components</a:t>
            </a:r>
          </a:p>
          <a:p>
            <a:pPr fontAlgn="base"/>
            <a:r>
              <a:rPr lang="en-US" dirty="0"/>
              <a:t>Components are assets that support mappings and tasks. You can use a Component within an asset. </a:t>
            </a:r>
          </a:p>
          <a:p>
            <a:endParaRPr lang="en-US" b="1" dirty="0"/>
          </a:p>
          <a:p>
            <a:r>
              <a:rPr lang="en-US" dirty="0"/>
              <a:t>A Transformation is a repository object within a mapping that defines rules to read, modify, filter, aggregate, or pass data from a source to a target</a:t>
            </a:r>
          </a:p>
          <a:p>
            <a:endParaRPr lang="en-US" b="1" dirty="0"/>
          </a:p>
        </p:txBody>
      </p:sp>
    </p:spTree>
    <p:extLst>
      <p:ext uri="{BB962C8B-B14F-4D97-AF65-F5344CB8AC3E}">
        <p14:creationId xmlns:p14="http://schemas.microsoft.com/office/powerpoint/2010/main" val="4267461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9AED644-4928-FC8E-393C-982021DA2651}"/>
              </a:ext>
            </a:extLst>
          </p:cNvPr>
          <p:cNvSpPr/>
          <p:nvPr/>
        </p:nvSpPr>
        <p:spPr>
          <a:xfrm>
            <a:off x="228600" y="152400"/>
            <a:ext cx="10951234" cy="2262158"/>
          </a:xfrm>
          <a:prstGeom prst="rect">
            <a:avLst/>
          </a:prstGeom>
        </p:spPr>
        <p:txBody>
          <a:bodyPr wrap="square">
            <a:spAutoFit/>
          </a:bodyPr>
          <a:lstStyle/>
          <a:p>
            <a:pPr fontAlgn="base">
              <a:spcBef>
                <a:spcPts val="600"/>
              </a:spcBef>
            </a:pPr>
            <a:r>
              <a:rPr lang="en-US" b="1" dirty="0"/>
              <a:t>What is a Runtime Environment?</a:t>
            </a:r>
          </a:p>
          <a:p>
            <a:pPr fontAlgn="base">
              <a:spcBef>
                <a:spcPts val="600"/>
              </a:spcBef>
            </a:pPr>
            <a:r>
              <a:rPr lang="en-US" dirty="0"/>
              <a:t>A runtime environment is the execution platform that runs a data integration or application integration task. To run tasks in your organization, you must have at least one runtime environment set-up in your organization</a:t>
            </a:r>
          </a:p>
          <a:p>
            <a:pPr fontAlgn="base">
              <a:spcBef>
                <a:spcPts val="600"/>
              </a:spcBef>
            </a:pPr>
            <a:r>
              <a:rPr lang="en-US" b="1" dirty="0"/>
              <a:t>Informatica Cloud supports two runtime environments</a:t>
            </a:r>
          </a:p>
          <a:p>
            <a:pPr fontAlgn="base">
              <a:spcBef>
                <a:spcPts val="600"/>
              </a:spcBef>
            </a:pPr>
            <a:r>
              <a:rPr lang="en-US" b="1" dirty="0"/>
              <a:t>	</a:t>
            </a:r>
            <a:r>
              <a:rPr lang="en-US" dirty="0"/>
              <a:t>Informatica Cloud Hosted Agent </a:t>
            </a:r>
            <a:br>
              <a:rPr lang="en-US" dirty="0"/>
            </a:br>
            <a:r>
              <a:rPr lang="en-US" dirty="0"/>
              <a:t>	Informatica Cloud Secure Agent</a:t>
            </a:r>
          </a:p>
          <a:p>
            <a:pPr fontAlgn="base"/>
            <a:endParaRPr lang="en-US" b="1" dirty="0"/>
          </a:p>
        </p:txBody>
      </p:sp>
      <p:pic>
        <p:nvPicPr>
          <p:cNvPr id="3" name="Picture 2">
            <a:extLst>
              <a:ext uri="{FF2B5EF4-FFF2-40B4-BE49-F238E27FC236}">
                <a16:creationId xmlns:a16="http://schemas.microsoft.com/office/drawing/2014/main" id="{11260C52-47D3-4279-1F30-BCB84DDCED78}"/>
              </a:ext>
            </a:extLst>
          </p:cNvPr>
          <p:cNvPicPr>
            <a:picLocks noChangeAspect="1" noChangeArrowheads="1"/>
          </p:cNvPicPr>
          <p:nvPr/>
        </p:nvPicPr>
        <p:blipFill>
          <a:blip r:embed="rId2"/>
          <a:srcRect/>
          <a:stretch>
            <a:fillRect/>
          </a:stretch>
        </p:blipFill>
        <p:spPr bwMode="auto">
          <a:xfrm>
            <a:off x="61822" y="2277375"/>
            <a:ext cx="11901577" cy="4428226"/>
          </a:xfrm>
          <a:prstGeom prst="rect">
            <a:avLst/>
          </a:prstGeom>
          <a:noFill/>
          <a:ln w="9525">
            <a:noFill/>
            <a:miter lim="800000"/>
            <a:headEnd/>
            <a:tailEnd/>
          </a:ln>
          <a:effectLst/>
        </p:spPr>
      </p:pic>
    </p:spTree>
    <p:extLst>
      <p:ext uri="{BB962C8B-B14F-4D97-AF65-F5344CB8AC3E}">
        <p14:creationId xmlns:p14="http://schemas.microsoft.com/office/powerpoint/2010/main" val="795171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9807D3B-5407-0F91-15DE-26361EF50FBE}"/>
              </a:ext>
            </a:extLst>
          </p:cNvPr>
          <p:cNvSpPr/>
          <p:nvPr/>
        </p:nvSpPr>
        <p:spPr>
          <a:xfrm>
            <a:off x="304800" y="304800"/>
            <a:ext cx="11496136" cy="2693045"/>
          </a:xfrm>
          <a:prstGeom prst="rect">
            <a:avLst/>
          </a:prstGeom>
        </p:spPr>
        <p:txBody>
          <a:bodyPr wrap="square">
            <a:spAutoFit/>
          </a:bodyPr>
          <a:lstStyle/>
          <a:p>
            <a:pPr fontAlgn="base">
              <a:spcBef>
                <a:spcPts val="600"/>
              </a:spcBef>
            </a:pPr>
            <a:r>
              <a:rPr lang="en-US" b="1" dirty="0" err="1"/>
              <a:t>Informatica</a:t>
            </a:r>
            <a:r>
              <a:rPr lang="en-US" b="1" dirty="0"/>
              <a:t> Cloud Secure Agent</a:t>
            </a:r>
          </a:p>
          <a:p>
            <a:pPr fontAlgn="base">
              <a:spcBef>
                <a:spcPts val="600"/>
              </a:spcBef>
            </a:pPr>
            <a:endParaRPr lang="en-US" dirty="0"/>
          </a:p>
          <a:p>
            <a:pPr fontAlgn="base">
              <a:spcBef>
                <a:spcPts val="600"/>
              </a:spcBef>
            </a:pPr>
            <a:r>
              <a:rPr lang="en-US" dirty="0"/>
              <a:t>The Secure Agent is a lightweight, self-upgrading program that runs on a machine inside your network. </a:t>
            </a:r>
          </a:p>
          <a:p>
            <a:pPr fontAlgn="base">
              <a:spcBef>
                <a:spcPts val="600"/>
              </a:spcBef>
            </a:pPr>
            <a:r>
              <a:rPr lang="en-US" dirty="0"/>
              <a:t>It is responsible for moving data directly from the source to the target</a:t>
            </a:r>
          </a:p>
          <a:p>
            <a:pPr fontAlgn="base">
              <a:spcBef>
                <a:spcPts val="600"/>
              </a:spcBef>
            </a:pPr>
            <a:r>
              <a:rPr lang="en-US" dirty="0"/>
              <a:t>You can access all your local resources, for example, databases or applications that reside behind the firewall through the secure agent</a:t>
            </a:r>
          </a:p>
          <a:p>
            <a:pPr fontAlgn="base">
              <a:spcBef>
                <a:spcPts val="600"/>
              </a:spcBef>
            </a:pPr>
            <a:r>
              <a:rPr lang="en-US" dirty="0"/>
              <a:t>The Secure Agent is the local agent that is responsible for running the tasks in IICS. So, your application data never gets staged on the </a:t>
            </a:r>
            <a:r>
              <a:rPr lang="en-US" dirty="0" err="1"/>
              <a:t>Informatica</a:t>
            </a:r>
            <a:r>
              <a:rPr lang="en-US" dirty="0"/>
              <a:t> Cloud servers, keeping the data secure behind the firewall.</a:t>
            </a:r>
          </a:p>
        </p:txBody>
      </p:sp>
      <p:pic>
        <p:nvPicPr>
          <p:cNvPr id="5" name="Picture 1">
            <a:extLst>
              <a:ext uri="{FF2B5EF4-FFF2-40B4-BE49-F238E27FC236}">
                <a16:creationId xmlns:a16="http://schemas.microsoft.com/office/drawing/2014/main" id="{2C9EAE5A-0134-8E22-5029-A304E6FD91D5}"/>
              </a:ext>
            </a:extLst>
          </p:cNvPr>
          <p:cNvPicPr>
            <a:picLocks noChangeAspect="1" noChangeArrowheads="1"/>
          </p:cNvPicPr>
          <p:nvPr/>
        </p:nvPicPr>
        <p:blipFill>
          <a:blip r:embed="rId2"/>
          <a:srcRect/>
          <a:stretch>
            <a:fillRect/>
          </a:stretch>
        </p:blipFill>
        <p:spPr bwMode="auto">
          <a:xfrm>
            <a:off x="1557068" y="3359988"/>
            <a:ext cx="7941229" cy="3429000"/>
          </a:xfrm>
          <a:prstGeom prst="rect">
            <a:avLst/>
          </a:prstGeom>
          <a:noFill/>
          <a:ln w="9525">
            <a:noFill/>
            <a:miter lim="800000"/>
            <a:headEnd/>
            <a:tailEnd/>
          </a:ln>
          <a:effectLst/>
        </p:spPr>
      </p:pic>
    </p:spTree>
    <p:extLst>
      <p:ext uri="{BB962C8B-B14F-4D97-AF65-F5344CB8AC3E}">
        <p14:creationId xmlns:p14="http://schemas.microsoft.com/office/powerpoint/2010/main" val="3005948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M02S10.png">
            <a:extLst>
              <a:ext uri="{FF2B5EF4-FFF2-40B4-BE49-F238E27FC236}">
                <a16:creationId xmlns:a16="http://schemas.microsoft.com/office/drawing/2014/main" id="{858028EC-F553-92B4-C845-982EAF2A81FA}"/>
              </a:ext>
            </a:extLst>
          </p:cNvPr>
          <p:cNvPicPr>
            <a:picLocks noChangeAspect="1" noChangeArrowheads="1"/>
          </p:cNvPicPr>
          <p:nvPr/>
        </p:nvPicPr>
        <p:blipFill>
          <a:blip r:embed="rId2"/>
          <a:srcRect/>
          <a:stretch>
            <a:fillRect/>
          </a:stretch>
        </p:blipFill>
        <p:spPr bwMode="auto">
          <a:xfrm>
            <a:off x="457200" y="990600"/>
            <a:ext cx="11093570" cy="5305426"/>
          </a:xfrm>
          <a:prstGeom prst="rect">
            <a:avLst/>
          </a:prstGeom>
          <a:noFill/>
        </p:spPr>
      </p:pic>
      <p:sp>
        <p:nvSpPr>
          <p:cNvPr id="3" name="Rectangle 2">
            <a:extLst>
              <a:ext uri="{FF2B5EF4-FFF2-40B4-BE49-F238E27FC236}">
                <a16:creationId xmlns:a16="http://schemas.microsoft.com/office/drawing/2014/main" id="{F75AB493-5FA7-4B6E-3E12-E1DD2BA5628C}"/>
              </a:ext>
            </a:extLst>
          </p:cNvPr>
          <p:cNvSpPr/>
          <p:nvPr/>
        </p:nvSpPr>
        <p:spPr>
          <a:xfrm>
            <a:off x="304800" y="152400"/>
            <a:ext cx="2672719" cy="369332"/>
          </a:xfrm>
          <a:prstGeom prst="rect">
            <a:avLst/>
          </a:prstGeom>
        </p:spPr>
        <p:txBody>
          <a:bodyPr wrap="none">
            <a:spAutoFit/>
          </a:bodyPr>
          <a:lstStyle/>
          <a:p>
            <a:r>
              <a:rPr lang="en-US" b="1" dirty="0"/>
              <a:t>Secure Agent Architecture</a:t>
            </a:r>
            <a:endParaRPr lang="en-US" dirty="0"/>
          </a:p>
        </p:txBody>
      </p:sp>
    </p:spTree>
    <p:extLst>
      <p:ext uri="{BB962C8B-B14F-4D97-AF65-F5344CB8AC3E}">
        <p14:creationId xmlns:p14="http://schemas.microsoft.com/office/powerpoint/2010/main" val="3028645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9807D3B-5407-0F91-15DE-26361EF50FBE}"/>
              </a:ext>
            </a:extLst>
          </p:cNvPr>
          <p:cNvSpPr/>
          <p:nvPr/>
        </p:nvSpPr>
        <p:spPr>
          <a:xfrm>
            <a:off x="304800" y="304800"/>
            <a:ext cx="11496136" cy="1277273"/>
          </a:xfrm>
          <a:prstGeom prst="rect">
            <a:avLst/>
          </a:prstGeom>
        </p:spPr>
        <p:txBody>
          <a:bodyPr wrap="square">
            <a:spAutoFit/>
          </a:bodyPr>
          <a:lstStyle/>
          <a:p>
            <a:r>
              <a:rPr lang="en-US" b="1" dirty="0"/>
              <a:t>What is CAI in IDMC?</a:t>
            </a:r>
          </a:p>
          <a:p>
            <a:r>
              <a:rPr lang="en-US" b="1" dirty="0"/>
              <a:t>CAI</a:t>
            </a:r>
            <a:r>
              <a:rPr lang="en-US" dirty="0"/>
              <a:t> stands for </a:t>
            </a:r>
            <a:r>
              <a:rPr lang="en-US" b="1" dirty="0"/>
              <a:t>Cloud Application Integration</a:t>
            </a:r>
            <a:r>
              <a:rPr lang="en-US" dirty="0"/>
              <a:t> in </a:t>
            </a:r>
            <a:r>
              <a:rPr lang="en-US" b="1" dirty="0"/>
              <a:t>Informatica Intelligent Data Management Cloud (IDMC)</a:t>
            </a:r>
            <a:r>
              <a:rPr lang="en-US" dirty="0"/>
              <a:t>.</a:t>
            </a:r>
          </a:p>
          <a:p>
            <a:r>
              <a:rPr lang="en-US" dirty="0"/>
              <a:t>It is used to </a:t>
            </a:r>
            <a:r>
              <a:rPr lang="en-US" b="1" dirty="0"/>
              <a:t>integrate applications, APIs, events, and workflows</a:t>
            </a:r>
            <a:r>
              <a:rPr lang="en-US" dirty="0"/>
              <a:t> — </a:t>
            </a:r>
            <a:r>
              <a:rPr lang="en-US" b="1" dirty="0"/>
              <a:t>NOT</a:t>
            </a:r>
            <a:r>
              <a:rPr lang="en-US" dirty="0"/>
              <a:t> for heavy ETL.</a:t>
            </a:r>
          </a:p>
          <a:p>
            <a:pPr fontAlgn="base">
              <a:spcBef>
                <a:spcPts val="600"/>
              </a:spcBef>
            </a:pPr>
            <a:endParaRPr lang="en-US" dirty="0"/>
          </a:p>
        </p:txBody>
      </p:sp>
      <p:sp>
        <p:nvSpPr>
          <p:cNvPr id="3" name="TextBox 2">
            <a:extLst>
              <a:ext uri="{FF2B5EF4-FFF2-40B4-BE49-F238E27FC236}">
                <a16:creationId xmlns:a16="http://schemas.microsoft.com/office/drawing/2014/main" id="{032BE951-9D17-DAE8-EDBC-401D44334098}"/>
              </a:ext>
            </a:extLst>
          </p:cNvPr>
          <p:cNvSpPr txBox="1"/>
          <p:nvPr/>
        </p:nvSpPr>
        <p:spPr>
          <a:xfrm>
            <a:off x="304800" y="1443841"/>
            <a:ext cx="6094562" cy="3970318"/>
          </a:xfrm>
          <a:prstGeom prst="rect">
            <a:avLst/>
          </a:prstGeom>
          <a:noFill/>
        </p:spPr>
        <p:txBody>
          <a:bodyPr wrap="square">
            <a:spAutoFit/>
          </a:bodyPr>
          <a:lstStyle/>
          <a:p>
            <a:r>
              <a:rPr lang="en-IN" b="1" dirty="0"/>
              <a:t>Typical CAI Use Cases</a:t>
            </a:r>
          </a:p>
          <a:p>
            <a:pPr>
              <a:buFont typeface="Arial" panose="020B0604020202020204" pitchFamily="34" charset="0"/>
              <a:buChar char="•"/>
            </a:pPr>
            <a:r>
              <a:rPr lang="en-IN" b="1" dirty="0"/>
              <a:t>Application-to-Application (A2A)</a:t>
            </a:r>
            <a:endParaRPr lang="en-IN" dirty="0"/>
          </a:p>
          <a:p>
            <a:pPr marL="742950" lvl="1" indent="-285750">
              <a:buFont typeface="Arial" panose="020B0604020202020204" pitchFamily="34" charset="0"/>
              <a:buChar char="•"/>
            </a:pPr>
            <a:r>
              <a:rPr lang="en-IN" dirty="0"/>
              <a:t>Salesforce ↔ SAP</a:t>
            </a:r>
          </a:p>
          <a:p>
            <a:pPr marL="742950" lvl="1" indent="-285750">
              <a:buFont typeface="Arial" panose="020B0604020202020204" pitchFamily="34" charset="0"/>
              <a:buChar char="•"/>
            </a:pPr>
            <a:r>
              <a:rPr lang="en-IN" dirty="0"/>
              <a:t>ServiceNow ↔ Oracle ERP</a:t>
            </a:r>
          </a:p>
          <a:p>
            <a:pPr>
              <a:buFont typeface="Arial" panose="020B0604020202020204" pitchFamily="34" charset="0"/>
              <a:buChar char="•"/>
            </a:pPr>
            <a:r>
              <a:rPr lang="en-IN" b="1" dirty="0"/>
              <a:t>API Integrations</a:t>
            </a:r>
            <a:endParaRPr lang="en-IN" dirty="0"/>
          </a:p>
          <a:p>
            <a:pPr marL="742950" lvl="1" indent="-285750">
              <a:buFont typeface="Arial" panose="020B0604020202020204" pitchFamily="34" charset="0"/>
              <a:buChar char="•"/>
            </a:pPr>
            <a:r>
              <a:rPr lang="en-IN" dirty="0"/>
              <a:t>Consume / expose REST &amp; SOAP APIs</a:t>
            </a:r>
          </a:p>
          <a:p>
            <a:pPr>
              <a:buFont typeface="Arial" panose="020B0604020202020204" pitchFamily="34" charset="0"/>
              <a:buChar char="•"/>
            </a:pPr>
            <a:r>
              <a:rPr lang="en-IN" b="1" dirty="0"/>
              <a:t>Event-driven processes</a:t>
            </a:r>
            <a:endParaRPr lang="en-IN" dirty="0"/>
          </a:p>
          <a:p>
            <a:pPr marL="742950" lvl="1" indent="-285750">
              <a:buFont typeface="Arial" panose="020B0604020202020204" pitchFamily="34" charset="0"/>
              <a:buChar char="•"/>
            </a:pPr>
            <a:r>
              <a:rPr lang="en-IN" dirty="0"/>
              <a:t>File arrival triggers</a:t>
            </a:r>
          </a:p>
          <a:p>
            <a:pPr marL="742950" lvl="1" indent="-285750">
              <a:buFont typeface="Arial" panose="020B0604020202020204" pitchFamily="34" charset="0"/>
              <a:buChar char="•"/>
            </a:pPr>
            <a:r>
              <a:rPr lang="en-IN" dirty="0"/>
              <a:t>Business events</a:t>
            </a:r>
          </a:p>
          <a:p>
            <a:pPr>
              <a:buFont typeface="Arial" panose="020B0604020202020204" pitchFamily="34" charset="0"/>
              <a:buChar char="•"/>
            </a:pPr>
            <a:r>
              <a:rPr lang="en-IN" b="1" dirty="0"/>
              <a:t>Workflow Orchestration</a:t>
            </a:r>
            <a:endParaRPr lang="en-IN" dirty="0"/>
          </a:p>
          <a:p>
            <a:pPr marL="742950" lvl="1" indent="-285750">
              <a:buFont typeface="Arial" panose="020B0604020202020204" pitchFamily="34" charset="0"/>
              <a:buChar char="•"/>
            </a:pPr>
            <a:r>
              <a:rPr lang="en-IN" dirty="0"/>
              <a:t>If / else / decision-based flows</a:t>
            </a:r>
          </a:p>
          <a:p>
            <a:pPr>
              <a:buFont typeface="Arial" panose="020B0604020202020204" pitchFamily="34" charset="0"/>
              <a:buChar char="•"/>
            </a:pPr>
            <a:r>
              <a:rPr lang="en-IN" b="1" dirty="0"/>
              <a:t>Microservice-style logic</a:t>
            </a:r>
            <a:endParaRPr lang="en-IN" dirty="0"/>
          </a:p>
          <a:p>
            <a:pPr marL="742950" lvl="1" indent="-285750">
              <a:buFont typeface="Arial" panose="020B0604020202020204" pitchFamily="34" charset="0"/>
              <a:buChar char="•"/>
            </a:pPr>
            <a:r>
              <a:rPr lang="en-IN" dirty="0"/>
              <a:t>Lightweight transformations</a:t>
            </a:r>
          </a:p>
          <a:p>
            <a:pPr>
              <a:buFont typeface="Arial" panose="020B0604020202020204" pitchFamily="34" charset="0"/>
              <a:buChar char="•"/>
            </a:pPr>
            <a:r>
              <a:rPr lang="en-IN" b="1" dirty="0"/>
              <a:t>Near real-time integration</a:t>
            </a:r>
            <a:endParaRPr lang="en-IN" dirty="0"/>
          </a:p>
        </p:txBody>
      </p:sp>
    </p:spTree>
    <p:extLst>
      <p:ext uri="{BB962C8B-B14F-4D97-AF65-F5344CB8AC3E}">
        <p14:creationId xmlns:p14="http://schemas.microsoft.com/office/powerpoint/2010/main" val="37844358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9807D3B-5407-0F91-15DE-26361EF50FBE}"/>
              </a:ext>
            </a:extLst>
          </p:cNvPr>
          <p:cNvSpPr/>
          <p:nvPr/>
        </p:nvSpPr>
        <p:spPr>
          <a:xfrm>
            <a:off x="304800" y="304800"/>
            <a:ext cx="11496136" cy="1277273"/>
          </a:xfrm>
          <a:prstGeom prst="rect">
            <a:avLst/>
          </a:prstGeom>
        </p:spPr>
        <p:txBody>
          <a:bodyPr wrap="square">
            <a:spAutoFit/>
          </a:bodyPr>
          <a:lstStyle/>
          <a:p>
            <a:r>
              <a:rPr lang="en-US" b="1" dirty="0"/>
              <a:t>What is CAI in IDMC?</a:t>
            </a:r>
          </a:p>
          <a:p>
            <a:r>
              <a:rPr lang="en-US" b="1" dirty="0"/>
              <a:t>CAI</a:t>
            </a:r>
            <a:r>
              <a:rPr lang="en-US" dirty="0"/>
              <a:t> stands for </a:t>
            </a:r>
            <a:r>
              <a:rPr lang="en-US" b="1" dirty="0"/>
              <a:t>Cloud Application Integration</a:t>
            </a:r>
            <a:r>
              <a:rPr lang="en-US" dirty="0"/>
              <a:t> in </a:t>
            </a:r>
            <a:r>
              <a:rPr lang="en-US" b="1" dirty="0"/>
              <a:t>Informatica Intelligent Data Management Cloud (IDMC)</a:t>
            </a:r>
            <a:r>
              <a:rPr lang="en-US" dirty="0"/>
              <a:t>.</a:t>
            </a:r>
          </a:p>
          <a:p>
            <a:r>
              <a:rPr lang="en-US" dirty="0"/>
              <a:t>It is used to </a:t>
            </a:r>
            <a:r>
              <a:rPr lang="en-US" b="1" dirty="0"/>
              <a:t>integrate applications, APIs, events, and workflows</a:t>
            </a:r>
            <a:r>
              <a:rPr lang="en-US" dirty="0"/>
              <a:t> — </a:t>
            </a:r>
            <a:r>
              <a:rPr lang="en-US" b="1" dirty="0"/>
              <a:t>NOT</a:t>
            </a:r>
            <a:r>
              <a:rPr lang="en-US" dirty="0"/>
              <a:t> for heavy ETL.</a:t>
            </a:r>
          </a:p>
          <a:p>
            <a:pPr fontAlgn="base">
              <a:spcBef>
                <a:spcPts val="600"/>
              </a:spcBef>
            </a:pPr>
            <a:endParaRPr lang="en-US" dirty="0"/>
          </a:p>
        </p:txBody>
      </p:sp>
      <p:sp>
        <p:nvSpPr>
          <p:cNvPr id="5" name="TextBox 4">
            <a:extLst>
              <a:ext uri="{FF2B5EF4-FFF2-40B4-BE49-F238E27FC236}">
                <a16:creationId xmlns:a16="http://schemas.microsoft.com/office/drawing/2014/main" id="{B7F1947F-5B8C-1B5F-8CA0-1087CF03AFB5}"/>
              </a:ext>
            </a:extLst>
          </p:cNvPr>
          <p:cNvSpPr txBox="1"/>
          <p:nvPr/>
        </p:nvSpPr>
        <p:spPr>
          <a:xfrm>
            <a:off x="391064" y="1394944"/>
            <a:ext cx="6094562" cy="3046988"/>
          </a:xfrm>
          <a:prstGeom prst="rect">
            <a:avLst/>
          </a:prstGeom>
          <a:noFill/>
        </p:spPr>
        <p:txBody>
          <a:bodyPr wrap="square">
            <a:spAutoFit/>
          </a:bodyPr>
          <a:lstStyle/>
          <a:p>
            <a:r>
              <a:rPr lang="en-US" b="1" dirty="0"/>
              <a:t>Why CAI? (Why not CDI?)</a:t>
            </a:r>
          </a:p>
          <a:p>
            <a:r>
              <a:rPr lang="en-US" dirty="0"/>
              <a:t>This answers </a:t>
            </a:r>
            <a:r>
              <a:rPr lang="en-US" b="1" dirty="0"/>
              <a:t>“why CAI and why not CDI”</a:t>
            </a:r>
            <a:r>
              <a:rPr lang="en-US" dirty="0"/>
              <a:t> </a:t>
            </a:r>
          </a:p>
          <a:p>
            <a:endParaRPr lang="en-US" b="1" dirty="0"/>
          </a:p>
          <a:p>
            <a:pPr>
              <a:spcBef>
                <a:spcPts val="600"/>
              </a:spcBef>
            </a:pPr>
            <a:r>
              <a:rPr lang="en-US" b="1" dirty="0"/>
              <a:t>Why use CAI</a:t>
            </a:r>
          </a:p>
          <a:p>
            <a:pPr marL="800100" lvl="1" indent="-342900">
              <a:spcBef>
                <a:spcPts val="600"/>
              </a:spcBef>
              <a:buFont typeface="Arial" panose="020B0604020202020204" pitchFamily="34" charset="0"/>
              <a:buChar char="•"/>
            </a:pPr>
            <a:r>
              <a:rPr lang="en-US" dirty="0"/>
              <a:t>Designed for </a:t>
            </a:r>
            <a:r>
              <a:rPr lang="en-US" b="1" dirty="0"/>
              <a:t>real-time &amp; near real-time</a:t>
            </a:r>
            <a:endParaRPr lang="en-US" dirty="0"/>
          </a:p>
          <a:p>
            <a:pPr marL="800100" lvl="1" indent="-342900">
              <a:spcBef>
                <a:spcPts val="600"/>
              </a:spcBef>
              <a:buFont typeface="Arial" panose="020B0604020202020204" pitchFamily="34" charset="0"/>
              <a:buChar char="•"/>
            </a:pPr>
            <a:r>
              <a:rPr lang="en-US" dirty="0"/>
              <a:t>Strong </a:t>
            </a:r>
            <a:r>
              <a:rPr lang="en-US" b="1" dirty="0"/>
              <a:t>API orchestration</a:t>
            </a:r>
            <a:endParaRPr lang="en-US" dirty="0"/>
          </a:p>
          <a:p>
            <a:pPr marL="800100" lvl="1" indent="-342900">
              <a:spcBef>
                <a:spcPts val="600"/>
              </a:spcBef>
              <a:buFont typeface="Arial" panose="020B0604020202020204" pitchFamily="34" charset="0"/>
              <a:buChar char="•"/>
            </a:pPr>
            <a:r>
              <a:rPr lang="en-US" dirty="0"/>
              <a:t>Excellent </a:t>
            </a:r>
            <a:r>
              <a:rPr lang="en-US" b="1" dirty="0"/>
              <a:t>workflow control</a:t>
            </a:r>
            <a:endParaRPr lang="en-US" dirty="0"/>
          </a:p>
          <a:p>
            <a:pPr marL="800100" lvl="1" indent="-342900">
              <a:spcBef>
                <a:spcPts val="600"/>
              </a:spcBef>
              <a:buFont typeface="Arial" panose="020B0604020202020204" pitchFamily="34" charset="0"/>
              <a:buChar char="•"/>
            </a:pPr>
            <a:r>
              <a:rPr lang="en-US" dirty="0"/>
              <a:t>Supports </a:t>
            </a:r>
            <a:r>
              <a:rPr lang="en-US" b="1" dirty="0"/>
              <a:t>event-driven architecture</a:t>
            </a:r>
            <a:endParaRPr lang="en-US" dirty="0"/>
          </a:p>
          <a:p>
            <a:pPr marL="800100" lvl="1" indent="-342900">
              <a:spcBef>
                <a:spcPts val="600"/>
              </a:spcBef>
              <a:buFont typeface="Arial" panose="020B0604020202020204" pitchFamily="34" charset="0"/>
              <a:buChar char="•"/>
            </a:pPr>
            <a:r>
              <a:rPr lang="en-US" dirty="0"/>
              <a:t>Ideal for </a:t>
            </a:r>
            <a:r>
              <a:rPr lang="en-US" b="1" dirty="0"/>
              <a:t>business process automation</a:t>
            </a:r>
            <a:endParaRPr lang="en-US" dirty="0"/>
          </a:p>
        </p:txBody>
      </p:sp>
    </p:spTree>
    <p:extLst>
      <p:ext uri="{BB962C8B-B14F-4D97-AF65-F5344CB8AC3E}">
        <p14:creationId xmlns:p14="http://schemas.microsoft.com/office/powerpoint/2010/main" val="40712426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38DDFE-8CD4-DB83-C9C8-3126765126C6}"/>
              </a:ext>
            </a:extLst>
          </p:cNvPr>
          <p:cNvSpPr txBox="1"/>
          <p:nvPr/>
        </p:nvSpPr>
        <p:spPr>
          <a:xfrm>
            <a:off x="131552" y="354485"/>
            <a:ext cx="6094562" cy="369332"/>
          </a:xfrm>
          <a:prstGeom prst="rect">
            <a:avLst/>
          </a:prstGeom>
          <a:noFill/>
        </p:spPr>
        <p:txBody>
          <a:bodyPr wrap="square">
            <a:spAutoFit/>
          </a:bodyPr>
          <a:lstStyle/>
          <a:p>
            <a:r>
              <a:rPr lang="en-US" b="1" dirty="0"/>
              <a:t>Why NOT CDI in CAI scenarios?</a:t>
            </a:r>
          </a:p>
        </p:txBody>
      </p:sp>
      <p:graphicFrame>
        <p:nvGraphicFramePr>
          <p:cNvPr id="6" name="Table 5">
            <a:extLst>
              <a:ext uri="{FF2B5EF4-FFF2-40B4-BE49-F238E27FC236}">
                <a16:creationId xmlns:a16="http://schemas.microsoft.com/office/drawing/2014/main" id="{7E48C3A8-335A-E7B9-0C52-7FB235A25256}"/>
              </a:ext>
            </a:extLst>
          </p:cNvPr>
          <p:cNvGraphicFramePr>
            <a:graphicFrameLocks noGrp="1"/>
          </p:cNvGraphicFramePr>
          <p:nvPr>
            <p:extLst>
              <p:ext uri="{D42A27DB-BD31-4B8C-83A1-F6EECF244321}">
                <p14:modId xmlns:p14="http://schemas.microsoft.com/office/powerpoint/2010/main" val="3659785480"/>
              </p:ext>
            </p:extLst>
          </p:nvPr>
        </p:nvGraphicFramePr>
        <p:xfrm>
          <a:off x="288985" y="997157"/>
          <a:ext cx="10131426" cy="2194560"/>
        </p:xfrm>
        <a:graphic>
          <a:graphicData uri="http://schemas.openxmlformats.org/drawingml/2006/table">
            <a:tbl>
              <a:tblPr/>
              <a:tblGrid>
                <a:gridCol w="3377142">
                  <a:extLst>
                    <a:ext uri="{9D8B030D-6E8A-4147-A177-3AD203B41FA5}">
                      <a16:colId xmlns:a16="http://schemas.microsoft.com/office/drawing/2014/main" val="3167953412"/>
                    </a:ext>
                  </a:extLst>
                </a:gridCol>
                <a:gridCol w="3377142">
                  <a:extLst>
                    <a:ext uri="{9D8B030D-6E8A-4147-A177-3AD203B41FA5}">
                      <a16:colId xmlns:a16="http://schemas.microsoft.com/office/drawing/2014/main" val="3049272940"/>
                    </a:ext>
                  </a:extLst>
                </a:gridCol>
                <a:gridCol w="3377142">
                  <a:extLst>
                    <a:ext uri="{9D8B030D-6E8A-4147-A177-3AD203B41FA5}">
                      <a16:colId xmlns:a16="http://schemas.microsoft.com/office/drawing/2014/main" val="2538709138"/>
                    </a:ext>
                  </a:extLst>
                </a:gridCol>
              </a:tblGrid>
              <a:tr h="365760">
                <a:tc>
                  <a:txBody>
                    <a:bodyPr/>
                    <a:lstStyle/>
                    <a:p>
                      <a:r>
                        <a:rPr lang="en-IN" sz="1800"/>
                        <a:t>Requirement</a:t>
                      </a:r>
                    </a:p>
                  </a:txBody>
                  <a:tcPr anchor="ctr">
                    <a:lnL>
                      <a:noFill/>
                    </a:lnL>
                    <a:lnR w="12700" cap="flat" cmpd="sng" algn="ctr">
                      <a:solidFill>
                        <a:schemeClr val="tx1"/>
                      </a:solidFill>
                      <a:prstDash val="solid"/>
                      <a:round/>
                      <a:headEnd type="none" w="med" len="med"/>
                      <a:tailEnd type="none" w="med" len="med"/>
                    </a:lnR>
                    <a:lnT>
                      <a:noFill/>
                    </a:lnT>
                    <a:lnB>
                      <a:noFill/>
                    </a:lnB>
                    <a:noFill/>
                  </a:tcPr>
                </a:tc>
                <a:tc>
                  <a:txBody>
                    <a:bodyPr/>
                    <a:lstStyle/>
                    <a:p>
                      <a:r>
                        <a:rPr lang="en-IN" sz="1800" dirty="0"/>
                        <a:t>CDI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dirty="0"/>
                        <a:t>CAI </a:t>
                      </a:r>
                    </a:p>
                  </a:txBody>
                  <a:tcPr anchor="ctr">
                    <a:lnL w="12700" cap="flat" cmpd="sng" algn="ctr">
                      <a:solidFill>
                        <a:schemeClr val="tx1"/>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033099850"/>
                  </a:ext>
                </a:extLst>
              </a:tr>
              <a:tr h="365760">
                <a:tc>
                  <a:txBody>
                    <a:bodyPr/>
                    <a:lstStyle/>
                    <a:p>
                      <a:r>
                        <a:rPr lang="en-IN" sz="1800"/>
                        <a:t>API orchestration</a:t>
                      </a:r>
                    </a:p>
                  </a:txBody>
                  <a:tcPr anchor="ctr">
                    <a:lnL>
                      <a:noFill/>
                    </a:lnL>
                    <a:lnR>
                      <a:noFill/>
                    </a:lnR>
                    <a:lnT>
                      <a:noFill/>
                    </a:lnT>
                    <a:lnB>
                      <a:noFill/>
                    </a:lnB>
                    <a:noFill/>
                  </a:tcPr>
                </a:tc>
                <a:tc>
                  <a:txBody>
                    <a:bodyPr/>
                    <a:lstStyle/>
                    <a:p>
                      <a:r>
                        <a:rPr lang="en-US" sz="1800" dirty="0"/>
                        <a:t>No</a:t>
                      </a:r>
                      <a:endParaRPr lang="en-IN" sz="1800" dirty="0"/>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r>
                        <a:rPr lang="en-US" sz="1800" dirty="0"/>
                        <a:t>Y</a:t>
                      </a:r>
                      <a:r>
                        <a:rPr lang="en-IN" sz="1800" dirty="0"/>
                        <a:t>es</a:t>
                      </a:r>
                    </a:p>
                  </a:txBody>
                  <a:tcPr anchor="ctr">
                    <a:lnL>
                      <a:noFill/>
                    </a:lnL>
                    <a:lnR>
                      <a:noFill/>
                    </a:lnR>
                    <a:lnT>
                      <a:noFill/>
                    </a:lnT>
                    <a:lnB>
                      <a:noFill/>
                    </a:lnB>
                    <a:noFill/>
                  </a:tcPr>
                </a:tc>
                <a:extLst>
                  <a:ext uri="{0D108BD9-81ED-4DB2-BD59-A6C34878D82A}">
                    <a16:rowId xmlns:a16="http://schemas.microsoft.com/office/drawing/2014/main" val="298459311"/>
                  </a:ext>
                </a:extLst>
              </a:tr>
              <a:tr h="365760">
                <a:tc>
                  <a:txBody>
                    <a:bodyPr/>
                    <a:lstStyle/>
                    <a:p>
                      <a:r>
                        <a:rPr lang="en-IN" sz="1800"/>
                        <a:t>Real-time processing</a:t>
                      </a:r>
                    </a:p>
                  </a:txBody>
                  <a:tcPr anchor="ctr">
                    <a:lnL>
                      <a:noFill/>
                    </a:lnL>
                    <a:lnR>
                      <a:noFill/>
                    </a:lnR>
                    <a:lnT>
                      <a:noFill/>
                    </a:lnT>
                    <a:lnB>
                      <a:noFill/>
                    </a:lnB>
                    <a:noFill/>
                  </a:tcPr>
                </a:tc>
                <a:tc>
                  <a:txBody>
                    <a:bodyPr/>
                    <a:lstStyle/>
                    <a:p>
                      <a:r>
                        <a:rPr lang="en-US" sz="1800" dirty="0"/>
                        <a:t>N</a:t>
                      </a:r>
                      <a:r>
                        <a:rPr lang="en-IN" sz="1800" dirty="0"/>
                        <a:t>o</a:t>
                      </a:r>
                    </a:p>
                  </a:txBody>
                  <a:tcPr anchor="ctr">
                    <a:lnL>
                      <a:noFill/>
                    </a:lnL>
                    <a:lnR>
                      <a:noFill/>
                    </a:lnR>
                    <a:lnT>
                      <a:noFill/>
                    </a:lnT>
                    <a:lnB>
                      <a:noFill/>
                    </a:lnB>
                    <a:noFill/>
                  </a:tcPr>
                </a:tc>
                <a:tc>
                  <a:txBody>
                    <a:bodyPr/>
                    <a:lstStyle/>
                    <a:p>
                      <a:r>
                        <a:rPr lang="en-US" sz="1800" dirty="0"/>
                        <a:t>Y</a:t>
                      </a:r>
                      <a:r>
                        <a:rPr lang="en-IN" sz="1800" dirty="0"/>
                        <a:t>es</a:t>
                      </a:r>
                    </a:p>
                  </a:txBody>
                  <a:tcPr anchor="ctr">
                    <a:lnL>
                      <a:noFill/>
                    </a:lnL>
                    <a:lnR>
                      <a:noFill/>
                    </a:lnR>
                    <a:lnT>
                      <a:noFill/>
                    </a:lnT>
                    <a:lnB>
                      <a:noFill/>
                    </a:lnB>
                    <a:noFill/>
                  </a:tcPr>
                </a:tc>
                <a:extLst>
                  <a:ext uri="{0D108BD9-81ED-4DB2-BD59-A6C34878D82A}">
                    <a16:rowId xmlns:a16="http://schemas.microsoft.com/office/drawing/2014/main" val="3021130592"/>
                  </a:ext>
                </a:extLst>
              </a:tr>
              <a:tr h="365760">
                <a:tc>
                  <a:txBody>
                    <a:bodyPr/>
                    <a:lstStyle/>
                    <a:p>
                      <a:r>
                        <a:rPr lang="en-IN" sz="1800"/>
                        <a:t>Workflow &amp; decisions</a:t>
                      </a:r>
                    </a:p>
                  </a:txBody>
                  <a:tcPr anchor="ctr">
                    <a:lnL>
                      <a:noFill/>
                    </a:lnL>
                    <a:lnR>
                      <a:noFill/>
                    </a:lnR>
                    <a:lnT>
                      <a:noFill/>
                    </a:lnT>
                    <a:lnB>
                      <a:noFill/>
                    </a:lnB>
                    <a:noFill/>
                  </a:tcPr>
                </a:tc>
                <a:tc>
                  <a:txBody>
                    <a:bodyPr/>
                    <a:lstStyle/>
                    <a:p>
                      <a:r>
                        <a:rPr lang="en-IN" sz="1800"/>
                        <a:t>Limited</a:t>
                      </a:r>
                    </a:p>
                  </a:txBody>
                  <a:tcPr anchor="ctr">
                    <a:lnL>
                      <a:noFill/>
                    </a:lnL>
                    <a:lnR>
                      <a:noFill/>
                    </a:lnR>
                    <a:lnT>
                      <a:noFill/>
                    </a:lnT>
                    <a:lnB>
                      <a:noFill/>
                    </a:lnB>
                    <a:noFill/>
                  </a:tcPr>
                </a:tc>
                <a:tc>
                  <a:txBody>
                    <a:bodyPr/>
                    <a:lstStyle/>
                    <a:p>
                      <a:r>
                        <a:rPr lang="en-IN" sz="1800"/>
                        <a:t>Strong</a:t>
                      </a:r>
                    </a:p>
                  </a:txBody>
                  <a:tcPr anchor="ctr">
                    <a:lnL>
                      <a:noFill/>
                    </a:lnL>
                    <a:lnR>
                      <a:noFill/>
                    </a:lnR>
                    <a:lnT>
                      <a:noFill/>
                    </a:lnT>
                    <a:lnB>
                      <a:noFill/>
                    </a:lnB>
                    <a:noFill/>
                  </a:tcPr>
                </a:tc>
                <a:extLst>
                  <a:ext uri="{0D108BD9-81ED-4DB2-BD59-A6C34878D82A}">
                    <a16:rowId xmlns:a16="http://schemas.microsoft.com/office/drawing/2014/main" val="4085842520"/>
                  </a:ext>
                </a:extLst>
              </a:tr>
              <a:tr h="365760">
                <a:tc>
                  <a:txBody>
                    <a:bodyPr/>
                    <a:lstStyle/>
                    <a:p>
                      <a:r>
                        <a:rPr lang="en-IN" sz="1800"/>
                        <a:t>Event-based triggers</a:t>
                      </a:r>
                    </a:p>
                  </a:txBody>
                  <a:tcPr anchor="ctr">
                    <a:lnL>
                      <a:noFill/>
                    </a:lnL>
                    <a:lnR>
                      <a:noFill/>
                    </a:lnR>
                    <a:lnT>
                      <a:noFill/>
                    </a:lnT>
                    <a:lnB>
                      <a:noFill/>
                    </a:lnB>
                    <a:noFill/>
                  </a:tcPr>
                </a:tc>
                <a:tc>
                  <a:txBody>
                    <a:bodyPr/>
                    <a:lstStyle/>
                    <a:p>
                      <a:r>
                        <a:rPr lang="en-IN" sz="1800"/>
                        <a:t>Limited</a:t>
                      </a:r>
                    </a:p>
                  </a:txBody>
                  <a:tcPr anchor="ctr">
                    <a:lnL>
                      <a:noFill/>
                    </a:lnL>
                    <a:lnR>
                      <a:noFill/>
                    </a:lnR>
                    <a:lnT>
                      <a:noFill/>
                    </a:lnT>
                    <a:lnB>
                      <a:noFill/>
                    </a:lnB>
                    <a:noFill/>
                  </a:tcPr>
                </a:tc>
                <a:tc>
                  <a:txBody>
                    <a:bodyPr/>
                    <a:lstStyle/>
                    <a:p>
                      <a:r>
                        <a:rPr lang="en-IN" sz="1800"/>
                        <a:t>Native</a:t>
                      </a:r>
                    </a:p>
                  </a:txBody>
                  <a:tcPr anchor="ctr">
                    <a:lnL>
                      <a:noFill/>
                    </a:lnL>
                    <a:lnR>
                      <a:noFill/>
                    </a:lnR>
                    <a:lnT>
                      <a:noFill/>
                    </a:lnT>
                    <a:lnB>
                      <a:noFill/>
                    </a:lnB>
                    <a:noFill/>
                  </a:tcPr>
                </a:tc>
                <a:extLst>
                  <a:ext uri="{0D108BD9-81ED-4DB2-BD59-A6C34878D82A}">
                    <a16:rowId xmlns:a16="http://schemas.microsoft.com/office/drawing/2014/main" val="2791709686"/>
                  </a:ext>
                </a:extLst>
              </a:tr>
              <a:tr h="365760">
                <a:tc>
                  <a:txBody>
                    <a:bodyPr/>
                    <a:lstStyle/>
                    <a:p>
                      <a:r>
                        <a:rPr lang="en-IN" sz="1800"/>
                        <a:t>Application sync</a:t>
                      </a:r>
                    </a:p>
                  </a:txBody>
                  <a:tcPr anchor="ctr">
                    <a:lnL>
                      <a:noFill/>
                    </a:lnL>
                    <a:lnR>
                      <a:noFill/>
                    </a:lnR>
                    <a:lnT>
                      <a:noFill/>
                    </a:lnT>
                    <a:lnB>
                      <a:noFill/>
                    </a:lnB>
                    <a:noFill/>
                  </a:tcPr>
                </a:tc>
                <a:tc>
                  <a:txBody>
                    <a:bodyPr/>
                    <a:lstStyle/>
                    <a:p>
                      <a:r>
                        <a:rPr lang="en-IN" sz="1800"/>
                        <a:t>Basic</a:t>
                      </a:r>
                    </a:p>
                  </a:txBody>
                  <a:tcPr anchor="ctr">
                    <a:lnL>
                      <a:noFill/>
                    </a:lnL>
                    <a:lnR>
                      <a:noFill/>
                    </a:lnR>
                    <a:lnT>
                      <a:noFill/>
                    </a:lnT>
                    <a:lnB>
                      <a:noFill/>
                    </a:lnB>
                    <a:noFill/>
                  </a:tcPr>
                </a:tc>
                <a:tc>
                  <a:txBody>
                    <a:bodyPr/>
                    <a:lstStyle/>
                    <a:p>
                      <a:r>
                        <a:rPr lang="en-IN" sz="1800" dirty="0"/>
                        <a:t>Advanced</a:t>
                      </a:r>
                    </a:p>
                  </a:txBody>
                  <a:tcPr anchor="ctr">
                    <a:lnL>
                      <a:noFill/>
                    </a:lnL>
                    <a:lnR>
                      <a:noFill/>
                    </a:lnR>
                    <a:lnT>
                      <a:noFill/>
                    </a:lnT>
                    <a:lnB>
                      <a:noFill/>
                    </a:lnB>
                    <a:noFill/>
                  </a:tcPr>
                </a:tc>
                <a:extLst>
                  <a:ext uri="{0D108BD9-81ED-4DB2-BD59-A6C34878D82A}">
                    <a16:rowId xmlns:a16="http://schemas.microsoft.com/office/drawing/2014/main" val="3460921950"/>
                  </a:ext>
                </a:extLst>
              </a:tr>
            </a:tbl>
          </a:graphicData>
        </a:graphic>
      </p:graphicFrame>
      <p:sp>
        <p:nvSpPr>
          <p:cNvPr id="8" name="TextBox 7">
            <a:extLst>
              <a:ext uri="{FF2B5EF4-FFF2-40B4-BE49-F238E27FC236}">
                <a16:creationId xmlns:a16="http://schemas.microsoft.com/office/drawing/2014/main" id="{C6D135D2-9D99-CB36-7D6C-D4474A0E3742}"/>
              </a:ext>
            </a:extLst>
          </p:cNvPr>
          <p:cNvSpPr txBox="1"/>
          <p:nvPr/>
        </p:nvSpPr>
        <p:spPr>
          <a:xfrm>
            <a:off x="288985" y="3429000"/>
            <a:ext cx="6094562" cy="369332"/>
          </a:xfrm>
          <a:prstGeom prst="rect">
            <a:avLst/>
          </a:prstGeom>
          <a:noFill/>
        </p:spPr>
        <p:txBody>
          <a:bodyPr wrap="square">
            <a:spAutoFit/>
          </a:bodyPr>
          <a:lstStyle/>
          <a:p>
            <a:r>
              <a:rPr lang="en-US" b="1" dirty="0"/>
              <a:t>Why NOT CAI? (When CAI is not right)</a:t>
            </a:r>
          </a:p>
        </p:txBody>
      </p:sp>
      <p:graphicFrame>
        <p:nvGraphicFramePr>
          <p:cNvPr id="9" name="Table 8">
            <a:extLst>
              <a:ext uri="{FF2B5EF4-FFF2-40B4-BE49-F238E27FC236}">
                <a16:creationId xmlns:a16="http://schemas.microsoft.com/office/drawing/2014/main" id="{BC5DD9DE-A91A-B2EA-1BAD-306DE109042A}"/>
              </a:ext>
            </a:extLst>
          </p:cNvPr>
          <p:cNvGraphicFramePr>
            <a:graphicFrameLocks noGrp="1"/>
          </p:cNvGraphicFramePr>
          <p:nvPr>
            <p:extLst>
              <p:ext uri="{D42A27DB-BD31-4B8C-83A1-F6EECF244321}">
                <p14:modId xmlns:p14="http://schemas.microsoft.com/office/powerpoint/2010/main" val="4074242048"/>
              </p:ext>
            </p:extLst>
          </p:nvPr>
        </p:nvGraphicFramePr>
        <p:xfrm>
          <a:off x="427008" y="4035615"/>
          <a:ext cx="10131424" cy="2194560"/>
        </p:xfrm>
        <a:graphic>
          <a:graphicData uri="http://schemas.openxmlformats.org/drawingml/2006/table">
            <a:tbl>
              <a:tblPr/>
              <a:tblGrid>
                <a:gridCol w="5065712">
                  <a:extLst>
                    <a:ext uri="{9D8B030D-6E8A-4147-A177-3AD203B41FA5}">
                      <a16:colId xmlns:a16="http://schemas.microsoft.com/office/drawing/2014/main" val="484537041"/>
                    </a:ext>
                  </a:extLst>
                </a:gridCol>
                <a:gridCol w="5065712">
                  <a:extLst>
                    <a:ext uri="{9D8B030D-6E8A-4147-A177-3AD203B41FA5}">
                      <a16:colId xmlns:a16="http://schemas.microsoft.com/office/drawing/2014/main" val="350874190"/>
                    </a:ext>
                  </a:extLst>
                </a:gridCol>
              </a:tblGrid>
              <a:tr h="365760">
                <a:tc>
                  <a:txBody>
                    <a:bodyPr/>
                    <a:lstStyle/>
                    <a:p>
                      <a:r>
                        <a:rPr lang="en-IN" sz="1800"/>
                        <a:t>Scenario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Why CAI not suitable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3354684"/>
                  </a:ext>
                </a:extLst>
              </a:tr>
              <a:tr h="365760">
                <a:tc>
                  <a:txBody>
                    <a:bodyPr/>
                    <a:lstStyle/>
                    <a:p>
                      <a:r>
                        <a:rPr lang="en-IN" sz="1800"/>
                        <a:t>Heavy data transformation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Not designed for ETL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9460774"/>
                  </a:ext>
                </a:extLst>
              </a:tr>
              <a:tr h="365760">
                <a:tc>
                  <a:txBody>
                    <a:bodyPr/>
                    <a:lstStyle/>
                    <a:p>
                      <a:r>
                        <a:rPr lang="en-IN" sz="1800"/>
                        <a:t>Large volumes (millions rows)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dirty="0"/>
                        <a:t>Performance &amp; cost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6095222"/>
                  </a:ext>
                </a:extLst>
              </a:tr>
              <a:tr h="365760">
                <a:tc>
                  <a:txBody>
                    <a:bodyPr/>
                    <a:lstStyle/>
                    <a:p>
                      <a:r>
                        <a:rPr lang="en-IN" sz="1800" dirty="0"/>
                        <a:t>Data warehousing loads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CDI / ELT better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830344"/>
                  </a:ext>
                </a:extLst>
              </a:tr>
              <a:tr h="365760">
                <a:tc>
                  <a:txBody>
                    <a:bodyPr/>
                    <a:lstStyle/>
                    <a:p>
                      <a:r>
                        <a:rPr lang="en-IN" sz="1800"/>
                        <a:t>SCD logic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a:t>CDI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9693344"/>
                  </a:ext>
                </a:extLst>
              </a:tr>
              <a:tr h="365760">
                <a:tc>
                  <a:txBody>
                    <a:bodyPr/>
                    <a:lstStyle/>
                    <a:p>
                      <a:r>
                        <a:rPr lang="en-IN" sz="1800"/>
                        <a:t>Complex joins / aggregations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800" dirty="0"/>
                        <a:t>CDI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494071"/>
                  </a:ext>
                </a:extLst>
              </a:tr>
            </a:tbl>
          </a:graphicData>
        </a:graphic>
      </p:graphicFrame>
    </p:spTree>
    <p:extLst>
      <p:ext uri="{BB962C8B-B14F-4D97-AF65-F5344CB8AC3E}">
        <p14:creationId xmlns:p14="http://schemas.microsoft.com/office/powerpoint/2010/main" val="14522129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FC2F5D0-435A-63B5-A6B0-1C269CECB8BE}"/>
              </a:ext>
            </a:extLst>
          </p:cNvPr>
          <p:cNvSpPr txBox="1"/>
          <p:nvPr/>
        </p:nvSpPr>
        <p:spPr>
          <a:xfrm>
            <a:off x="0" y="335325"/>
            <a:ext cx="11628408" cy="4431983"/>
          </a:xfrm>
          <a:prstGeom prst="rect">
            <a:avLst/>
          </a:prstGeom>
          <a:noFill/>
        </p:spPr>
        <p:txBody>
          <a:bodyPr wrap="square">
            <a:spAutoFit/>
          </a:bodyPr>
          <a:lstStyle/>
          <a:p>
            <a:r>
              <a:rPr lang="en-IN" b="1" dirty="0"/>
              <a:t>What is a Process in CAI?</a:t>
            </a:r>
          </a:p>
          <a:p>
            <a:endParaRPr lang="en-IN" dirty="0"/>
          </a:p>
          <a:p>
            <a:r>
              <a:rPr lang="en-IN" dirty="0"/>
              <a:t>A Process in CAI (Cloud Application Integration) is a visual, executable workflow that defines how a business or integration flow runs step-by-step in response to an event or API call.</a:t>
            </a:r>
          </a:p>
          <a:p>
            <a:endParaRPr lang="en-IN" dirty="0"/>
          </a:p>
          <a:p>
            <a:endParaRPr lang="en-IN" dirty="0"/>
          </a:p>
          <a:p>
            <a:r>
              <a:rPr lang="en-US" b="1" dirty="0"/>
              <a:t>Example: Customer Onboarding Process</a:t>
            </a:r>
          </a:p>
          <a:p>
            <a:pPr marL="742950" lvl="1" indent="-285750">
              <a:spcBef>
                <a:spcPts val="600"/>
              </a:spcBef>
              <a:buFont typeface="Arial" panose="020B0604020202020204" pitchFamily="34" charset="0"/>
              <a:buChar char="•"/>
            </a:pPr>
            <a:r>
              <a:rPr lang="en-US" dirty="0"/>
              <a:t>API receives new customer data</a:t>
            </a:r>
          </a:p>
          <a:p>
            <a:pPr marL="742950" lvl="1" indent="-285750">
              <a:spcBef>
                <a:spcPts val="600"/>
              </a:spcBef>
              <a:buFont typeface="Arial" panose="020B0604020202020204" pitchFamily="34" charset="0"/>
              <a:buChar char="•"/>
            </a:pPr>
            <a:r>
              <a:rPr lang="en-US" dirty="0"/>
              <a:t>Validate input</a:t>
            </a:r>
          </a:p>
          <a:p>
            <a:pPr marL="742950" lvl="1" indent="-285750">
              <a:spcBef>
                <a:spcPts val="600"/>
              </a:spcBef>
              <a:buFont typeface="Arial" panose="020B0604020202020204" pitchFamily="34" charset="0"/>
              <a:buChar char="•"/>
            </a:pPr>
            <a:r>
              <a:rPr lang="en-US" dirty="0"/>
              <a:t>Call CRM API → create customer</a:t>
            </a:r>
          </a:p>
          <a:p>
            <a:pPr marL="742950" lvl="1" indent="-285750">
              <a:spcBef>
                <a:spcPts val="600"/>
              </a:spcBef>
              <a:buFont typeface="Arial" panose="020B0604020202020204" pitchFamily="34" charset="0"/>
              <a:buChar char="•"/>
            </a:pPr>
            <a:r>
              <a:rPr lang="en-US" dirty="0"/>
              <a:t>Call ERP API → create account</a:t>
            </a:r>
          </a:p>
          <a:p>
            <a:pPr marL="742950" lvl="1" indent="-285750">
              <a:spcBef>
                <a:spcPts val="600"/>
              </a:spcBef>
              <a:buFont typeface="Arial" panose="020B0604020202020204" pitchFamily="34" charset="0"/>
              <a:buChar char="•"/>
            </a:pPr>
            <a:r>
              <a:rPr lang="en-US" dirty="0"/>
              <a:t>Trigger CDI → load data to warehouse</a:t>
            </a:r>
          </a:p>
          <a:p>
            <a:pPr marL="742950" lvl="1" indent="-285750">
              <a:spcBef>
                <a:spcPts val="600"/>
              </a:spcBef>
              <a:buFont typeface="Arial" panose="020B0604020202020204" pitchFamily="34" charset="0"/>
              <a:buChar char="•"/>
            </a:pPr>
            <a:r>
              <a:rPr lang="en-US" dirty="0"/>
              <a:t>Send confirmation email</a:t>
            </a:r>
          </a:p>
          <a:p>
            <a:endParaRPr lang="en-IN" dirty="0"/>
          </a:p>
        </p:txBody>
      </p:sp>
    </p:spTree>
    <p:extLst>
      <p:ext uri="{BB962C8B-B14F-4D97-AF65-F5344CB8AC3E}">
        <p14:creationId xmlns:p14="http://schemas.microsoft.com/office/powerpoint/2010/main" val="2618402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FC2F5D0-435A-63B5-A6B0-1C269CECB8BE}"/>
              </a:ext>
            </a:extLst>
          </p:cNvPr>
          <p:cNvSpPr txBox="1"/>
          <p:nvPr/>
        </p:nvSpPr>
        <p:spPr>
          <a:xfrm>
            <a:off x="0" y="335325"/>
            <a:ext cx="11628408" cy="5647700"/>
          </a:xfrm>
          <a:prstGeom prst="rect">
            <a:avLst/>
          </a:prstGeom>
          <a:noFill/>
        </p:spPr>
        <p:txBody>
          <a:bodyPr wrap="square">
            <a:spAutoFit/>
          </a:bodyPr>
          <a:lstStyle/>
          <a:p>
            <a:r>
              <a:rPr lang="en-US" b="1" dirty="0"/>
              <a:t>What is an App Connector (Application Connector) in CAI?</a:t>
            </a:r>
          </a:p>
          <a:p>
            <a:endParaRPr lang="en-US" dirty="0"/>
          </a:p>
          <a:p>
            <a:r>
              <a:rPr lang="en-US" dirty="0"/>
              <a:t>In Informatica Intelligent Data Management Cloud (IDMC), an App Connector is a prebuilt, secure adapter that lets CAI (Cloud Application Integration) connect to applications and APIs without writing code.</a:t>
            </a:r>
          </a:p>
          <a:p>
            <a:endParaRPr lang="en-US" dirty="0"/>
          </a:p>
          <a:p>
            <a:endParaRPr lang="en-US" dirty="0"/>
          </a:p>
          <a:p>
            <a:pPr>
              <a:spcBef>
                <a:spcPts val="600"/>
              </a:spcBef>
            </a:pPr>
            <a:r>
              <a:rPr lang="en-US" b="1" dirty="0"/>
              <a:t>Think of an app connector like a plug:</a:t>
            </a:r>
          </a:p>
          <a:p>
            <a:pPr lvl="1">
              <a:spcBef>
                <a:spcPts val="600"/>
              </a:spcBef>
            </a:pPr>
            <a:r>
              <a:rPr lang="en-US" dirty="0"/>
              <a:t>You plug CAI into Salesforce / SAP / ServiceNow</a:t>
            </a:r>
          </a:p>
          <a:p>
            <a:pPr lvl="1">
              <a:spcBef>
                <a:spcPts val="600"/>
              </a:spcBef>
            </a:pPr>
            <a:r>
              <a:rPr lang="en-US" dirty="0"/>
              <a:t>Authentication, endpoints, and formats are already handled</a:t>
            </a:r>
          </a:p>
          <a:p>
            <a:pPr lvl="1">
              <a:spcBef>
                <a:spcPts val="600"/>
              </a:spcBef>
            </a:pPr>
            <a:r>
              <a:rPr lang="en-US" dirty="0"/>
              <a:t>You just configure and use actions</a:t>
            </a:r>
            <a:endParaRPr lang="en-IN" dirty="0"/>
          </a:p>
          <a:p>
            <a:pPr>
              <a:spcBef>
                <a:spcPts val="600"/>
              </a:spcBef>
            </a:pPr>
            <a:endParaRPr lang="en-IN" dirty="0"/>
          </a:p>
          <a:p>
            <a:pPr>
              <a:spcBef>
                <a:spcPts val="600"/>
              </a:spcBef>
            </a:pPr>
            <a:r>
              <a:rPr lang="en-US" b="1" dirty="0"/>
              <a:t>App connectors are used in CAI Processes to:</a:t>
            </a:r>
          </a:p>
          <a:p>
            <a:pPr marL="800100" lvl="1" indent="-342900">
              <a:spcBef>
                <a:spcPts val="600"/>
              </a:spcBef>
              <a:buFont typeface="Arial" panose="020B0604020202020204" pitchFamily="34" charset="0"/>
              <a:buChar char="•"/>
            </a:pPr>
            <a:r>
              <a:rPr lang="en-US" dirty="0"/>
              <a:t>Call </a:t>
            </a:r>
            <a:r>
              <a:rPr lang="en-US" b="1" dirty="0"/>
              <a:t>SaaS applications</a:t>
            </a:r>
            <a:endParaRPr lang="en-US" dirty="0"/>
          </a:p>
          <a:p>
            <a:pPr marL="800100" lvl="1" indent="-342900">
              <a:spcBef>
                <a:spcPts val="600"/>
              </a:spcBef>
              <a:buFont typeface="Arial" panose="020B0604020202020204" pitchFamily="34" charset="0"/>
              <a:buChar char="•"/>
            </a:pPr>
            <a:r>
              <a:rPr lang="en-US" dirty="0"/>
              <a:t>Invoke </a:t>
            </a:r>
            <a:r>
              <a:rPr lang="en-US" b="1" dirty="0"/>
              <a:t>REST / SOAP APIs</a:t>
            </a:r>
            <a:endParaRPr lang="en-US" dirty="0"/>
          </a:p>
          <a:p>
            <a:pPr marL="800100" lvl="1" indent="-342900">
              <a:spcBef>
                <a:spcPts val="600"/>
              </a:spcBef>
              <a:buFont typeface="Arial" panose="020B0604020202020204" pitchFamily="34" charset="0"/>
              <a:buChar char="•"/>
            </a:pPr>
            <a:r>
              <a:rPr lang="en-US" dirty="0"/>
              <a:t>Perform </a:t>
            </a:r>
            <a:r>
              <a:rPr lang="en-US" b="1" dirty="0"/>
              <a:t>real-time app-to-app integration</a:t>
            </a:r>
            <a:endParaRPr lang="en-US" dirty="0"/>
          </a:p>
          <a:p>
            <a:pPr marL="800100" lvl="1" indent="-342900">
              <a:spcBef>
                <a:spcPts val="600"/>
              </a:spcBef>
              <a:buFont typeface="Arial" panose="020B0604020202020204" pitchFamily="34" charset="0"/>
              <a:buChar char="•"/>
            </a:pPr>
            <a:r>
              <a:rPr lang="en-US" dirty="0"/>
              <a:t>Orchestrate </a:t>
            </a:r>
            <a:r>
              <a:rPr lang="en-US" b="1" dirty="0"/>
              <a:t>multiple systems</a:t>
            </a:r>
            <a:r>
              <a:rPr lang="en-US" dirty="0"/>
              <a:t> in one flow</a:t>
            </a:r>
          </a:p>
          <a:p>
            <a:pPr>
              <a:spcBef>
                <a:spcPts val="600"/>
              </a:spcBef>
            </a:pPr>
            <a:endParaRPr lang="en-US" dirty="0"/>
          </a:p>
        </p:txBody>
      </p:sp>
    </p:spTree>
    <p:extLst>
      <p:ext uri="{BB962C8B-B14F-4D97-AF65-F5344CB8AC3E}">
        <p14:creationId xmlns:p14="http://schemas.microsoft.com/office/powerpoint/2010/main" val="20835636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FC2F5D0-435A-63B5-A6B0-1C269CECB8BE}"/>
              </a:ext>
            </a:extLst>
          </p:cNvPr>
          <p:cNvSpPr txBox="1"/>
          <p:nvPr/>
        </p:nvSpPr>
        <p:spPr>
          <a:xfrm>
            <a:off x="0" y="335325"/>
            <a:ext cx="11628408" cy="5647700"/>
          </a:xfrm>
          <a:prstGeom prst="rect">
            <a:avLst/>
          </a:prstGeom>
          <a:noFill/>
        </p:spPr>
        <p:txBody>
          <a:bodyPr wrap="square">
            <a:spAutoFit/>
          </a:bodyPr>
          <a:lstStyle/>
          <a:p>
            <a:r>
              <a:rPr lang="en-US" b="1" dirty="0"/>
              <a:t>What is an App Connector (Application Connector) in CAI?</a:t>
            </a:r>
          </a:p>
          <a:p>
            <a:endParaRPr lang="en-US" dirty="0"/>
          </a:p>
          <a:p>
            <a:r>
              <a:rPr lang="en-US" dirty="0"/>
              <a:t>In Informatica Intelligent Data Management Cloud (IDMC), an App Connector is a prebuilt, secure adapter that lets CAI (Cloud Application Integration) connect to applications and APIs without writing code.</a:t>
            </a:r>
          </a:p>
          <a:p>
            <a:endParaRPr lang="en-US" dirty="0"/>
          </a:p>
          <a:p>
            <a:endParaRPr lang="en-US" dirty="0"/>
          </a:p>
          <a:p>
            <a:pPr>
              <a:spcBef>
                <a:spcPts val="600"/>
              </a:spcBef>
            </a:pPr>
            <a:r>
              <a:rPr lang="en-US" b="1" dirty="0"/>
              <a:t>Think of an app connector like a plug:</a:t>
            </a:r>
          </a:p>
          <a:p>
            <a:pPr lvl="1">
              <a:spcBef>
                <a:spcPts val="600"/>
              </a:spcBef>
            </a:pPr>
            <a:r>
              <a:rPr lang="en-US" dirty="0"/>
              <a:t>You plug CAI into Salesforce / SAP / ServiceNow</a:t>
            </a:r>
          </a:p>
          <a:p>
            <a:pPr lvl="1">
              <a:spcBef>
                <a:spcPts val="600"/>
              </a:spcBef>
            </a:pPr>
            <a:r>
              <a:rPr lang="en-US" dirty="0"/>
              <a:t>Authentication, endpoints, and formats are already handled</a:t>
            </a:r>
          </a:p>
          <a:p>
            <a:pPr lvl="1">
              <a:spcBef>
                <a:spcPts val="600"/>
              </a:spcBef>
            </a:pPr>
            <a:r>
              <a:rPr lang="en-US" dirty="0"/>
              <a:t>You just configure and use actions</a:t>
            </a:r>
            <a:endParaRPr lang="en-IN" dirty="0"/>
          </a:p>
          <a:p>
            <a:pPr>
              <a:spcBef>
                <a:spcPts val="600"/>
              </a:spcBef>
            </a:pPr>
            <a:endParaRPr lang="en-IN" dirty="0"/>
          </a:p>
          <a:p>
            <a:pPr>
              <a:spcBef>
                <a:spcPts val="600"/>
              </a:spcBef>
            </a:pPr>
            <a:r>
              <a:rPr lang="en-US" b="1" dirty="0"/>
              <a:t>App connectors are used in CAI Processes to:</a:t>
            </a:r>
          </a:p>
          <a:p>
            <a:pPr marL="800100" lvl="1" indent="-342900">
              <a:spcBef>
                <a:spcPts val="600"/>
              </a:spcBef>
              <a:buFont typeface="Arial" panose="020B0604020202020204" pitchFamily="34" charset="0"/>
              <a:buChar char="•"/>
            </a:pPr>
            <a:r>
              <a:rPr lang="en-US" dirty="0"/>
              <a:t>Call </a:t>
            </a:r>
            <a:r>
              <a:rPr lang="en-US" b="1" dirty="0"/>
              <a:t>SaaS applications</a:t>
            </a:r>
            <a:endParaRPr lang="en-US" dirty="0"/>
          </a:p>
          <a:p>
            <a:pPr marL="800100" lvl="1" indent="-342900">
              <a:spcBef>
                <a:spcPts val="600"/>
              </a:spcBef>
              <a:buFont typeface="Arial" panose="020B0604020202020204" pitchFamily="34" charset="0"/>
              <a:buChar char="•"/>
            </a:pPr>
            <a:r>
              <a:rPr lang="en-US" dirty="0"/>
              <a:t>Invoke </a:t>
            </a:r>
            <a:r>
              <a:rPr lang="en-US" b="1" dirty="0"/>
              <a:t>REST / SOAP APIs</a:t>
            </a:r>
            <a:endParaRPr lang="en-US" dirty="0"/>
          </a:p>
          <a:p>
            <a:pPr marL="800100" lvl="1" indent="-342900">
              <a:spcBef>
                <a:spcPts val="600"/>
              </a:spcBef>
              <a:buFont typeface="Arial" panose="020B0604020202020204" pitchFamily="34" charset="0"/>
              <a:buChar char="•"/>
            </a:pPr>
            <a:r>
              <a:rPr lang="en-US" dirty="0"/>
              <a:t>Perform </a:t>
            </a:r>
            <a:r>
              <a:rPr lang="en-US" b="1" dirty="0"/>
              <a:t>real-time app-to-app integration</a:t>
            </a:r>
            <a:endParaRPr lang="en-US" dirty="0"/>
          </a:p>
          <a:p>
            <a:pPr marL="800100" lvl="1" indent="-342900">
              <a:spcBef>
                <a:spcPts val="600"/>
              </a:spcBef>
              <a:buFont typeface="Arial" panose="020B0604020202020204" pitchFamily="34" charset="0"/>
              <a:buChar char="•"/>
            </a:pPr>
            <a:r>
              <a:rPr lang="en-US" dirty="0"/>
              <a:t>Orchestrate </a:t>
            </a:r>
            <a:r>
              <a:rPr lang="en-US" b="1" dirty="0"/>
              <a:t>multiple systems</a:t>
            </a:r>
            <a:r>
              <a:rPr lang="en-US" dirty="0"/>
              <a:t> in one flow</a:t>
            </a:r>
          </a:p>
          <a:p>
            <a:pPr>
              <a:spcBef>
                <a:spcPts val="600"/>
              </a:spcBef>
            </a:pPr>
            <a:endParaRPr lang="en-US" dirty="0"/>
          </a:p>
        </p:txBody>
      </p:sp>
    </p:spTree>
    <p:extLst>
      <p:ext uri="{BB962C8B-B14F-4D97-AF65-F5344CB8AC3E}">
        <p14:creationId xmlns:p14="http://schemas.microsoft.com/office/powerpoint/2010/main" val="3683297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FC2F5D0-435A-63B5-A6B0-1C269CECB8BE}"/>
              </a:ext>
            </a:extLst>
          </p:cNvPr>
          <p:cNvSpPr txBox="1"/>
          <p:nvPr/>
        </p:nvSpPr>
        <p:spPr>
          <a:xfrm>
            <a:off x="0" y="335325"/>
            <a:ext cx="11628408" cy="4462760"/>
          </a:xfrm>
          <a:prstGeom prst="rect">
            <a:avLst/>
          </a:prstGeom>
          <a:noFill/>
        </p:spPr>
        <p:txBody>
          <a:bodyPr wrap="square">
            <a:spAutoFit/>
          </a:bodyPr>
          <a:lstStyle/>
          <a:p>
            <a:pPr>
              <a:spcBef>
                <a:spcPts val="600"/>
              </a:spcBef>
            </a:pPr>
            <a:r>
              <a:rPr lang="en-US" b="1" dirty="0"/>
              <a:t>What is a Service Connector in CAI?</a:t>
            </a:r>
          </a:p>
          <a:p>
            <a:pPr>
              <a:spcBef>
                <a:spcPts val="600"/>
              </a:spcBef>
            </a:pPr>
            <a:endParaRPr lang="en-US" dirty="0"/>
          </a:p>
          <a:p>
            <a:pPr>
              <a:spcBef>
                <a:spcPts val="600"/>
              </a:spcBef>
            </a:pPr>
            <a:r>
              <a:rPr lang="en-US" dirty="0"/>
              <a:t>A Service Connector is a generic connector used in CAI (Cloud Application Integration) to call external services/APIs—mainly REST and SOAP—when a prebuilt App Connector is not available.</a:t>
            </a:r>
          </a:p>
          <a:p>
            <a:pPr>
              <a:spcBef>
                <a:spcPts val="600"/>
              </a:spcBef>
            </a:pPr>
            <a:endParaRPr lang="en-US" dirty="0"/>
          </a:p>
          <a:p>
            <a:pPr>
              <a:spcBef>
                <a:spcPts val="600"/>
              </a:spcBef>
            </a:pPr>
            <a:r>
              <a:rPr lang="en-US" dirty="0"/>
              <a:t>Service Connector = Build your own API connection</a:t>
            </a:r>
          </a:p>
          <a:p>
            <a:pPr>
              <a:spcBef>
                <a:spcPts val="600"/>
              </a:spcBef>
            </a:pPr>
            <a:endParaRPr lang="en-US" dirty="0"/>
          </a:p>
          <a:p>
            <a:r>
              <a:rPr lang="en-US" b="1" dirty="0"/>
              <a:t>Used in CAI Processes for:</a:t>
            </a:r>
          </a:p>
          <a:p>
            <a:pPr marL="800100" lvl="1" indent="-342900">
              <a:spcBef>
                <a:spcPts val="600"/>
              </a:spcBef>
              <a:buFont typeface="Arial" panose="020B0604020202020204" pitchFamily="34" charset="0"/>
              <a:buChar char="•"/>
            </a:pPr>
            <a:r>
              <a:rPr lang="en-US" dirty="0"/>
              <a:t>Calling </a:t>
            </a:r>
            <a:r>
              <a:rPr lang="en-US" b="1" dirty="0"/>
              <a:t>custom REST APIs</a:t>
            </a:r>
            <a:endParaRPr lang="en-US" dirty="0"/>
          </a:p>
          <a:p>
            <a:pPr marL="800100" lvl="1" indent="-342900">
              <a:spcBef>
                <a:spcPts val="600"/>
              </a:spcBef>
              <a:buFont typeface="Arial" panose="020B0604020202020204" pitchFamily="34" charset="0"/>
              <a:buChar char="•"/>
            </a:pPr>
            <a:r>
              <a:rPr lang="en-US" dirty="0"/>
              <a:t>Consuming </a:t>
            </a:r>
            <a:r>
              <a:rPr lang="en-US" b="1" dirty="0"/>
              <a:t>SOAP web services</a:t>
            </a:r>
            <a:endParaRPr lang="en-US" dirty="0"/>
          </a:p>
          <a:p>
            <a:pPr marL="800100" lvl="1" indent="-342900">
              <a:spcBef>
                <a:spcPts val="600"/>
              </a:spcBef>
              <a:buFont typeface="Arial" panose="020B0604020202020204" pitchFamily="34" charset="0"/>
              <a:buChar char="•"/>
            </a:pPr>
            <a:r>
              <a:rPr lang="en-US" dirty="0"/>
              <a:t>Integrating with </a:t>
            </a:r>
            <a:r>
              <a:rPr lang="en-US" b="1" dirty="0"/>
              <a:t>in-house applications</a:t>
            </a:r>
            <a:endParaRPr lang="en-US" dirty="0"/>
          </a:p>
          <a:p>
            <a:pPr marL="800100" lvl="1" indent="-342900">
              <a:spcBef>
                <a:spcPts val="600"/>
              </a:spcBef>
              <a:buFont typeface="Arial" panose="020B0604020202020204" pitchFamily="34" charset="0"/>
              <a:buChar char="•"/>
            </a:pPr>
            <a:r>
              <a:rPr lang="en-US" dirty="0"/>
              <a:t>API orchestration across multiple systems</a:t>
            </a:r>
          </a:p>
          <a:p>
            <a:pPr>
              <a:spcBef>
                <a:spcPts val="600"/>
              </a:spcBef>
            </a:pPr>
            <a:endParaRPr lang="en-US" dirty="0"/>
          </a:p>
        </p:txBody>
      </p:sp>
    </p:spTree>
    <p:extLst>
      <p:ext uri="{BB962C8B-B14F-4D97-AF65-F5344CB8AC3E}">
        <p14:creationId xmlns:p14="http://schemas.microsoft.com/office/powerpoint/2010/main" val="23724084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FC2F5D0-435A-63B5-A6B0-1C269CECB8BE}"/>
              </a:ext>
            </a:extLst>
          </p:cNvPr>
          <p:cNvSpPr txBox="1"/>
          <p:nvPr/>
        </p:nvSpPr>
        <p:spPr>
          <a:xfrm>
            <a:off x="0" y="335325"/>
            <a:ext cx="11628408" cy="4816703"/>
          </a:xfrm>
          <a:prstGeom prst="rect">
            <a:avLst/>
          </a:prstGeom>
          <a:noFill/>
        </p:spPr>
        <p:txBody>
          <a:bodyPr wrap="square">
            <a:spAutoFit/>
          </a:bodyPr>
          <a:lstStyle/>
          <a:p>
            <a:pPr>
              <a:spcBef>
                <a:spcPts val="600"/>
              </a:spcBef>
            </a:pPr>
            <a:r>
              <a:rPr lang="en-US" b="1" dirty="0"/>
              <a:t>What are Process Objects in CAI?</a:t>
            </a:r>
          </a:p>
          <a:p>
            <a:pPr>
              <a:spcBef>
                <a:spcPts val="600"/>
              </a:spcBef>
            </a:pPr>
            <a:endParaRPr lang="en-US" dirty="0"/>
          </a:p>
          <a:p>
            <a:pPr>
              <a:spcBef>
                <a:spcPts val="600"/>
              </a:spcBef>
            </a:pPr>
            <a:r>
              <a:rPr lang="en-US" dirty="0"/>
              <a:t>In Informatica Intelligent Data Management Cloud (IDMC), Process Objects are custom data models used in CAI (Cloud Application Integration) to store, structure, and pass data between steps in a Process.</a:t>
            </a:r>
          </a:p>
          <a:p>
            <a:pPr>
              <a:spcBef>
                <a:spcPts val="600"/>
              </a:spcBef>
            </a:pPr>
            <a:endParaRPr lang="en-US" dirty="0"/>
          </a:p>
          <a:p>
            <a:pPr>
              <a:spcBef>
                <a:spcPts val="600"/>
              </a:spcBef>
            </a:pPr>
            <a:r>
              <a:rPr lang="en-US" b="1" dirty="0"/>
              <a:t>Process Objects = Data containers used inside CAI processes</a:t>
            </a:r>
          </a:p>
          <a:p>
            <a:pPr>
              <a:spcBef>
                <a:spcPts val="600"/>
              </a:spcBef>
            </a:pPr>
            <a:endParaRPr lang="en-US" dirty="0"/>
          </a:p>
          <a:p>
            <a:r>
              <a:rPr lang="en-US" b="1" dirty="0"/>
              <a:t>Process Objects are used to:</a:t>
            </a:r>
          </a:p>
          <a:p>
            <a:pPr lvl="1">
              <a:spcBef>
                <a:spcPts val="600"/>
              </a:spcBef>
              <a:buFont typeface="Arial" panose="020B0604020202020204" pitchFamily="34" charset="0"/>
              <a:buChar char="•"/>
            </a:pPr>
            <a:r>
              <a:rPr lang="en-US" dirty="0"/>
              <a:t>Capture </a:t>
            </a:r>
            <a:r>
              <a:rPr lang="en-US" b="1" dirty="0"/>
              <a:t>input from APIs</a:t>
            </a:r>
            <a:endParaRPr lang="en-US" dirty="0"/>
          </a:p>
          <a:p>
            <a:pPr lvl="1">
              <a:spcBef>
                <a:spcPts val="600"/>
              </a:spcBef>
              <a:buFont typeface="Arial" panose="020B0604020202020204" pitchFamily="34" charset="0"/>
              <a:buChar char="•"/>
            </a:pPr>
            <a:r>
              <a:rPr lang="en-US" dirty="0"/>
              <a:t>Hold </a:t>
            </a:r>
            <a:r>
              <a:rPr lang="en-US" b="1" dirty="0"/>
              <a:t>responses from connectors</a:t>
            </a:r>
            <a:endParaRPr lang="en-US" dirty="0"/>
          </a:p>
          <a:p>
            <a:pPr lvl="1">
              <a:spcBef>
                <a:spcPts val="600"/>
              </a:spcBef>
              <a:buFont typeface="Arial" panose="020B0604020202020204" pitchFamily="34" charset="0"/>
              <a:buChar char="•"/>
            </a:pPr>
            <a:r>
              <a:rPr lang="en-US" dirty="0"/>
              <a:t>Pass data between </a:t>
            </a:r>
            <a:r>
              <a:rPr lang="en-US" b="1" dirty="0"/>
              <a:t>process steps</a:t>
            </a:r>
            <a:endParaRPr lang="en-US" dirty="0"/>
          </a:p>
          <a:p>
            <a:pPr lvl="1">
              <a:spcBef>
                <a:spcPts val="600"/>
              </a:spcBef>
              <a:buFont typeface="Arial" panose="020B0604020202020204" pitchFamily="34" charset="0"/>
              <a:buChar char="•"/>
            </a:pPr>
            <a:r>
              <a:rPr lang="en-US" dirty="0"/>
              <a:t>Define </a:t>
            </a:r>
            <a:r>
              <a:rPr lang="en-US" b="1" dirty="0"/>
              <a:t>request / response schemas</a:t>
            </a:r>
            <a:endParaRPr lang="en-US" dirty="0"/>
          </a:p>
          <a:p>
            <a:pPr lvl="1">
              <a:spcBef>
                <a:spcPts val="600"/>
              </a:spcBef>
              <a:buFont typeface="Arial" panose="020B0604020202020204" pitchFamily="34" charset="0"/>
              <a:buChar char="•"/>
            </a:pPr>
            <a:r>
              <a:rPr lang="en-US" dirty="0"/>
              <a:t>Standardize data across integrations</a:t>
            </a:r>
          </a:p>
          <a:p>
            <a:pPr>
              <a:spcBef>
                <a:spcPts val="600"/>
              </a:spcBef>
            </a:pPr>
            <a:endParaRPr lang="en-US" dirty="0"/>
          </a:p>
        </p:txBody>
      </p:sp>
    </p:spTree>
    <p:extLst>
      <p:ext uri="{BB962C8B-B14F-4D97-AF65-F5344CB8AC3E}">
        <p14:creationId xmlns:p14="http://schemas.microsoft.com/office/powerpoint/2010/main" val="4117866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{7FC51E2E-2D1F-458C-B284-6747694D0361}tf03457452</Template>
  <TotalTime>121</TotalTime>
  <Words>2222</Words>
  <Application>Microsoft Office PowerPoint</Application>
  <PresentationFormat>Widescreen</PresentationFormat>
  <Paragraphs>422</Paragraphs>
  <Slides>27</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Arial</vt:lpstr>
      <vt:lpstr>Calibri</vt:lpstr>
      <vt:lpstr>Calibri Light</vt:lpstr>
      <vt:lpstr>Celestial</vt:lpstr>
      <vt:lpstr>Idmc(INFORMATICA DATA MANAGEMENT CLOUD)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ponnamreddybabjee@outlook.com</dc:creator>
  <cp:lastModifiedBy>ponnamreddybabjee@outlook.com</cp:lastModifiedBy>
  <cp:revision>1</cp:revision>
  <dcterms:created xsi:type="dcterms:W3CDTF">2026-01-12T11:26:57Z</dcterms:created>
  <dcterms:modified xsi:type="dcterms:W3CDTF">2026-01-21T01:28:27Z</dcterms:modified>
</cp:coreProperties>
</file>